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0800" cy="290779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_panel"/>
          <p:cNvSpPr/>
          <p:nvPr/>
        </p:nvSpPr>
        <p:spPr>
          <a:xfrm>
            <a:off x="36576" y="36576"/>
            <a:ext cx="1133856" cy="2761488"/>
          </a:xfrm>
          <a:prstGeom prst="roundRect">
            <a:avLst/>
          </a:prstGeom>
          <a:solidFill>
            <a:srgbClr val="FCFDFE"/>
          </a:solidFill>
          <a:ln w="10795">
            <a:solidFill>
              <a:srgbClr val="D3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_header"/>
          <p:cNvSpPr/>
          <p:nvPr/>
        </p:nvSpPr>
        <p:spPr>
          <a:xfrm>
            <a:off x="36576" y="36576"/>
            <a:ext cx="1133856" cy="274320"/>
          </a:xfrm>
          <a:prstGeom prst="roundRect">
            <a:avLst/>
          </a:prstGeom>
          <a:solidFill>
            <a:srgbClr val="EAF3F8"/>
          </a:solidFill>
          <a:ln w="10795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860" b="1">
                <a:solidFill>
                  <a:srgbClr val="202833"/>
                </a:solidFill>
                <a:latin typeface="Arial"/>
              </a:rPr>
              <a:t>(a) Historical context</a:t>
            </a:r>
          </a:p>
        </p:txBody>
      </p:sp>
      <p:sp>
        <p:nvSpPr>
          <p:cNvPr id="4" name="B_panel"/>
          <p:cNvSpPr/>
          <p:nvPr/>
        </p:nvSpPr>
        <p:spPr>
          <a:xfrm>
            <a:off x="1207008" y="36576"/>
            <a:ext cx="1682496" cy="2761488"/>
          </a:xfrm>
          <a:prstGeom prst="roundRect">
            <a:avLst/>
          </a:prstGeom>
          <a:solidFill>
            <a:srgbClr val="FCFDFE"/>
          </a:solidFill>
          <a:ln w="10795">
            <a:solidFill>
              <a:srgbClr val="D3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_header"/>
          <p:cNvSpPr/>
          <p:nvPr/>
        </p:nvSpPr>
        <p:spPr>
          <a:xfrm>
            <a:off x="1207008" y="36576"/>
            <a:ext cx="1682496" cy="274320"/>
          </a:xfrm>
          <a:prstGeom prst="roundRect">
            <a:avLst/>
          </a:prstGeom>
          <a:solidFill>
            <a:srgbClr val="EAF6F3"/>
          </a:solidFill>
          <a:ln w="10795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860" b="1">
                <a:solidFill>
                  <a:srgbClr val="202833"/>
                </a:solidFill>
                <a:latin typeface="Arial"/>
              </a:rPr>
              <a:t>(b) Predictive-state construction</a:t>
            </a:r>
          </a:p>
        </p:txBody>
      </p:sp>
      <p:sp>
        <p:nvSpPr>
          <p:cNvPr id="6" name="C_panel"/>
          <p:cNvSpPr/>
          <p:nvPr/>
        </p:nvSpPr>
        <p:spPr>
          <a:xfrm>
            <a:off x="2926080" y="36576"/>
            <a:ext cx="1938528" cy="2761488"/>
          </a:xfrm>
          <a:prstGeom prst="roundRect">
            <a:avLst/>
          </a:prstGeom>
          <a:solidFill>
            <a:srgbClr val="FCFDFE"/>
          </a:solidFill>
          <a:ln w="10795">
            <a:solidFill>
              <a:srgbClr val="D3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_header"/>
          <p:cNvSpPr/>
          <p:nvPr/>
        </p:nvSpPr>
        <p:spPr>
          <a:xfrm>
            <a:off x="2926080" y="36576"/>
            <a:ext cx="1938528" cy="274320"/>
          </a:xfrm>
          <a:prstGeom prst="roundRect">
            <a:avLst/>
          </a:prstGeom>
          <a:solidFill>
            <a:srgbClr val="F2EFF9"/>
          </a:solidFill>
          <a:ln w="10795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860" b="1">
                <a:solidFill>
                  <a:srgbClr val="202833"/>
                </a:solidFill>
                <a:latin typeface="Arial"/>
              </a:rPr>
              <a:t>(c) Weather-conditioned dynamics</a:t>
            </a:r>
          </a:p>
        </p:txBody>
      </p:sp>
      <p:sp>
        <p:nvSpPr>
          <p:cNvPr id="8" name="D_panel"/>
          <p:cNvSpPr/>
          <p:nvPr/>
        </p:nvSpPr>
        <p:spPr>
          <a:xfrm>
            <a:off x="4901184" y="36576"/>
            <a:ext cx="1463040" cy="2761488"/>
          </a:xfrm>
          <a:prstGeom prst="roundRect">
            <a:avLst/>
          </a:prstGeom>
          <a:solidFill>
            <a:srgbClr val="FCFDFE"/>
          </a:solidFill>
          <a:ln w="10795">
            <a:solidFill>
              <a:srgbClr val="D3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_header"/>
          <p:cNvSpPr/>
          <p:nvPr/>
        </p:nvSpPr>
        <p:spPr>
          <a:xfrm>
            <a:off x="4901184" y="36576"/>
            <a:ext cx="1463040" cy="274320"/>
          </a:xfrm>
          <a:prstGeom prst="roundRect">
            <a:avLst/>
          </a:prstGeom>
          <a:solidFill>
            <a:srgbClr val="FFF3E8"/>
          </a:solidFill>
          <a:ln w="10795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860" b="1">
                <a:solidFill>
                  <a:srgbClr val="202833"/>
                </a:solidFill>
                <a:latin typeface="Arial"/>
              </a:rPr>
              <a:t>(d) Forecast closure</a:t>
            </a:r>
          </a:p>
        </p:txBody>
      </p:sp>
      <p:sp>
        <p:nvSpPr>
          <p:cNvPr id="10" name="A_eo_card"/>
          <p:cNvSpPr/>
          <p:nvPr/>
        </p:nvSpPr>
        <p:spPr>
          <a:xfrm>
            <a:off x="128016" y="429768"/>
            <a:ext cx="950976" cy="603504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_history_frame_0"/>
          <p:cNvSpPr/>
          <p:nvPr/>
        </p:nvSpPr>
        <p:spPr>
          <a:xfrm>
            <a:off x="256032" y="603503"/>
            <a:ext cx="502920" cy="310896"/>
          </a:xfrm>
          <a:prstGeom prst="rect">
            <a:avLst/>
          </a:prstGeom>
          <a:solidFill>
            <a:srgbClr val="D7E8D0"/>
          </a:solidFill>
          <a:ln w="10795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A_history_field_0"/>
          <p:cNvCxnSpPr/>
          <p:nvPr/>
        </p:nvCxnSpPr>
        <p:spPr>
          <a:xfrm>
            <a:off x="301752" y="758952"/>
            <a:ext cx="411480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_history_frame_1"/>
          <p:cNvSpPr/>
          <p:nvPr/>
        </p:nvSpPr>
        <p:spPr>
          <a:xfrm>
            <a:off x="329184" y="566928"/>
            <a:ext cx="502920" cy="310896"/>
          </a:xfrm>
          <a:prstGeom prst="rect">
            <a:avLst/>
          </a:prstGeom>
          <a:solidFill>
            <a:srgbClr val="BDD7C1"/>
          </a:solidFill>
          <a:ln w="10795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A_history_field_1"/>
          <p:cNvCxnSpPr/>
          <p:nvPr/>
        </p:nvCxnSpPr>
        <p:spPr>
          <a:xfrm>
            <a:off x="374904" y="722376"/>
            <a:ext cx="411480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_history_frame_2"/>
          <p:cNvSpPr/>
          <p:nvPr/>
        </p:nvSpPr>
        <p:spPr>
          <a:xfrm>
            <a:off x="402336" y="530352"/>
            <a:ext cx="502920" cy="310896"/>
          </a:xfrm>
          <a:prstGeom prst="rect">
            <a:avLst/>
          </a:prstGeom>
          <a:solidFill>
            <a:srgbClr val="9FC6B0"/>
          </a:solidFill>
          <a:ln w="10795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A_history_field_2"/>
          <p:cNvCxnSpPr/>
          <p:nvPr/>
        </p:nvCxnSpPr>
        <p:spPr>
          <a:xfrm>
            <a:off x="448056" y="685800"/>
            <a:ext cx="411480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_cloud_mask"/>
          <p:cNvCxnSpPr/>
          <p:nvPr/>
        </p:nvCxnSpPr>
        <p:spPr>
          <a:xfrm>
            <a:off x="420624" y="557784"/>
            <a:ext cx="420624" cy="301752"/>
          </a:xfrm>
          <a:prstGeom prst="line">
            <a:avLst/>
          </a:prstGeom>
          <a:ln w="8255">
            <a:solidFill>
              <a:srgbClr val="2F6F9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_eo_label"/>
          <p:cNvSpPr txBox="1"/>
          <p:nvPr/>
        </p:nvSpPr>
        <p:spPr>
          <a:xfrm>
            <a:off x="164592" y="804672"/>
            <a:ext cx="877824" cy="201168"/>
          </a:xfrm>
          <a:prstGeom prst="rect">
            <a:avLst/>
          </a:prstGeom>
          <a:noFill/>
        </p:spPr>
        <p:txBody>
          <a:bodyPr wrap="square" lIns="13716" rIns="13716" tIns="7315" bIns="7315" anchor="ctr">
            <a:spAutoFit/>
          </a:bodyPr>
          <a:lstStyle/>
          <a:p>
            <a:pPr algn="ctr"/>
            <a:r>
              <a:rPr sz="900" b="1">
                <a:solidFill>
                  <a:srgbClr val="202833"/>
                </a:solidFill>
                <a:latin typeface="Arial"/>
              </a:rPr>
              <a:t>cloud-masked
EO history</a:t>
            </a:r>
          </a:p>
        </p:txBody>
      </p:sp>
      <p:sp>
        <p:nvSpPr>
          <p:cNvPr id="19" name="A_met_card"/>
          <p:cNvSpPr/>
          <p:nvPr/>
        </p:nvSpPr>
        <p:spPr>
          <a:xfrm>
            <a:off x="128016" y="1188720"/>
            <a:ext cx="950976" cy="502920"/>
          </a:xfrm>
          <a:prstGeom prst="roundRect">
            <a:avLst/>
          </a:prstGeom>
          <a:solidFill>
            <a:srgbClr val="EAF3F8"/>
          </a:solidFill>
          <a:ln w="10795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A_met_0_1"/>
          <p:cNvCxnSpPr/>
          <p:nvPr/>
        </p:nvCxnSpPr>
        <p:spPr>
          <a:xfrm flipV="1">
            <a:off x="228600" y="1261872"/>
            <a:ext cx="237744" cy="45720"/>
          </a:xfrm>
          <a:prstGeom prst="line">
            <a:avLst/>
          </a:prstGeom>
          <a:ln w="698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_met_0_2"/>
          <p:cNvCxnSpPr/>
          <p:nvPr/>
        </p:nvCxnSpPr>
        <p:spPr>
          <a:xfrm>
            <a:off x="466344" y="1261872"/>
            <a:ext cx="246888" cy="82296"/>
          </a:xfrm>
          <a:prstGeom prst="line">
            <a:avLst/>
          </a:prstGeom>
          <a:ln w="698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_met_0_3"/>
          <p:cNvCxnSpPr/>
          <p:nvPr/>
        </p:nvCxnSpPr>
        <p:spPr>
          <a:xfrm flipV="1">
            <a:off x="713232" y="1289304"/>
            <a:ext cx="256032" cy="54864"/>
          </a:xfrm>
          <a:prstGeom prst="line">
            <a:avLst/>
          </a:prstGeom>
          <a:ln w="698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_met_1_1"/>
          <p:cNvCxnSpPr/>
          <p:nvPr/>
        </p:nvCxnSpPr>
        <p:spPr>
          <a:xfrm flipV="1">
            <a:off x="228600" y="1389888"/>
            <a:ext cx="237744" cy="45720"/>
          </a:xfrm>
          <a:prstGeom prst="line">
            <a:avLst/>
          </a:prstGeom>
          <a:ln w="698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_met_1_2"/>
          <p:cNvCxnSpPr/>
          <p:nvPr/>
        </p:nvCxnSpPr>
        <p:spPr>
          <a:xfrm>
            <a:off x="466344" y="1389888"/>
            <a:ext cx="246888" cy="82296"/>
          </a:xfrm>
          <a:prstGeom prst="line">
            <a:avLst/>
          </a:prstGeom>
          <a:ln w="698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_met_1_3"/>
          <p:cNvCxnSpPr/>
          <p:nvPr/>
        </p:nvCxnSpPr>
        <p:spPr>
          <a:xfrm flipV="1">
            <a:off x="713232" y="1417320"/>
            <a:ext cx="256032" cy="54864"/>
          </a:xfrm>
          <a:prstGeom prst="line">
            <a:avLst/>
          </a:prstGeom>
          <a:ln w="698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_met_label"/>
          <p:cNvSpPr txBox="1"/>
          <p:nvPr/>
        </p:nvSpPr>
        <p:spPr>
          <a:xfrm>
            <a:off x="164592" y="1499616"/>
            <a:ext cx="877824" cy="164592"/>
          </a:xfrm>
          <a:prstGeom prst="rect">
            <a:avLst/>
          </a:prstGeom>
          <a:noFill/>
        </p:spPr>
        <p:txBody>
          <a:bodyPr wrap="square" lIns="13716" rIns="13716" tIns="7315" bIns="7315" anchor="ctr">
            <a:spAutoFit/>
          </a:bodyPr>
          <a:lstStyle/>
          <a:p>
            <a:pPr algn="ctr"/>
            <a:r>
              <a:rPr sz="900" b="1">
                <a:solidFill>
                  <a:srgbClr val="202833"/>
                </a:solidFill>
                <a:latin typeface="Arial"/>
              </a:rPr>
              <a:t>past meteorology</a:t>
            </a:r>
          </a:p>
        </p:txBody>
      </p:sp>
      <p:sp>
        <p:nvSpPr>
          <p:cNvPr id="27" name="A_geo_card"/>
          <p:cNvSpPr/>
          <p:nvPr/>
        </p:nvSpPr>
        <p:spPr>
          <a:xfrm>
            <a:off x="128016" y="1847088"/>
            <a:ext cx="950976" cy="566928"/>
          </a:xfrm>
          <a:prstGeom prst="roundRect">
            <a:avLst/>
          </a:prstGeom>
          <a:solidFill>
            <a:srgbClr val="EDF5EE"/>
          </a:solidFill>
          <a:ln w="10795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_landcover"/>
          <p:cNvSpPr/>
          <p:nvPr/>
        </p:nvSpPr>
        <p:spPr>
          <a:xfrm>
            <a:off x="228600" y="1947672"/>
            <a:ext cx="320040" cy="246888"/>
          </a:xfrm>
          <a:prstGeom prst="rect">
            <a:avLst/>
          </a:prstGeom>
          <a:solidFill>
            <a:srgbClr val="C9DDB9"/>
          </a:solidFill>
          <a:ln w="10795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_dem"/>
          <p:cNvSpPr/>
          <p:nvPr/>
        </p:nvSpPr>
        <p:spPr>
          <a:xfrm>
            <a:off x="640080" y="1947672"/>
            <a:ext cx="320040" cy="246888"/>
          </a:xfrm>
          <a:prstGeom prst="rect">
            <a:avLst/>
          </a:prstGeom>
          <a:solidFill>
            <a:srgbClr val="E4E7EA"/>
          </a:solidFill>
          <a:ln w="10795">
            <a:solidFill>
              <a:srgbClr val="667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A_contour_0"/>
          <p:cNvCxnSpPr/>
          <p:nvPr/>
        </p:nvCxnSpPr>
        <p:spPr>
          <a:xfrm flipV="1">
            <a:off x="667512" y="1965960"/>
            <a:ext cx="265176" cy="27432"/>
          </a:xfrm>
          <a:prstGeom prst="line">
            <a:avLst/>
          </a:prstGeom>
          <a:ln w="4445">
            <a:solidFill>
              <a:srgbClr val="66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_contour_1"/>
          <p:cNvCxnSpPr/>
          <p:nvPr/>
        </p:nvCxnSpPr>
        <p:spPr>
          <a:xfrm flipV="1">
            <a:off x="667512" y="2039112"/>
            <a:ext cx="265176" cy="9144"/>
          </a:xfrm>
          <a:prstGeom prst="line">
            <a:avLst/>
          </a:prstGeom>
          <a:ln w="4445">
            <a:solidFill>
              <a:srgbClr val="66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_contour_2"/>
          <p:cNvCxnSpPr/>
          <p:nvPr/>
        </p:nvCxnSpPr>
        <p:spPr>
          <a:xfrm>
            <a:off x="667512" y="2103120"/>
            <a:ext cx="265176" cy="9144"/>
          </a:xfrm>
          <a:prstGeom prst="line">
            <a:avLst/>
          </a:prstGeom>
          <a:ln w="4445">
            <a:solidFill>
              <a:srgbClr val="66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_geo_label"/>
          <p:cNvSpPr txBox="1"/>
          <p:nvPr/>
        </p:nvSpPr>
        <p:spPr>
          <a:xfrm>
            <a:off x="164592" y="2221992"/>
            <a:ext cx="877824" cy="146304"/>
          </a:xfrm>
          <a:prstGeom prst="rect">
            <a:avLst/>
          </a:prstGeom>
          <a:noFill/>
        </p:spPr>
        <p:txBody>
          <a:bodyPr wrap="square" lIns="13716" rIns="13716" tIns="7315" bIns="7315" anchor="ctr">
            <a:spAutoFit/>
          </a:bodyPr>
          <a:lstStyle/>
          <a:p>
            <a:pPr algn="ctr"/>
            <a:r>
              <a:rPr sz="900" b="1">
                <a:solidFill>
                  <a:srgbClr val="202833"/>
                </a:solidFill>
                <a:latin typeface="Arial"/>
              </a:rPr>
              <a:t>static geography  g</a:t>
            </a:r>
          </a:p>
        </p:txBody>
      </p:sp>
      <p:sp>
        <p:nvSpPr>
          <p:cNvPr id="34" name="B_q"/>
          <p:cNvSpPr/>
          <p:nvPr/>
        </p:nvSpPr>
        <p:spPr>
          <a:xfrm>
            <a:off x="1307592" y="630936"/>
            <a:ext cx="566928" cy="640080"/>
          </a:xfrm>
          <a:prstGeom prst="roundRect">
            <a:avLst/>
          </a:prstGeom>
          <a:solidFill>
            <a:srgbClr val="EAF3F8"/>
          </a:solidFill>
          <a:ln w="10795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869" b="1">
                <a:solidFill>
                  <a:srgbClr val="202833"/>
                </a:solidFill>
                <a:latin typeface="Arial"/>
              </a:rPr>
              <a:t>history
encoder qθ</a:t>
            </a:r>
          </a:p>
        </p:txBody>
      </p:sp>
      <p:sp>
        <p:nvSpPr>
          <p:cNvPr id="35" name="B_token_0_0"/>
          <p:cNvSpPr/>
          <p:nvPr/>
        </p:nvSpPr>
        <p:spPr>
          <a:xfrm>
            <a:off x="1975104" y="749808"/>
            <a:ext cx="68580" cy="68580"/>
          </a:xfrm>
          <a:prstGeom prst="rect">
            <a:avLst/>
          </a:prstGeom>
          <a:solidFill>
            <a:srgbClr val="2F6F9F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_token_0_1"/>
          <p:cNvSpPr/>
          <p:nvPr/>
        </p:nvSpPr>
        <p:spPr>
          <a:xfrm>
            <a:off x="1975104" y="841247"/>
            <a:ext cx="68580" cy="68580"/>
          </a:xfrm>
          <a:prstGeom prst="rect">
            <a:avLst/>
          </a:prstGeom>
          <a:solidFill>
            <a:srgbClr val="2F6F9F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_token_0_2"/>
          <p:cNvSpPr/>
          <p:nvPr/>
        </p:nvSpPr>
        <p:spPr>
          <a:xfrm>
            <a:off x="1975104" y="932688"/>
            <a:ext cx="68580" cy="68580"/>
          </a:xfrm>
          <a:prstGeom prst="rect">
            <a:avLst/>
          </a:prstGeom>
          <a:solidFill>
            <a:srgbClr val="2F6F9F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_token_1_0"/>
          <p:cNvSpPr/>
          <p:nvPr/>
        </p:nvSpPr>
        <p:spPr>
          <a:xfrm>
            <a:off x="2066544" y="749808"/>
            <a:ext cx="68580" cy="68580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_token_1_1"/>
          <p:cNvSpPr/>
          <p:nvPr/>
        </p:nvSpPr>
        <p:spPr>
          <a:xfrm>
            <a:off x="2066544" y="841247"/>
            <a:ext cx="68580" cy="68580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_token_1_2"/>
          <p:cNvSpPr/>
          <p:nvPr/>
        </p:nvSpPr>
        <p:spPr>
          <a:xfrm>
            <a:off x="2066544" y="932688"/>
            <a:ext cx="68580" cy="68580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_token_2_0"/>
          <p:cNvSpPr/>
          <p:nvPr/>
        </p:nvSpPr>
        <p:spPr>
          <a:xfrm>
            <a:off x="2157984" y="749808"/>
            <a:ext cx="68580" cy="68580"/>
          </a:xfrm>
          <a:prstGeom prst="rect">
            <a:avLst/>
          </a:prstGeom>
          <a:solidFill>
            <a:srgbClr val="7256A8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_token_2_1"/>
          <p:cNvSpPr/>
          <p:nvPr/>
        </p:nvSpPr>
        <p:spPr>
          <a:xfrm>
            <a:off x="2157984" y="841247"/>
            <a:ext cx="68580" cy="68580"/>
          </a:xfrm>
          <a:prstGeom prst="rect">
            <a:avLst/>
          </a:prstGeom>
          <a:solidFill>
            <a:srgbClr val="7256A8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_token_2_2"/>
          <p:cNvSpPr/>
          <p:nvPr/>
        </p:nvSpPr>
        <p:spPr>
          <a:xfrm>
            <a:off x="2157984" y="932688"/>
            <a:ext cx="68580" cy="68580"/>
          </a:xfrm>
          <a:prstGeom prst="rect">
            <a:avLst/>
          </a:prstGeom>
          <a:solidFill>
            <a:srgbClr val="7256A8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_P"/>
          <p:cNvSpPr/>
          <p:nvPr/>
        </p:nvSpPr>
        <p:spPr>
          <a:xfrm>
            <a:off x="2386584" y="694944"/>
            <a:ext cx="292608" cy="493776"/>
          </a:xfrm>
          <a:prstGeom prst="roundRect">
            <a:avLst/>
          </a:prstGeom>
          <a:solidFill>
            <a:srgbClr val="EAF6F3"/>
          </a:solidFill>
          <a:ln w="10795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1000" b="1">
                <a:solidFill>
                  <a:srgbClr val="202833"/>
                </a:solidFill>
                <a:latin typeface="Arial"/>
              </a:rPr>
              <a:t>Pρ</a:t>
            </a:r>
          </a:p>
        </p:txBody>
      </p:sp>
      <p:sp>
        <p:nvSpPr>
          <p:cNvPr id="45" name="B_zt"/>
          <p:cNvSpPr/>
          <p:nvPr/>
        </p:nvSpPr>
        <p:spPr>
          <a:xfrm>
            <a:off x="2715768" y="603504"/>
            <a:ext cx="393192" cy="713232"/>
          </a:xfrm>
          <a:prstGeom prst="roundRect">
            <a:avLst/>
          </a:prstGeom>
          <a:solidFill>
            <a:srgbClr val="EAF6F3"/>
          </a:solidFill>
          <a:ln w="10795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_zt_0_0"/>
          <p:cNvSpPr/>
          <p:nvPr/>
        </p:nvSpPr>
        <p:spPr>
          <a:xfrm>
            <a:off x="2779776" y="667512"/>
            <a:ext cx="58978" cy="102412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_zt_0_1"/>
          <p:cNvSpPr/>
          <p:nvPr/>
        </p:nvSpPr>
        <p:spPr>
          <a:xfrm>
            <a:off x="2779776" y="777240"/>
            <a:ext cx="58978" cy="102412"/>
          </a:xfrm>
          <a:prstGeom prst="rect">
            <a:avLst/>
          </a:prstGeom>
          <a:solidFill>
            <a:srgbClr val="63A99E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_zt_0_2"/>
          <p:cNvSpPr/>
          <p:nvPr/>
        </p:nvSpPr>
        <p:spPr>
          <a:xfrm>
            <a:off x="2779776" y="886968"/>
            <a:ext cx="58978" cy="102412"/>
          </a:xfrm>
          <a:prstGeom prst="rect">
            <a:avLst/>
          </a:prstGeom>
          <a:solidFill>
            <a:srgbClr val="A7D0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_zt_0_3"/>
          <p:cNvSpPr/>
          <p:nvPr/>
        </p:nvSpPr>
        <p:spPr>
          <a:xfrm>
            <a:off x="2779776" y="996696"/>
            <a:ext cx="58978" cy="102412"/>
          </a:xfrm>
          <a:prstGeom prst="rect">
            <a:avLst/>
          </a:prstGeom>
          <a:solidFill>
            <a:srgbClr val="DCEDEA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_zt_1_0"/>
          <p:cNvSpPr/>
          <p:nvPr/>
        </p:nvSpPr>
        <p:spPr>
          <a:xfrm>
            <a:off x="2846070" y="667512"/>
            <a:ext cx="58978" cy="102412"/>
          </a:xfrm>
          <a:prstGeom prst="rect">
            <a:avLst/>
          </a:prstGeom>
          <a:solidFill>
            <a:srgbClr val="63A99E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_zt_1_1"/>
          <p:cNvSpPr/>
          <p:nvPr/>
        </p:nvSpPr>
        <p:spPr>
          <a:xfrm>
            <a:off x="2846070" y="777240"/>
            <a:ext cx="58978" cy="102412"/>
          </a:xfrm>
          <a:prstGeom prst="rect">
            <a:avLst/>
          </a:prstGeom>
          <a:solidFill>
            <a:srgbClr val="A7D0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_zt_1_2"/>
          <p:cNvSpPr/>
          <p:nvPr/>
        </p:nvSpPr>
        <p:spPr>
          <a:xfrm>
            <a:off x="2846070" y="886968"/>
            <a:ext cx="58978" cy="102412"/>
          </a:xfrm>
          <a:prstGeom prst="rect">
            <a:avLst/>
          </a:prstGeom>
          <a:solidFill>
            <a:srgbClr val="DCEDEA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_zt_1_3"/>
          <p:cNvSpPr/>
          <p:nvPr/>
        </p:nvSpPr>
        <p:spPr>
          <a:xfrm>
            <a:off x="2846070" y="996696"/>
            <a:ext cx="58978" cy="102412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_zt_2_0"/>
          <p:cNvSpPr/>
          <p:nvPr/>
        </p:nvSpPr>
        <p:spPr>
          <a:xfrm>
            <a:off x="2912364" y="667512"/>
            <a:ext cx="58978" cy="102412"/>
          </a:xfrm>
          <a:prstGeom prst="rect">
            <a:avLst/>
          </a:prstGeom>
          <a:solidFill>
            <a:srgbClr val="A7D0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_zt_2_1"/>
          <p:cNvSpPr/>
          <p:nvPr/>
        </p:nvSpPr>
        <p:spPr>
          <a:xfrm>
            <a:off x="2912364" y="777240"/>
            <a:ext cx="58978" cy="102412"/>
          </a:xfrm>
          <a:prstGeom prst="rect">
            <a:avLst/>
          </a:prstGeom>
          <a:solidFill>
            <a:srgbClr val="DCEDEA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_zt_2_2"/>
          <p:cNvSpPr/>
          <p:nvPr/>
        </p:nvSpPr>
        <p:spPr>
          <a:xfrm>
            <a:off x="2912364" y="886968"/>
            <a:ext cx="58978" cy="102412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_zt_2_3"/>
          <p:cNvSpPr/>
          <p:nvPr/>
        </p:nvSpPr>
        <p:spPr>
          <a:xfrm>
            <a:off x="2912364" y="996696"/>
            <a:ext cx="58978" cy="102412"/>
          </a:xfrm>
          <a:prstGeom prst="rect">
            <a:avLst/>
          </a:prstGeom>
          <a:solidFill>
            <a:srgbClr val="63A99E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_zt_3_0"/>
          <p:cNvSpPr/>
          <p:nvPr/>
        </p:nvSpPr>
        <p:spPr>
          <a:xfrm>
            <a:off x="2978658" y="667512"/>
            <a:ext cx="58978" cy="102412"/>
          </a:xfrm>
          <a:prstGeom prst="rect">
            <a:avLst/>
          </a:prstGeom>
          <a:solidFill>
            <a:srgbClr val="DCEDEA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_zt_3_1"/>
          <p:cNvSpPr/>
          <p:nvPr/>
        </p:nvSpPr>
        <p:spPr>
          <a:xfrm>
            <a:off x="2978658" y="777240"/>
            <a:ext cx="58978" cy="102412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_zt_3_2"/>
          <p:cNvSpPr/>
          <p:nvPr/>
        </p:nvSpPr>
        <p:spPr>
          <a:xfrm>
            <a:off x="2978658" y="886968"/>
            <a:ext cx="58978" cy="102412"/>
          </a:xfrm>
          <a:prstGeom prst="rect">
            <a:avLst/>
          </a:prstGeom>
          <a:solidFill>
            <a:srgbClr val="63A99E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_zt_3_3"/>
          <p:cNvSpPr/>
          <p:nvPr/>
        </p:nvSpPr>
        <p:spPr>
          <a:xfrm>
            <a:off x="2978658" y="996696"/>
            <a:ext cx="58978" cy="102412"/>
          </a:xfrm>
          <a:prstGeom prst="rect">
            <a:avLst/>
          </a:prstGeom>
          <a:solidFill>
            <a:srgbClr val="A7D0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_zt_label"/>
          <p:cNvSpPr txBox="1"/>
          <p:nvPr/>
        </p:nvSpPr>
        <p:spPr>
          <a:xfrm>
            <a:off x="2715768" y="1078992"/>
            <a:ext cx="393192" cy="155448"/>
          </a:xfrm>
          <a:prstGeom prst="rect">
            <a:avLst/>
          </a:prstGeom>
          <a:noFill/>
        </p:spPr>
        <p:txBody>
          <a:bodyPr wrap="square" lIns="13716" rIns="13716" tIns="7315" bIns="7315" anchor="ctr">
            <a:spAutoFit/>
          </a:bodyPr>
          <a:lstStyle/>
          <a:p>
            <a:pPr algn="ctr"/>
            <a:r>
              <a:rPr sz="900" b="1">
                <a:solidFill>
                  <a:srgbClr val="238B7B"/>
                </a:solidFill>
                <a:latin typeface="Arial"/>
              </a:rPr>
              <a:t>zₜ</a:t>
            </a:r>
          </a:p>
        </p:txBody>
      </p:sp>
      <p:cxnSp>
        <p:nvCxnSpPr>
          <p:cNvPr id="63" name="A_to_q"/>
          <p:cNvCxnSpPr/>
          <p:nvPr/>
        </p:nvCxnSpPr>
        <p:spPr>
          <a:xfrm>
            <a:off x="1078992" y="950976"/>
            <a:ext cx="228600" cy="0"/>
          </a:xfrm>
          <a:prstGeom prst="line">
            <a:avLst/>
          </a:prstGeom>
          <a:ln w="14604">
            <a:solidFill>
              <a:srgbClr val="2F6F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B_q_to_tokens"/>
          <p:cNvCxnSpPr/>
          <p:nvPr/>
        </p:nvCxnSpPr>
        <p:spPr>
          <a:xfrm>
            <a:off x="1874519" y="950976"/>
            <a:ext cx="100585" cy="0"/>
          </a:xfrm>
          <a:prstGeom prst="line">
            <a:avLst/>
          </a:prstGeom>
          <a:ln w="12700">
            <a:solidFill>
              <a:srgbClr val="2F6F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B_tokens_to_P"/>
          <p:cNvCxnSpPr/>
          <p:nvPr/>
        </p:nvCxnSpPr>
        <p:spPr>
          <a:xfrm>
            <a:off x="2276856" y="950976"/>
            <a:ext cx="109728" cy="0"/>
          </a:xfrm>
          <a:prstGeom prst="line">
            <a:avLst/>
          </a:prstGeom>
          <a:ln w="12700">
            <a:solidFill>
              <a:srgbClr val="238B7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B_P_to_zt"/>
          <p:cNvCxnSpPr/>
          <p:nvPr/>
        </p:nvCxnSpPr>
        <p:spPr>
          <a:xfrm>
            <a:off x="2679192" y="950976"/>
            <a:ext cx="36576" cy="0"/>
          </a:xfrm>
          <a:prstGeom prst="line">
            <a:avLst/>
          </a:prstGeom>
          <a:ln w="12700">
            <a:solidFill>
              <a:srgbClr val="238B7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B_bh"/>
          <p:cNvSpPr/>
          <p:nvPr/>
        </p:nvSpPr>
        <p:spPr>
          <a:xfrm>
            <a:off x="1536192" y="1938528"/>
            <a:ext cx="1051560" cy="475488"/>
          </a:xfrm>
          <a:prstGeom prst="roundRect">
            <a:avLst/>
          </a:prstGeom>
          <a:solidFill>
            <a:srgbClr val="EAF3F8"/>
          </a:solidFill>
          <a:ln w="10795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900" b="1">
                <a:solidFill>
                  <a:srgbClr val="202833"/>
                </a:solidFill>
                <a:latin typeface="Arial"/>
              </a:rPr>
              <a:t>context-only forecast
bₕ</a:t>
            </a:r>
          </a:p>
        </p:txBody>
      </p:sp>
      <p:cxnSp>
        <p:nvCxnSpPr>
          <p:cNvPr id="68" name="B_q_to_bh_1"/>
          <p:cNvCxnSpPr/>
          <p:nvPr/>
        </p:nvCxnSpPr>
        <p:spPr>
          <a:xfrm>
            <a:off x="1591056" y="1271016"/>
            <a:ext cx="0" cy="722376"/>
          </a:xfrm>
          <a:prstGeom prst="line">
            <a:avLst/>
          </a:prstGeom>
          <a:ln w="1143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B_q_to_bh_2"/>
          <p:cNvCxnSpPr/>
          <p:nvPr/>
        </p:nvCxnSpPr>
        <p:spPr>
          <a:xfrm>
            <a:off x="1591056" y="1993392"/>
            <a:ext cx="146304" cy="0"/>
          </a:xfrm>
          <a:prstGeom prst="line">
            <a:avLst/>
          </a:prstGeom>
          <a:ln w="11430">
            <a:solidFill>
              <a:srgbClr val="2F6F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_weather"/>
          <p:cNvSpPr/>
          <p:nvPr/>
        </p:nvSpPr>
        <p:spPr>
          <a:xfrm>
            <a:off x="3026664" y="429768"/>
            <a:ext cx="859536" cy="548640"/>
          </a:xfrm>
          <a:prstGeom prst="roundRect">
            <a:avLst/>
          </a:prstGeom>
          <a:solidFill>
            <a:srgbClr val="F2EFF9"/>
          </a:solidFill>
          <a:ln w="10795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_weather_line_0_0"/>
          <p:cNvCxnSpPr/>
          <p:nvPr/>
        </p:nvCxnSpPr>
        <p:spPr>
          <a:xfrm>
            <a:off x="3099816" y="539496"/>
            <a:ext cx="219090" cy="36575"/>
          </a:xfrm>
          <a:prstGeom prst="line">
            <a:avLst/>
          </a:prstGeom>
          <a:ln w="6985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_weather_line_0_1"/>
          <p:cNvCxnSpPr/>
          <p:nvPr/>
        </p:nvCxnSpPr>
        <p:spPr>
          <a:xfrm>
            <a:off x="3318906" y="576071"/>
            <a:ext cx="249265" cy="0"/>
          </a:xfrm>
          <a:prstGeom prst="line">
            <a:avLst/>
          </a:prstGeom>
          <a:ln w="6985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_weather_line_0_2"/>
          <p:cNvCxnSpPr/>
          <p:nvPr/>
        </p:nvCxnSpPr>
        <p:spPr>
          <a:xfrm flipV="1">
            <a:off x="3568171" y="548640"/>
            <a:ext cx="244877" cy="27431"/>
          </a:xfrm>
          <a:prstGeom prst="line">
            <a:avLst/>
          </a:prstGeom>
          <a:ln w="6985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_weather_line_1_0"/>
          <p:cNvCxnSpPr/>
          <p:nvPr/>
        </p:nvCxnSpPr>
        <p:spPr>
          <a:xfrm flipV="1">
            <a:off x="3099816" y="612647"/>
            <a:ext cx="219090" cy="36577"/>
          </a:xfrm>
          <a:prstGeom prst="line">
            <a:avLst/>
          </a:prstGeom>
          <a:ln w="698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_weather_line_1_1"/>
          <p:cNvCxnSpPr/>
          <p:nvPr/>
        </p:nvCxnSpPr>
        <p:spPr>
          <a:xfrm>
            <a:off x="3318906" y="612647"/>
            <a:ext cx="249265" cy="18289"/>
          </a:xfrm>
          <a:prstGeom prst="line">
            <a:avLst/>
          </a:prstGeom>
          <a:ln w="698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_weather_line_1_2"/>
          <p:cNvCxnSpPr/>
          <p:nvPr/>
        </p:nvCxnSpPr>
        <p:spPr>
          <a:xfrm>
            <a:off x="3568171" y="630936"/>
            <a:ext cx="244877" cy="27432"/>
          </a:xfrm>
          <a:prstGeom prst="line">
            <a:avLst/>
          </a:prstGeom>
          <a:ln w="698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_weather_line_2_0"/>
          <p:cNvCxnSpPr/>
          <p:nvPr/>
        </p:nvCxnSpPr>
        <p:spPr>
          <a:xfrm>
            <a:off x="3099816" y="758952"/>
            <a:ext cx="219090" cy="36575"/>
          </a:xfrm>
          <a:prstGeom prst="line">
            <a:avLst/>
          </a:prstGeom>
          <a:ln w="6985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_weather_line_2_1"/>
          <p:cNvCxnSpPr/>
          <p:nvPr/>
        </p:nvCxnSpPr>
        <p:spPr>
          <a:xfrm flipV="1">
            <a:off x="3318906" y="740664"/>
            <a:ext cx="249265" cy="54863"/>
          </a:xfrm>
          <a:prstGeom prst="line">
            <a:avLst/>
          </a:prstGeom>
          <a:ln w="6985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_weather_line_2_2"/>
          <p:cNvCxnSpPr/>
          <p:nvPr/>
        </p:nvCxnSpPr>
        <p:spPr>
          <a:xfrm>
            <a:off x="3568171" y="740664"/>
            <a:ext cx="244877" cy="27432"/>
          </a:xfrm>
          <a:prstGeom prst="line">
            <a:avLst/>
          </a:prstGeom>
          <a:ln w="6985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_weather_label"/>
          <p:cNvSpPr txBox="1"/>
          <p:nvPr/>
        </p:nvSpPr>
        <p:spPr>
          <a:xfrm>
            <a:off x="3063240" y="777239"/>
            <a:ext cx="786384" cy="164592"/>
          </a:xfrm>
          <a:prstGeom prst="rect">
            <a:avLst/>
          </a:prstGeom>
          <a:noFill/>
        </p:spPr>
        <p:txBody>
          <a:bodyPr wrap="square" lIns="13716" rIns="13716" tIns="7315" bIns="7315" anchor="ctr">
            <a:spAutoFit/>
          </a:bodyPr>
          <a:lstStyle/>
          <a:p>
            <a:pPr algn="ctr"/>
            <a:r>
              <a:rPr sz="780" b="1">
                <a:solidFill>
                  <a:srgbClr val="202833"/>
                </a:solidFill>
                <a:latin typeface="Arial"/>
              </a:rPr>
              <a:t>future weather  u</a:t>
            </a:r>
          </a:p>
        </p:txBody>
      </p:sp>
      <p:sp>
        <p:nvSpPr>
          <p:cNvPr id="81" name="C_g"/>
          <p:cNvSpPr/>
          <p:nvPr/>
        </p:nvSpPr>
        <p:spPr>
          <a:xfrm>
            <a:off x="3950208" y="484632"/>
            <a:ext cx="384048" cy="438912"/>
          </a:xfrm>
          <a:prstGeom prst="roundRect">
            <a:avLst/>
          </a:prstGeom>
          <a:solidFill>
            <a:srgbClr val="EDF5EE"/>
          </a:solidFill>
          <a:ln w="10795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819" b="1">
                <a:solidFill>
                  <a:srgbClr val="202833"/>
                </a:solidFill>
                <a:latin typeface="Arial"/>
              </a:rPr>
              <a:t>static
g</a:t>
            </a:r>
          </a:p>
        </p:txBody>
      </p:sp>
      <p:sp>
        <p:nvSpPr>
          <p:cNvPr id="82" name="C_h"/>
          <p:cNvSpPr/>
          <p:nvPr/>
        </p:nvSpPr>
        <p:spPr>
          <a:xfrm>
            <a:off x="4407408" y="484632"/>
            <a:ext cx="347472" cy="438912"/>
          </a:xfrm>
          <a:prstGeom prst="roundRect">
            <a:avLst/>
          </a:prstGeom>
          <a:solidFill>
            <a:srgbClr val="F3F5F7"/>
          </a:solidFill>
          <a:ln w="10795">
            <a:solidFill>
              <a:srgbClr val="667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800" b="1">
                <a:solidFill>
                  <a:srgbClr val="202833"/>
                </a:solidFill>
                <a:latin typeface="Arial"/>
              </a:rPr>
              <a:t>horizon
h</a:t>
            </a:r>
          </a:p>
        </p:txBody>
      </p:sp>
      <p:sp>
        <p:nvSpPr>
          <p:cNvPr id="83" name="C_T"/>
          <p:cNvSpPr/>
          <p:nvPr/>
        </p:nvSpPr>
        <p:spPr>
          <a:xfrm>
            <a:off x="3465576" y="1197864"/>
            <a:ext cx="841248" cy="704088"/>
          </a:xfrm>
          <a:prstGeom prst="roundRect">
            <a:avLst/>
          </a:prstGeom>
          <a:solidFill>
            <a:srgbClr val="F2EFF9"/>
          </a:solidFill>
          <a:ln w="10795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919" b="1">
                <a:solidFill>
                  <a:srgbClr val="202833"/>
                </a:solidFill>
                <a:latin typeface="Arial"/>
              </a:rPr>
              <a:t>shared transition
Tψ</a:t>
            </a:r>
          </a:p>
        </p:txBody>
      </p:sp>
      <p:sp>
        <p:nvSpPr>
          <p:cNvPr id="84" name="C_zfuture"/>
          <p:cNvSpPr/>
          <p:nvPr/>
        </p:nvSpPr>
        <p:spPr>
          <a:xfrm>
            <a:off x="4425696" y="1197864"/>
            <a:ext cx="365760" cy="704088"/>
          </a:xfrm>
          <a:prstGeom prst="roundRect">
            <a:avLst/>
          </a:prstGeom>
          <a:solidFill>
            <a:srgbClr val="EAF6F3"/>
          </a:solidFill>
          <a:ln w="10795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_zfuture_0_0"/>
          <p:cNvSpPr/>
          <p:nvPr/>
        </p:nvSpPr>
        <p:spPr>
          <a:xfrm>
            <a:off x="4489704" y="1261872"/>
            <a:ext cx="52120" cy="100126"/>
          </a:xfrm>
          <a:prstGeom prst="rect">
            <a:avLst/>
          </a:prstGeom>
          <a:solidFill>
            <a:srgbClr val="63A99E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_zfuture_0_1"/>
          <p:cNvSpPr/>
          <p:nvPr/>
        </p:nvSpPr>
        <p:spPr>
          <a:xfrm>
            <a:off x="4489704" y="1369314"/>
            <a:ext cx="52120" cy="100126"/>
          </a:xfrm>
          <a:prstGeom prst="rect">
            <a:avLst/>
          </a:prstGeom>
          <a:solidFill>
            <a:srgbClr val="A7D0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_zfuture_0_2"/>
          <p:cNvSpPr/>
          <p:nvPr/>
        </p:nvSpPr>
        <p:spPr>
          <a:xfrm>
            <a:off x="4489704" y="1476756"/>
            <a:ext cx="52120" cy="100126"/>
          </a:xfrm>
          <a:prstGeom prst="rect">
            <a:avLst/>
          </a:prstGeom>
          <a:solidFill>
            <a:srgbClr val="DCEDEA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_zfuture_0_3"/>
          <p:cNvSpPr/>
          <p:nvPr/>
        </p:nvSpPr>
        <p:spPr>
          <a:xfrm>
            <a:off x="4489704" y="1584198"/>
            <a:ext cx="52120" cy="100126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_zfuture_1_0"/>
          <p:cNvSpPr/>
          <p:nvPr/>
        </p:nvSpPr>
        <p:spPr>
          <a:xfrm>
            <a:off x="4549140" y="1261872"/>
            <a:ext cx="52120" cy="100126"/>
          </a:xfrm>
          <a:prstGeom prst="rect">
            <a:avLst/>
          </a:prstGeom>
          <a:solidFill>
            <a:srgbClr val="A7D0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_zfuture_1_1"/>
          <p:cNvSpPr/>
          <p:nvPr/>
        </p:nvSpPr>
        <p:spPr>
          <a:xfrm>
            <a:off x="4549140" y="1369314"/>
            <a:ext cx="52120" cy="100126"/>
          </a:xfrm>
          <a:prstGeom prst="rect">
            <a:avLst/>
          </a:prstGeom>
          <a:solidFill>
            <a:srgbClr val="DCEDEA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_zfuture_1_2"/>
          <p:cNvSpPr/>
          <p:nvPr/>
        </p:nvSpPr>
        <p:spPr>
          <a:xfrm>
            <a:off x="4549140" y="1476756"/>
            <a:ext cx="52120" cy="100126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_zfuture_1_3"/>
          <p:cNvSpPr/>
          <p:nvPr/>
        </p:nvSpPr>
        <p:spPr>
          <a:xfrm>
            <a:off x="4549140" y="1584198"/>
            <a:ext cx="52120" cy="100126"/>
          </a:xfrm>
          <a:prstGeom prst="rect">
            <a:avLst/>
          </a:prstGeom>
          <a:solidFill>
            <a:srgbClr val="63A99E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C_zfuture_2_0"/>
          <p:cNvSpPr/>
          <p:nvPr/>
        </p:nvSpPr>
        <p:spPr>
          <a:xfrm>
            <a:off x="4608576" y="1261872"/>
            <a:ext cx="52120" cy="100126"/>
          </a:xfrm>
          <a:prstGeom prst="rect">
            <a:avLst/>
          </a:prstGeom>
          <a:solidFill>
            <a:srgbClr val="DCEDEA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_zfuture_2_1"/>
          <p:cNvSpPr/>
          <p:nvPr/>
        </p:nvSpPr>
        <p:spPr>
          <a:xfrm>
            <a:off x="4608576" y="1369314"/>
            <a:ext cx="52120" cy="100126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C_zfuture_2_2"/>
          <p:cNvSpPr/>
          <p:nvPr/>
        </p:nvSpPr>
        <p:spPr>
          <a:xfrm>
            <a:off x="4608576" y="1476756"/>
            <a:ext cx="52120" cy="100126"/>
          </a:xfrm>
          <a:prstGeom prst="rect">
            <a:avLst/>
          </a:prstGeom>
          <a:solidFill>
            <a:srgbClr val="63A99E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_zfuture_2_3"/>
          <p:cNvSpPr/>
          <p:nvPr/>
        </p:nvSpPr>
        <p:spPr>
          <a:xfrm>
            <a:off x="4608576" y="1584198"/>
            <a:ext cx="52120" cy="100126"/>
          </a:xfrm>
          <a:prstGeom prst="rect">
            <a:avLst/>
          </a:prstGeom>
          <a:solidFill>
            <a:srgbClr val="A7D0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_zfuture_3_0"/>
          <p:cNvSpPr/>
          <p:nvPr/>
        </p:nvSpPr>
        <p:spPr>
          <a:xfrm>
            <a:off x="4668012" y="1261872"/>
            <a:ext cx="52120" cy="100126"/>
          </a:xfrm>
          <a:prstGeom prst="rect">
            <a:avLst/>
          </a:prstGeom>
          <a:solidFill>
            <a:srgbClr val="238B7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_zfuture_3_1"/>
          <p:cNvSpPr/>
          <p:nvPr/>
        </p:nvSpPr>
        <p:spPr>
          <a:xfrm>
            <a:off x="4668012" y="1369314"/>
            <a:ext cx="52120" cy="100126"/>
          </a:xfrm>
          <a:prstGeom prst="rect">
            <a:avLst/>
          </a:prstGeom>
          <a:solidFill>
            <a:srgbClr val="63A99E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_zfuture_3_2"/>
          <p:cNvSpPr/>
          <p:nvPr/>
        </p:nvSpPr>
        <p:spPr>
          <a:xfrm>
            <a:off x="4668012" y="1476756"/>
            <a:ext cx="52120" cy="100126"/>
          </a:xfrm>
          <a:prstGeom prst="rect">
            <a:avLst/>
          </a:prstGeom>
          <a:solidFill>
            <a:srgbClr val="A7D0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_zfuture_3_3"/>
          <p:cNvSpPr/>
          <p:nvPr/>
        </p:nvSpPr>
        <p:spPr>
          <a:xfrm>
            <a:off x="4668012" y="1584198"/>
            <a:ext cx="52120" cy="100126"/>
          </a:xfrm>
          <a:prstGeom prst="rect">
            <a:avLst/>
          </a:prstGeom>
          <a:solidFill>
            <a:srgbClr val="DCEDEA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_zfuture_label"/>
          <p:cNvSpPr txBox="1"/>
          <p:nvPr/>
        </p:nvSpPr>
        <p:spPr>
          <a:xfrm>
            <a:off x="4425696" y="1682496"/>
            <a:ext cx="365760" cy="164592"/>
          </a:xfrm>
          <a:prstGeom prst="rect">
            <a:avLst/>
          </a:prstGeom>
          <a:noFill/>
        </p:spPr>
        <p:txBody>
          <a:bodyPr wrap="square" lIns="13716" rIns="13716" tIns="7315" bIns="7315" anchor="ctr">
            <a:spAutoFit/>
          </a:bodyPr>
          <a:lstStyle/>
          <a:p>
            <a:pPr algn="ctr"/>
            <a:r>
              <a:rPr sz="900" b="1">
                <a:solidFill>
                  <a:srgbClr val="238B7B"/>
                </a:solidFill>
                <a:latin typeface="Arial"/>
              </a:rPr>
              <a:t>zₜ₊ₕ</a:t>
            </a:r>
          </a:p>
        </p:txBody>
      </p:sp>
      <p:cxnSp>
        <p:nvCxnSpPr>
          <p:cNvPr id="102" name="B_zt_to_T"/>
          <p:cNvCxnSpPr/>
          <p:nvPr/>
        </p:nvCxnSpPr>
        <p:spPr>
          <a:xfrm>
            <a:off x="3108960" y="950976"/>
            <a:ext cx="356616" cy="585216"/>
          </a:xfrm>
          <a:prstGeom prst="line">
            <a:avLst/>
          </a:prstGeom>
          <a:ln w="14604">
            <a:solidFill>
              <a:srgbClr val="238B7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_weather_to_T"/>
          <p:cNvCxnSpPr/>
          <p:nvPr/>
        </p:nvCxnSpPr>
        <p:spPr>
          <a:xfrm>
            <a:off x="3456432" y="978408"/>
            <a:ext cx="228600" cy="219456"/>
          </a:xfrm>
          <a:prstGeom prst="line">
            <a:avLst/>
          </a:prstGeom>
          <a:ln w="12065">
            <a:solidFill>
              <a:srgbClr val="7256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_g_to_T"/>
          <p:cNvCxnSpPr/>
          <p:nvPr/>
        </p:nvCxnSpPr>
        <p:spPr>
          <a:xfrm flipH="1">
            <a:off x="4078224" y="923544"/>
            <a:ext cx="64008" cy="274320"/>
          </a:xfrm>
          <a:prstGeom prst="line">
            <a:avLst/>
          </a:prstGeom>
          <a:ln w="10795">
            <a:solidFill>
              <a:srgbClr val="467A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_h_to_T"/>
          <p:cNvCxnSpPr/>
          <p:nvPr/>
        </p:nvCxnSpPr>
        <p:spPr>
          <a:xfrm flipH="1">
            <a:off x="4261104" y="923544"/>
            <a:ext cx="320040" cy="274320"/>
          </a:xfrm>
          <a:prstGeom prst="line">
            <a:avLst/>
          </a:prstGeom>
          <a:ln w="10795">
            <a:solidFill>
              <a:srgbClr val="6671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_T_to_zfuture"/>
          <p:cNvCxnSpPr/>
          <p:nvPr/>
        </p:nvCxnSpPr>
        <p:spPr>
          <a:xfrm>
            <a:off x="4306824" y="1545336"/>
            <a:ext cx="118872" cy="0"/>
          </a:xfrm>
          <a:prstGeom prst="line">
            <a:avLst/>
          </a:prstGeom>
          <a:ln w="14604">
            <a:solidFill>
              <a:srgbClr val="238B7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_Q3"/>
          <p:cNvSpPr/>
          <p:nvPr/>
        </p:nvSpPr>
        <p:spPr>
          <a:xfrm>
            <a:off x="3054096" y="2148840"/>
            <a:ext cx="987552" cy="3108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7256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900" b="1">
                <a:solidFill>
                  <a:srgbClr val="202833"/>
                </a:solidFill>
                <a:latin typeface="Arial"/>
              </a:rPr>
              <a:t>Q3  replace u</a:t>
            </a:r>
          </a:p>
        </p:txBody>
      </p:sp>
      <p:cxnSp>
        <p:nvCxnSpPr>
          <p:cNvPr id="108" name="C_Q3_pointer"/>
          <p:cNvCxnSpPr/>
          <p:nvPr/>
        </p:nvCxnSpPr>
        <p:spPr>
          <a:xfrm flipH="1" flipV="1">
            <a:off x="3447288" y="987552"/>
            <a:ext cx="100584" cy="1161288"/>
          </a:xfrm>
          <a:prstGeom prst="line">
            <a:avLst/>
          </a:prstGeom>
          <a:ln w="9525">
            <a:solidFill>
              <a:srgbClr val="7256A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C_T_identity"/>
          <p:cNvSpPr/>
          <p:nvPr/>
        </p:nvSpPr>
        <p:spPr>
          <a:xfrm>
            <a:off x="4178808" y="2148840"/>
            <a:ext cx="576072" cy="3108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850" b="1">
                <a:solidFill>
                  <a:srgbClr val="202833"/>
                </a:solidFill>
                <a:latin typeface="Arial"/>
              </a:rPr>
              <a:t>T→I
support</a:t>
            </a:r>
          </a:p>
        </p:txBody>
      </p:sp>
      <p:cxnSp>
        <p:nvCxnSpPr>
          <p:cNvPr id="110" name="C_T_identity_pointer"/>
          <p:cNvCxnSpPr/>
          <p:nvPr/>
        </p:nvCxnSpPr>
        <p:spPr>
          <a:xfrm flipH="1" flipV="1">
            <a:off x="4169663" y="1901952"/>
            <a:ext cx="292609" cy="246888"/>
          </a:xfrm>
          <a:prstGeom prst="line">
            <a:avLst/>
          </a:prstGeom>
          <a:ln w="8890">
            <a:solidFill>
              <a:srgbClr val="C96A16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D_readout_label"/>
          <p:cNvSpPr txBox="1"/>
          <p:nvPr/>
        </p:nvSpPr>
        <p:spPr>
          <a:xfrm>
            <a:off x="4983480" y="438912"/>
            <a:ext cx="502920" cy="164592"/>
          </a:xfrm>
          <a:prstGeom prst="rect">
            <a:avLst/>
          </a:prstGeom>
          <a:noFill/>
        </p:spPr>
        <p:txBody>
          <a:bodyPr wrap="square" lIns="13716" rIns="13716" tIns="7315" bIns="7315" anchor="ctr">
            <a:spAutoFit/>
          </a:bodyPr>
          <a:lstStyle/>
          <a:p>
            <a:pPr algn="ctr"/>
            <a:r>
              <a:rPr sz="900" b="1">
                <a:solidFill>
                  <a:srgbClr val="467A55"/>
                </a:solidFill>
                <a:latin typeface="Arial"/>
              </a:rPr>
              <a:t>state readout</a:t>
            </a:r>
          </a:p>
        </p:txBody>
      </p:sp>
      <p:sp>
        <p:nvSpPr>
          <p:cNvPr id="112" name="D_O"/>
          <p:cNvSpPr/>
          <p:nvPr/>
        </p:nvSpPr>
        <p:spPr>
          <a:xfrm>
            <a:off x="5047488" y="685800"/>
            <a:ext cx="329184" cy="502920"/>
          </a:xfrm>
          <a:prstGeom prst="roundRect">
            <a:avLst/>
          </a:prstGeom>
          <a:solidFill>
            <a:srgbClr val="EDF5EE"/>
          </a:solidFill>
          <a:ln w="10795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1000" b="1">
                <a:solidFill>
                  <a:srgbClr val="202833"/>
                </a:solidFill>
                <a:latin typeface="Arial"/>
              </a:rPr>
              <a:t>Oω</a:t>
            </a:r>
          </a:p>
        </p:txBody>
      </p:sp>
      <p:sp>
        <p:nvSpPr>
          <p:cNvPr id="113" name="D_rh"/>
          <p:cNvSpPr/>
          <p:nvPr/>
        </p:nvSpPr>
        <p:spPr>
          <a:xfrm>
            <a:off x="5468112" y="685800"/>
            <a:ext cx="329184" cy="502920"/>
          </a:xfrm>
          <a:prstGeom prst="roundRect">
            <a:avLst/>
          </a:prstGeom>
          <a:solidFill>
            <a:srgbClr val="EAF6F3"/>
          </a:solidFill>
          <a:ln w="10795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1019" b="1">
                <a:solidFill>
                  <a:srgbClr val="202833"/>
                </a:solidFill>
                <a:latin typeface="Arial"/>
              </a:rPr>
              <a:t>rₕ</a:t>
            </a:r>
          </a:p>
        </p:txBody>
      </p:sp>
      <p:sp>
        <p:nvSpPr>
          <p:cNvPr id="114" name="D_plus"/>
          <p:cNvSpPr/>
          <p:nvPr/>
        </p:nvSpPr>
        <p:spPr>
          <a:xfrm>
            <a:off x="5925312" y="758952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96A16"/>
                </a:solidFill>
                <a:latin typeface="Arial"/>
              </a:rPr>
              <a:t>+</a:t>
            </a:r>
          </a:p>
        </p:txBody>
      </p:sp>
      <p:cxnSp>
        <p:nvCxnSpPr>
          <p:cNvPr id="115" name="C_zfuture_to_O"/>
          <p:cNvCxnSpPr/>
          <p:nvPr/>
        </p:nvCxnSpPr>
        <p:spPr>
          <a:xfrm flipV="1">
            <a:off x="4791456" y="941832"/>
            <a:ext cx="256032" cy="603504"/>
          </a:xfrm>
          <a:prstGeom prst="line">
            <a:avLst/>
          </a:prstGeom>
          <a:ln w="13970">
            <a:solidFill>
              <a:srgbClr val="238B7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D_O_to_rh"/>
          <p:cNvCxnSpPr/>
          <p:nvPr/>
        </p:nvCxnSpPr>
        <p:spPr>
          <a:xfrm>
            <a:off x="5376672" y="941832"/>
            <a:ext cx="91440" cy="0"/>
          </a:xfrm>
          <a:prstGeom prst="line">
            <a:avLst/>
          </a:prstGeom>
          <a:ln w="12700">
            <a:solidFill>
              <a:srgbClr val="467A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D_rh_to_plus"/>
          <p:cNvCxnSpPr/>
          <p:nvPr/>
        </p:nvCxnSpPr>
        <p:spPr>
          <a:xfrm flipV="1">
            <a:off x="5797296" y="905256"/>
            <a:ext cx="128016" cy="36576"/>
          </a:xfrm>
          <a:prstGeom prst="line">
            <a:avLst/>
          </a:prstGeom>
          <a:ln w="12700">
            <a:solidFill>
              <a:srgbClr val="C96A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D_forecast"/>
          <p:cNvSpPr/>
          <p:nvPr/>
        </p:nvSpPr>
        <p:spPr>
          <a:xfrm>
            <a:off x="5148072" y="1719072"/>
            <a:ext cx="1024128" cy="566928"/>
          </a:xfrm>
          <a:prstGeom prst="roundRect">
            <a:avLst/>
          </a:prstGeom>
          <a:solidFill>
            <a:srgbClr val="FFF3E8"/>
          </a:solidFill>
          <a:ln w="10795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D_forecast_cell_0_0"/>
          <p:cNvSpPr/>
          <p:nvPr/>
        </p:nvSpPr>
        <p:spPr>
          <a:xfrm>
            <a:off x="5285232" y="1828800"/>
            <a:ext cx="132588" cy="96012"/>
          </a:xfrm>
          <a:prstGeom prst="rect">
            <a:avLst/>
          </a:prstGeom>
          <a:solidFill>
            <a:srgbClr val="D8E8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D_forecast_cell_0_1"/>
          <p:cNvSpPr/>
          <p:nvPr/>
        </p:nvSpPr>
        <p:spPr>
          <a:xfrm>
            <a:off x="5285232" y="1929384"/>
            <a:ext cx="132588" cy="96012"/>
          </a:xfrm>
          <a:prstGeom prst="rect">
            <a:avLst/>
          </a:prstGeom>
          <a:solidFill>
            <a:srgbClr val="B9D4B5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D_forecast_cell_0_2"/>
          <p:cNvSpPr/>
          <p:nvPr/>
        </p:nvSpPr>
        <p:spPr>
          <a:xfrm>
            <a:off x="5285232" y="2029968"/>
            <a:ext cx="132588" cy="96012"/>
          </a:xfrm>
          <a:prstGeom prst="rect">
            <a:avLst/>
          </a:prstGeom>
          <a:solidFill>
            <a:srgbClr val="91BC9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D_forecast_cell_1_0"/>
          <p:cNvSpPr/>
          <p:nvPr/>
        </p:nvSpPr>
        <p:spPr>
          <a:xfrm>
            <a:off x="5431536" y="1828800"/>
            <a:ext cx="132588" cy="96012"/>
          </a:xfrm>
          <a:prstGeom prst="rect">
            <a:avLst/>
          </a:prstGeom>
          <a:solidFill>
            <a:srgbClr val="B9D4B5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_forecast_cell_1_1"/>
          <p:cNvSpPr/>
          <p:nvPr/>
        </p:nvSpPr>
        <p:spPr>
          <a:xfrm>
            <a:off x="5431536" y="1929384"/>
            <a:ext cx="132588" cy="96012"/>
          </a:xfrm>
          <a:prstGeom prst="rect">
            <a:avLst/>
          </a:prstGeom>
          <a:solidFill>
            <a:srgbClr val="91BC9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D_forecast_cell_1_2"/>
          <p:cNvSpPr/>
          <p:nvPr/>
        </p:nvSpPr>
        <p:spPr>
          <a:xfrm>
            <a:off x="5431536" y="2029968"/>
            <a:ext cx="132588" cy="96012"/>
          </a:xfrm>
          <a:prstGeom prst="rect">
            <a:avLst/>
          </a:prstGeom>
          <a:solidFill>
            <a:srgbClr val="E6D7A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D_forecast_cell_2_0"/>
          <p:cNvSpPr/>
          <p:nvPr/>
        </p:nvSpPr>
        <p:spPr>
          <a:xfrm>
            <a:off x="5577840" y="1828800"/>
            <a:ext cx="132588" cy="96012"/>
          </a:xfrm>
          <a:prstGeom prst="rect">
            <a:avLst/>
          </a:prstGeom>
          <a:solidFill>
            <a:srgbClr val="91BC9B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D_forecast_cell_2_1"/>
          <p:cNvSpPr/>
          <p:nvPr/>
        </p:nvSpPr>
        <p:spPr>
          <a:xfrm>
            <a:off x="5577840" y="1929384"/>
            <a:ext cx="132588" cy="96012"/>
          </a:xfrm>
          <a:prstGeom prst="rect">
            <a:avLst/>
          </a:prstGeom>
          <a:solidFill>
            <a:srgbClr val="E6D7A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D_forecast_cell_2_2"/>
          <p:cNvSpPr/>
          <p:nvPr/>
        </p:nvSpPr>
        <p:spPr>
          <a:xfrm>
            <a:off x="5577840" y="2029968"/>
            <a:ext cx="132588" cy="96012"/>
          </a:xfrm>
          <a:prstGeom prst="rect">
            <a:avLst/>
          </a:prstGeom>
          <a:solidFill>
            <a:srgbClr val="D8E8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D_forecast_cell_3_0"/>
          <p:cNvSpPr/>
          <p:nvPr/>
        </p:nvSpPr>
        <p:spPr>
          <a:xfrm>
            <a:off x="5724144" y="1828800"/>
            <a:ext cx="132588" cy="96012"/>
          </a:xfrm>
          <a:prstGeom prst="rect">
            <a:avLst/>
          </a:prstGeom>
          <a:solidFill>
            <a:srgbClr val="E6D7A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D_forecast_cell_3_1"/>
          <p:cNvSpPr/>
          <p:nvPr/>
        </p:nvSpPr>
        <p:spPr>
          <a:xfrm>
            <a:off x="5724144" y="1929384"/>
            <a:ext cx="132588" cy="96012"/>
          </a:xfrm>
          <a:prstGeom prst="rect">
            <a:avLst/>
          </a:prstGeom>
          <a:solidFill>
            <a:srgbClr val="D8E8C9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D_forecast_cell_3_2"/>
          <p:cNvSpPr/>
          <p:nvPr/>
        </p:nvSpPr>
        <p:spPr>
          <a:xfrm>
            <a:off x="5724144" y="2029968"/>
            <a:ext cx="132588" cy="96012"/>
          </a:xfrm>
          <a:prstGeom prst="rect">
            <a:avLst/>
          </a:prstGeom>
          <a:solidFill>
            <a:srgbClr val="B9D4B5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D_forecast_label"/>
          <p:cNvSpPr txBox="1"/>
          <p:nvPr/>
        </p:nvSpPr>
        <p:spPr>
          <a:xfrm>
            <a:off x="5193792" y="2112264"/>
            <a:ext cx="932688" cy="164592"/>
          </a:xfrm>
          <a:prstGeom prst="rect">
            <a:avLst/>
          </a:prstGeom>
          <a:noFill/>
        </p:spPr>
        <p:txBody>
          <a:bodyPr wrap="square" lIns="13716" rIns="13716" tIns="7315" bIns="7315" anchor="ctr">
            <a:spAutoFit/>
          </a:bodyPr>
          <a:lstStyle/>
          <a:p>
            <a:pPr algn="ctr"/>
            <a:r>
              <a:rPr sz="900" b="1">
                <a:solidFill>
                  <a:srgbClr val="C96A16"/>
                </a:solidFill>
                <a:latin typeface="Arial"/>
              </a:rPr>
              <a:t>forecast  ŷₜ₊ₕ</a:t>
            </a:r>
          </a:p>
        </p:txBody>
      </p:sp>
      <p:cxnSp>
        <p:nvCxnSpPr>
          <p:cNvPr id="132" name="D_plus_to_forecast"/>
          <p:cNvCxnSpPr/>
          <p:nvPr/>
        </p:nvCxnSpPr>
        <p:spPr>
          <a:xfrm flipH="1">
            <a:off x="5779008" y="1042415"/>
            <a:ext cx="292608" cy="676657"/>
          </a:xfrm>
          <a:prstGeom prst="line">
            <a:avLst/>
          </a:prstGeom>
          <a:ln w="12700">
            <a:solidFill>
              <a:srgbClr val="C96A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D_bh_path_1"/>
          <p:cNvCxnSpPr/>
          <p:nvPr/>
        </p:nvCxnSpPr>
        <p:spPr>
          <a:xfrm>
            <a:off x="2587752" y="2176272"/>
            <a:ext cx="182880" cy="0"/>
          </a:xfrm>
          <a:prstGeom prst="line">
            <a:avLst/>
          </a:prstGeom>
          <a:ln w="1206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D_bh_path_2"/>
          <p:cNvCxnSpPr/>
          <p:nvPr/>
        </p:nvCxnSpPr>
        <p:spPr>
          <a:xfrm>
            <a:off x="2770632" y="2176272"/>
            <a:ext cx="0" cy="420624"/>
          </a:xfrm>
          <a:prstGeom prst="line">
            <a:avLst/>
          </a:prstGeom>
          <a:ln w="1206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D_bh_path_3"/>
          <p:cNvCxnSpPr/>
          <p:nvPr/>
        </p:nvCxnSpPr>
        <p:spPr>
          <a:xfrm>
            <a:off x="2770632" y="2596896"/>
            <a:ext cx="3483864" cy="0"/>
          </a:xfrm>
          <a:prstGeom prst="line">
            <a:avLst/>
          </a:prstGeom>
          <a:ln w="1206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D_bh_path_4"/>
          <p:cNvCxnSpPr/>
          <p:nvPr/>
        </p:nvCxnSpPr>
        <p:spPr>
          <a:xfrm flipV="1">
            <a:off x="6254496" y="1042415"/>
            <a:ext cx="0" cy="1554481"/>
          </a:xfrm>
          <a:prstGeom prst="line">
            <a:avLst/>
          </a:prstGeom>
          <a:ln w="12065">
            <a:solidFill>
              <a:srgbClr val="2F6F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D_Q2"/>
          <p:cNvSpPr/>
          <p:nvPr/>
        </p:nvSpPr>
        <p:spPr>
          <a:xfrm>
            <a:off x="5138928" y="1298448"/>
            <a:ext cx="987552" cy="3108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7315" bIns="7315"/>
          <a:lstStyle/>
          <a:p>
            <a:pPr algn="ctr"/>
            <a:r>
              <a:rPr sz="900" b="1">
                <a:solidFill>
                  <a:srgbClr val="202833"/>
                </a:solidFill>
                <a:latin typeface="Arial"/>
              </a:rPr>
              <a:t>Q2  remove rₕ</a:t>
            </a:r>
          </a:p>
        </p:txBody>
      </p:sp>
      <p:cxnSp>
        <p:nvCxnSpPr>
          <p:cNvPr id="138" name="D_Q2_pointer"/>
          <p:cNvCxnSpPr/>
          <p:nvPr/>
        </p:nvCxnSpPr>
        <p:spPr>
          <a:xfrm flipV="1">
            <a:off x="5632704" y="1188720"/>
            <a:ext cx="0" cy="109728"/>
          </a:xfrm>
          <a:prstGeom prst="line">
            <a:avLst/>
          </a:prstGeom>
          <a:ln w="9525">
            <a:solidFill>
              <a:srgbClr val="C96A16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