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4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4" r:id="rId4"/>
    <p:sldId id="265" r:id="rId5"/>
    <p:sldId id="258" r:id="rId6"/>
    <p:sldId id="263" r:id="rId7"/>
    <p:sldId id="259" r:id="rId8"/>
    <p:sldId id="257" r:id="rId9"/>
    <p:sldId id="260" r:id="rId10"/>
    <p:sldId id="262" r:id="rId11"/>
    <p:sldId id="26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DE8"/>
    <a:srgbClr val="672898"/>
    <a:srgbClr val="692991"/>
    <a:srgbClr val="E8E8E8"/>
    <a:srgbClr val="EE1010"/>
    <a:srgbClr val="FF0000"/>
    <a:srgbClr val="FDFDFD"/>
    <a:srgbClr val="F9F9F9"/>
    <a:srgbClr val="F7F7F7"/>
    <a:srgbClr val="846B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34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5A1BE-F872-4F33-8B00-E0240508240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F27F6-FC44-43F3-B7CA-6C18967F16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web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webp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image" Target="../media/image3.png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29.svg"/><Relationship Id="rId13" Type="http://schemas.openxmlformats.org/officeDocument/2006/relationships/image" Target="../media/image28.png"/><Relationship Id="rId12" Type="http://schemas.openxmlformats.org/officeDocument/2006/relationships/image" Target="../media/image27.svg"/><Relationship Id="rId11" Type="http://schemas.openxmlformats.org/officeDocument/2006/relationships/image" Target="../media/image26.png"/><Relationship Id="rId10" Type="http://schemas.openxmlformats.org/officeDocument/2006/relationships/image" Target="../media/image25.sv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9.sv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_panel"/>
          <p:cNvSpPr/>
          <p:nvPr/>
        </p:nvSpPr>
        <p:spPr>
          <a:xfrm>
            <a:off x="164592" y="164592"/>
            <a:ext cx="3127248" cy="276148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_header"/>
          <p:cNvSpPr/>
          <p:nvPr/>
        </p:nvSpPr>
        <p:spPr>
          <a:xfrm>
            <a:off x="164592" y="164592"/>
            <a:ext cx="3127248" cy="393192"/>
          </a:xfrm>
          <a:prstGeom prst="roundRect">
            <a:avLst/>
          </a:prstGeom>
          <a:solidFill>
            <a:srgbClr val="EAF3F8"/>
          </a:solidFill>
          <a:ln w="1270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(a) Endpoint prediction</a:t>
            </a:r>
          </a:p>
        </p:txBody>
      </p:sp>
      <p:sp>
        <p:nvSpPr>
          <p:cNvPr id="4" name="TB_panel"/>
          <p:cNvSpPr/>
          <p:nvPr/>
        </p:nvSpPr>
        <p:spPr>
          <a:xfrm>
            <a:off x="3383280" y="164592"/>
            <a:ext cx="5010912" cy="276148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B_header"/>
          <p:cNvSpPr/>
          <p:nvPr/>
        </p:nvSpPr>
        <p:spPr>
          <a:xfrm>
            <a:off x="3383280" y="164592"/>
            <a:ext cx="5010912" cy="393192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(b) TerraState world model</a:t>
            </a:r>
          </a:p>
        </p:txBody>
      </p:sp>
      <p:sp>
        <p:nvSpPr>
          <p:cNvPr id="6" name="TC_panel"/>
          <p:cNvSpPr/>
          <p:nvPr/>
        </p:nvSpPr>
        <p:spPr>
          <a:xfrm>
            <a:off x="8485632" y="164592"/>
            <a:ext cx="3630168" cy="2761488"/>
          </a:xfrm>
          <a:prstGeom prst="roundRect">
            <a:avLst/>
          </a:prstGeom>
          <a:solidFill>
            <a:srgbClr val="FCFDFE"/>
          </a:solidFill>
          <a:ln w="1143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C_header"/>
          <p:cNvSpPr/>
          <p:nvPr/>
        </p:nvSpPr>
        <p:spPr>
          <a:xfrm>
            <a:off x="8485632" y="164592"/>
            <a:ext cx="3630168" cy="393192"/>
          </a:xfrm>
          <a:prstGeom prst="roundRect">
            <a:avLst/>
          </a:prstGeom>
          <a:solidFill>
            <a:srgbClr val="FFF3E8"/>
          </a:solidFill>
          <a:ln w="1270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(c) Testable properties</a:t>
            </a:r>
          </a:p>
        </p:txBody>
      </p:sp>
      <p:sp>
        <p:nvSpPr>
          <p:cNvPr id="8" name="TA_hist"/>
          <p:cNvSpPr/>
          <p:nvPr/>
        </p:nvSpPr>
        <p:spPr>
          <a:xfrm>
            <a:off x="365760" y="841248"/>
            <a:ext cx="82296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_hist_frame_1"/>
          <p:cNvSpPr/>
          <p:nvPr/>
        </p:nvSpPr>
        <p:spPr>
          <a:xfrm>
            <a:off x="502920" y="950976"/>
            <a:ext cx="237744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_hist_frame_2"/>
          <p:cNvSpPr/>
          <p:nvPr/>
        </p:nvSpPr>
        <p:spPr>
          <a:xfrm>
            <a:off x="813816" y="969264"/>
            <a:ext cx="237744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A_hist_title"/>
          <p:cNvSpPr txBox="1"/>
          <p:nvPr/>
        </p:nvSpPr>
        <p:spPr>
          <a:xfrm>
            <a:off x="438912" y="1463040"/>
            <a:ext cx="676656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history</a:t>
            </a:r>
          </a:p>
        </p:txBody>
      </p:sp>
      <p:sp>
        <p:nvSpPr>
          <p:cNvPr id="12" name="TA_hist_hint"/>
          <p:cNvSpPr txBox="1"/>
          <p:nvPr/>
        </p:nvSpPr>
        <p:spPr>
          <a:xfrm>
            <a:off x="438912" y="1618488"/>
            <a:ext cx="676656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EO</a:t>
            </a:r>
          </a:p>
        </p:txBody>
      </p:sp>
      <p:sp>
        <p:nvSpPr>
          <p:cNvPr id="13" name="TA_F"/>
          <p:cNvSpPr/>
          <p:nvPr/>
        </p:nvSpPr>
        <p:spPr>
          <a:xfrm>
            <a:off x="1417320" y="950976"/>
            <a:ext cx="640080" cy="713232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Arial"/>
              </a:rPr>
              <a:t>Fₕ</a:t>
            </a:r>
          </a:p>
        </p:txBody>
      </p:sp>
      <p:sp>
        <p:nvSpPr>
          <p:cNvPr id="14" name="TA_out"/>
          <p:cNvSpPr/>
          <p:nvPr/>
        </p:nvSpPr>
        <p:spPr>
          <a:xfrm>
            <a:off x="2286000" y="841248"/>
            <a:ext cx="804672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_out_visual"/>
          <p:cNvSpPr/>
          <p:nvPr/>
        </p:nvSpPr>
        <p:spPr>
          <a:xfrm>
            <a:off x="2395728" y="950976"/>
            <a:ext cx="585216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_out_title"/>
          <p:cNvSpPr txBox="1"/>
          <p:nvPr/>
        </p:nvSpPr>
        <p:spPr>
          <a:xfrm>
            <a:off x="2359152" y="1463040"/>
            <a:ext cx="65836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future</a:t>
            </a:r>
          </a:p>
        </p:txBody>
      </p:sp>
      <p:sp>
        <p:nvSpPr>
          <p:cNvPr id="17" name="TA_out_hint"/>
          <p:cNvSpPr txBox="1"/>
          <p:nvPr/>
        </p:nvSpPr>
        <p:spPr>
          <a:xfrm>
            <a:off x="2359152" y="1618488"/>
            <a:ext cx="65836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EO</a:t>
            </a:r>
          </a:p>
        </p:txBody>
      </p:sp>
      <p:cxnSp>
        <p:nvCxnSpPr>
          <p:cNvPr id="18" name="TA_1"/>
          <p:cNvCxnSpPr/>
          <p:nvPr/>
        </p:nvCxnSpPr>
        <p:spPr>
          <a:xfrm>
            <a:off x="1188720" y="1325880"/>
            <a:ext cx="228600" cy="0"/>
          </a:xfrm>
          <a:prstGeom prst="line">
            <a:avLst/>
          </a:prstGeom>
          <a:ln w="1778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TA_2"/>
          <p:cNvCxnSpPr/>
          <p:nvPr/>
        </p:nvCxnSpPr>
        <p:spPr>
          <a:xfrm>
            <a:off x="2057400" y="1325880"/>
            <a:ext cx="228600" cy="0"/>
          </a:xfrm>
          <a:prstGeom prst="line">
            <a:avLst/>
          </a:prstGeom>
          <a:ln w="1778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A_note"/>
          <p:cNvSpPr/>
          <p:nvPr/>
        </p:nvSpPr>
        <p:spPr>
          <a:xfrm>
            <a:off x="493776" y="2057400"/>
            <a:ext cx="2468880" cy="457200"/>
          </a:xfrm>
          <a:prstGeom prst="roundRect">
            <a:avLst/>
          </a:prstGeom>
          <a:solidFill>
            <a:srgbClr val="FFF6F5"/>
          </a:solidFill>
          <a:ln w="12700">
            <a:solidFill>
              <a:srgbClr val="B54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B54745"/>
                </a:solidFill>
                <a:latin typeface="Arial"/>
              </a:rPr>
              <a:t>Endpoint score only</a:t>
            </a:r>
          </a:p>
        </p:txBody>
      </p:sp>
      <p:sp>
        <p:nvSpPr>
          <p:cNvPr id="21" name="TB_hist"/>
          <p:cNvSpPr/>
          <p:nvPr/>
        </p:nvSpPr>
        <p:spPr>
          <a:xfrm>
            <a:off x="3584448" y="1197864"/>
            <a:ext cx="694944" cy="786384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history</a:t>
            </a:r>
          </a:p>
        </p:txBody>
      </p:sp>
      <p:sp>
        <p:nvSpPr>
          <p:cNvPr id="22" name="TB_qP"/>
          <p:cNvSpPr/>
          <p:nvPr/>
        </p:nvSpPr>
        <p:spPr>
          <a:xfrm>
            <a:off x="4416552" y="1197864"/>
            <a:ext cx="694944" cy="786384"/>
          </a:xfrm>
          <a:prstGeom prst="roundRect">
            <a:avLst/>
          </a:prstGeom>
          <a:solidFill>
            <a:srgbClr val="EAF3F8"/>
          </a:solidFill>
          <a:ln w="1651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q→P</a:t>
            </a:r>
          </a:p>
        </p:txBody>
      </p:sp>
      <p:sp>
        <p:nvSpPr>
          <p:cNvPr id="23" name="TB_zt"/>
          <p:cNvSpPr/>
          <p:nvPr/>
        </p:nvSpPr>
        <p:spPr>
          <a:xfrm>
            <a:off x="5248656" y="1197864"/>
            <a:ext cx="658368" cy="78638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zₜ</a:t>
            </a:r>
          </a:p>
        </p:txBody>
      </p:sp>
      <p:sp>
        <p:nvSpPr>
          <p:cNvPr id="24" name="TB_T"/>
          <p:cNvSpPr/>
          <p:nvPr/>
        </p:nvSpPr>
        <p:spPr>
          <a:xfrm>
            <a:off x="6044184" y="1197864"/>
            <a:ext cx="749808" cy="786384"/>
          </a:xfrm>
          <a:prstGeom prst="roundRect">
            <a:avLst/>
          </a:prstGeom>
          <a:solidFill>
            <a:srgbClr val="F2EFF9"/>
          </a:solidFill>
          <a:ln w="1651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T</a:t>
            </a:r>
          </a:p>
        </p:txBody>
      </p:sp>
      <p:sp>
        <p:nvSpPr>
          <p:cNvPr id="25" name="TB_zf"/>
          <p:cNvSpPr/>
          <p:nvPr/>
        </p:nvSpPr>
        <p:spPr>
          <a:xfrm>
            <a:off x="6931152" y="1197864"/>
            <a:ext cx="658368" cy="78638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zₜ₊ₕ</a:t>
            </a:r>
          </a:p>
        </p:txBody>
      </p:sp>
      <p:sp>
        <p:nvSpPr>
          <p:cNvPr id="26" name="TB_O"/>
          <p:cNvSpPr/>
          <p:nvPr/>
        </p:nvSpPr>
        <p:spPr>
          <a:xfrm>
            <a:off x="7763256" y="1197864"/>
            <a:ext cx="402336" cy="786384"/>
          </a:xfrm>
          <a:prstGeom prst="roundRect">
            <a:avLst/>
          </a:prstGeom>
          <a:solidFill>
            <a:srgbClr val="EDF5EE"/>
          </a:solidFill>
          <a:ln w="16510">
            <a:solidFill>
              <a:srgbClr val="46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450" b="1">
                <a:solidFill>
                  <a:srgbClr val="1F2937"/>
                </a:solidFill>
                <a:latin typeface="Arial"/>
              </a:rPr>
              <a:t>O</a:t>
            </a:r>
          </a:p>
        </p:txBody>
      </p:sp>
      <p:cxnSp>
        <p:nvCxnSpPr>
          <p:cNvPr id="27" name="TB_flow_1"/>
          <p:cNvCxnSpPr/>
          <p:nvPr/>
        </p:nvCxnSpPr>
        <p:spPr>
          <a:xfrm>
            <a:off x="4279392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B_flow_2"/>
          <p:cNvCxnSpPr/>
          <p:nvPr/>
        </p:nvCxnSpPr>
        <p:spPr>
          <a:xfrm>
            <a:off x="5111496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B_flow_3"/>
          <p:cNvCxnSpPr/>
          <p:nvPr/>
        </p:nvCxnSpPr>
        <p:spPr>
          <a:xfrm>
            <a:off x="5907024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B_flow_4"/>
          <p:cNvCxnSpPr/>
          <p:nvPr/>
        </p:nvCxnSpPr>
        <p:spPr>
          <a:xfrm>
            <a:off x="6793992" y="1591056"/>
            <a:ext cx="137160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B_flow_5"/>
          <p:cNvCxnSpPr/>
          <p:nvPr/>
        </p:nvCxnSpPr>
        <p:spPr>
          <a:xfrm>
            <a:off x="7589520" y="1591056"/>
            <a:ext cx="173736" cy="0"/>
          </a:xfrm>
          <a:prstGeom prst="line">
            <a:avLst/>
          </a:prstGeom>
          <a:ln w="17145">
            <a:solidFill>
              <a:srgbClr val="238B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B_weather"/>
          <p:cNvSpPr/>
          <p:nvPr/>
        </p:nvSpPr>
        <p:spPr>
          <a:xfrm>
            <a:off x="5779008" y="502920"/>
            <a:ext cx="1261872" cy="566928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B_weather_T_label"/>
          <p:cNvSpPr txBox="1"/>
          <p:nvPr/>
        </p:nvSpPr>
        <p:spPr>
          <a:xfrm>
            <a:off x="5833872" y="566928"/>
            <a:ext cx="164592" cy="822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/>
              </a:rPr>
              <a:t>T</a:t>
            </a:r>
          </a:p>
        </p:txBody>
      </p:sp>
      <p:cxnSp>
        <p:nvCxnSpPr>
          <p:cNvPr id="34" name="TB_weather_T_segment_1"/>
          <p:cNvCxnSpPr/>
          <p:nvPr/>
        </p:nvCxnSpPr>
        <p:spPr>
          <a:xfrm flipV="1">
            <a:off x="6035040" y="594085"/>
            <a:ext cx="223479" cy="23866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B_weather_T_segment_2"/>
          <p:cNvCxnSpPr/>
          <p:nvPr/>
        </p:nvCxnSpPr>
        <p:spPr>
          <a:xfrm>
            <a:off x="6258519" y="594085"/>
            <a:ext cx="252374" cy="32096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B_weather_T_segment_3"/>
          <p:cNvCxnSpPr/>
          <p:nvPr/>
        </p:nvCxnSpPr>
        <p:spPr>
          <a:xfrm flipV="1">
            <a:off x="6510893" y="601492"/>
            <a:ext cx="438547" cy="24689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B_weather_P_label"/>
          <p:cNvSpPr txBox="1"/>
          <p:nvPr/>
        </p:nvSpPr>
        <p:spPr>
          <a:xfrm>
            <a:off x="5833872" y="649224"/>
            <a:ext cx="164592" cy="822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/>
              </a:rPr>
              <a:t>P</a:t>
            </a:r>
          </a:p>
        </p:txBody>
      </p:sp>
      <p:cxnSp>
        <p:nvCxnSpPr>
          <p:cNvPr id="38" name="TB_weather_P_segment_1"/>
          <p:cNvCxnSpPr/>
          <p:nvPr/>
        </p:nvCxnSpPr>
        <p:spPr>
          <a:xfrm>
            <a:off x="6035040" y="700247"/>
            <a:ext cx="223479" cy="8230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TB_weather_P_segment_2"/>
          <p:cNvCxnSpPr/>
          <p:nvPr/>
        </p:nvCxnSpPr>
        <p:spPr>
          <a:xfrm flipV="1">
            <a:off x="6258519" y="678850"/>
            <a:ext cx="252374" cy="29627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TB_weather_P_segment_3"/>
          <p:cNvCxnSpPr/>
          <p:nvPr/>
        </p:nvCxnSpPr>
        <p:spPr>
          <a:xfrm>
            <a:off x="6510893" y="678850"/>
            <a:ext cx="438547" cy="4938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B_weather_R_label"/>
          <p:cNvSpPr txBox="1"/>
          <p:nvPr/>
        </p:nvSpPr>
        <p:spPr>
          <a:xfrm>
            <a:off x="5833872" y="731520"/>
            <a:ext cx="164592" cy="822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/>
              </a:rPr>
              <a:t>R</a:t>
            </a:r>
          </a:p>
        </p:txBody>
      </p:sp>
      <p:cxnSp>
        <p:nvCxnSpPr>
          <p:cNvPr id="42" name="TB_weather_R_segment_1"/>
          <p:cNvCxnSpPr/>
          <p:nvPr/>
        </p:nvCxnSpPr>
        <p:spPr>
          <a:xfrm flipV="1">
            <a:off x="6035040" y="758677"/>
            <a:ext cx="223479" cy="23866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B_weather_R_segment_2"/>
          <p:cNvCxnSpPr/>
          <p:nvPr/>
        </p:nvCxnSpPr>
        <p:spPr>
          <a:xfrm>
            <a:off x="6258519" y="758677"/>
            <a:ext cx="252374" cy="246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TB_weather_R_segment_3"/>
          <p:cNvCxnSpPr/>
          <p:nvPr/>
        </p:nvCxnSpPr>
        <p:spPr>
          <a:xfrm>
            <a:off x="6510893" y="761146"/>
            <a:ext cx="438547" cy="2468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B_weather_label"/>
          <p:cNvSpPr txBox="1"/>
          <p:nvPr/>
        </p:nvSpPr>
        <p:spPr>
          <a:xfrm>
            <a:off x="5806440" y="841247"/>
            <a:ext cx="1207007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future weather u</a:t>
            </a:r>
          </a:p>
        </p:txBody>
      </p:sp>
      <p:cxnSp>
        <p:nvCxnSpPr>
          <p:cNvPr id="46" name="TB_weather_T"/>
          <p:cNvCxnSpPr/>
          <p:nvPr/>
        </p:nvCxnSpPr>
        <p:spPr>
          <a:xfrm>
            <a:off x="6409944" y="1069848"/>
            <a:ext cx="9144" cy="128016"/>
          </a:xfrm>
          <a:prstGeom prst="line">
            <a:avLst/>
          </a:prstGeom>
          <a:ln w="13970">
            <a:solidFill>
              <a:srgbClr val="7256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B_claim"/>
          <p:cNvSpPr/>
          <p:nvPr/>
        </p:nvSpPr>
        <p:spPr>
          <a:xfrm>
            <a:off x="3895344" y="2185416"/>
            <a:ext cx="3968496" cy="384048"/>
          </a:xfrm>
          <a:prstGeom prst="roundRect">
            <a:avLst/>
          </a:prstGeom>
          <a:solidFill>
            <a:srgbClr val="EAF6F3"/>
          </a:solidFill>
          <a:ln w="1270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250" b="1">
                <a:solidFill>
                  <a:srgbClr val="238B7B"/>
                </a:solidFill>
                <a:latin typeface="Arial"/>
              </a:rPr>
              <a:t>Explicit state path under exogenous forcing</a:t>
            </a:r>
          </a:p>
        </p:txBody>
      </p:sp>
      <p:sp>
        <p:nvSpPr>
          <p:cNvPr id="48" name="TC_card_0"/>
          <p:cNvSpPr/>
          <p:nvPr/>
        </p:nvSpPr>
        <p:spPr>
          <a:xfrm>
            <a:off x="8759952" y="786384"/>
            <a:ext cx="3081528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C_num_0"/>
          <p:cNvSpPr/>
          <p:nvPr/>
        </p:nvSpPr>
        <p:spPr>
          <a:xfrm>
            <a:off x="8906256" y="941832"/>
            <a:ext cx="402336" cy="402336"/>
          </a:xfrm>
          <a:prstGeom prst="roundRect">
            <a:avLst/>
          </a:prstGeom>
          <a:solidFill>
            <a:srgbClr val="238B7B"/>
          </a:solidFill>
          <a:ln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0" name="TC_text_0"/>
          <p:cNvSpPr txBox="1"/>
          <p:nvPr/>
        </p:nvSpPr>
        <p:spPr>
          <a:xfrm>
            <a:off x="9473184" y="877824"/>
            <a:ext cx="2084831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State carries
forecast information</a:t>
            </a:r>
          </a:p>
        </p:txBody>
      </p:sp>
      <p:sp>
        <p:nvSpPr>
          <p:cNvPr id="51" name="TC_card_1"/>
          <p:cNvSpPr/>
          <p:nvPr/>
        </p:nvSpPr>
        <p:spPr>
          <a:xfrm>
            <a:off x="8759952" y="1719072"/>
            <a:ext cx="3081528" cy="731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C_num_1"/>
          <p:cNvSpPr/>
          <p:nvPr/>
        </p:nvSpPr>
        <p:spPr>
          <a:xfrm>
            <a:off x="8906256" y="1874519"/>
            <a:ext cx="402336" cy="402336"/>
          </a:xfrm>
          <a:prstGeom prst="roundRect">
            <a:avLst/>
          </a:prstGeom>
          <a:solidFill>
            <a:srgbClr val="7256A8"/>
          </a:solidFill>
          <a:ln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TC_text_1"/>
          <p:cNvSpPr txBox="1"/>
          <p:nvPr/>
        </p:nvSpPr>
        <p:spPr>
          <a:xfrm>
            <a:off x="9473184" y="1810512"/>
            <a:ext cx="2084831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Arial"/>
              </a:rPr>
              <a:t>Weather changes
the predicted response</a:t>
            </a:r>
          </a:p>
        </p:txBody>
      </p:sp>
      <p:sp>
        <p:nvSpPr>
          <p:cNvPr id="54" name="TE_title"/>
          <p:cNvSpPr txBox="1"/>
          <p:nvPr/>
        </p:nvSpPr>
        <p:spPr>
          <a:xfrm>
            <a:off x="274320" y="3136392"/>
            <a:ext cx="1163116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Arial"/>
              </a:rPr>
              <a:t>One selected model, three increasingly specific questions</a:t>
            </a:r>
          </a:p>
        </p:txBody>
      </p:sp>
      <p:sp>
        <p:nvSpPr>
          <p:cNvPr id="55" name="TE_Q1"/>
          <p:cNvSpPr/>
          <p:nvPr/>
        </p:nvSpPr>
        <p:spPr>
          <a:xfrm>
            <a:off x="219456" y="3584448"/>
            <a:ext cx="3776472" cy="2907792"/>
          </a:xfrm>
          <a:prstGeom prst="roundRect">
            <a:avLst/>
          </a:prstGeom>
          <a:solidFill>
            <a:srgbClr val="EAF3F8"/>
          </a:solidFill>
          <a:ln w="15240"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_Q1_badge"/>
          <p:cNvSpPr/>
          <p:nvPr/>
        </p:nvSpPr>
        <p:spPr>
          <a:xfrm>
            <a:off x="384048" y="3749039"/>
            <a:ext cx="493776" cy="493776"/>
          </a:xfrm>
          <a:prstGeom prst="roundRect">
            <a:avLst/>
          </a:prstGeom>
          <a:solidFill>
            <a:srgbClr val="2F6F9F"/>
          </a:solidFill>
          <a:ln>
            <a:solidFill>
              <a:srgbClr val="2F6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57" name="TE_Q1_title"/>
          <p:cNvSpPr txBox="1"/>
          <p:nvPr/>
        </p:nvSpPr>
        <p:spPr>
          <a:xfrm>
            <a:off x="1005840" y="3694176"/>
            <a:ext cx="272491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Arial"/>
              </a:rPr>
              <a:t>Forecast utility</a:t>
            </a:r>
          </a:p>
        </p:txBody>
      </p:sp>
      <p:sp>
        <p:nvSpPr>
          <p:cNvPr id="58" name="TE_Q1_question"/>
          <p:cNvSpPr txBox="1"/>
          <p:nvPr/>
        </p:nvSpPr>
        <p:spPr>
          <a:xfrm>
            <a:off x="475488" y="4334256"/>
            <a:ext cx="3264408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/>
              </a:rPr>
              <a:t>Does the complete model retain useful EO forecasting skill?</a:t>
            </a:r>
          </a:p>
        </p:txBody>
      </p:sp>
      <p:sp>
        <p:nvSpPr>
          <p:cNvPr id="59" name="TE_Q1_pred"/>
          <p:cNvSpPr/>
          <p:nvPr/>
        </p:nvSpPr>
        <p:spPr>
          <a:xfrm>
            <a:off x="694944" y="5157216"/>
            <a:ext cx="941832" cy="89611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F6F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_Q1_pred_visual"/>
          <p:cNvSpPr/>
          <p:nvPr/>
        </p:nvSpPr>
        <p:spPr>
          <a:xfrm>
            <a:off x="804672" y="5266944"/>
            <a:ext cx="722376" cy="40233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_Q1_pred_title"/>
          <p:cNvSpPr txBox="1"/>
          <p:nvPr/>
        </p:nvSpPr>
        <p:spPr>
          <a:xfrm>
            <a:off x="768096" y="5714999"/>
            <a:ext cx="79552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forecast</a:t>
            </a:r>
          </a:p>
        </p:txBody>
      </p:sp>
      <p:sp>
        <p:nvSpPr>
          <p:cNvPr id="62" name="TE_Q1_pred_hint"/>
          <p:cNvSpPr txBox="1"/>
          <p:nvPr/>
        </p:nvSpPr>
        <p:spPr>
          <a:xfrm>
            <a:off x="768096" y="5870447"/>
            <a:ext cx="79552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NDVI</a:t>
            </a:r>
          </a:p>
        </p:txBody>
      </p:sp>
      <p:sp>
        <p:nvSpPr>
          <p:cNvPr id="63" name="TE_Q1_target"/>
          <p:cNvSpPr/>
          <p:nvPr/>
        </p:nvSpPr>
        <p:spPr>
          <a:xfrm>
            <a:off x="2459736" y="5157216"/>
            <a:ext cx="941832" cy="89611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238B7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_Q1_target_visual"/>
          <p:cNvSpPr/>
          <p:nvPr/>
        </p:nvSpPr>
        <p:spPr>
          <a:xfrm>
            <a:off x="2569464" y="5266944"/>
            <a:ext cx="722376" cy="402335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_Q1_target_title"/>
          <p:cNvSpPr txBox="1"/>
          <p:nvPr/>
        </p:nvSpPr>
        <p:spPr>
          <a:xfrm>
            <a:off x="2532888" y="5714999"/>
            <a:ext cx="795528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1F2937"/>
                </a:solidFill>
                <a:latin typeface="Arial"/>
              </a:rPr>
              <a:t>target</a:t>
            </a:r>
          </a:p>
        </p:txBody>
      </p:sp>
      <p:sp>
        <p:nvSpPr>
          <p:cNvPr id="66" name="TE_Q1_target_hint"/>
          <p:cNvSpPr txBox="1"/>
          <p:nvPr/>
        </p:nvSpPr>
        <p:spPr>
          <a:xfrm>
            <a:off x="2532888" y="5870447"/>
            <a:ext cx="795528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00" b="0">
                <a:solidFill>
                  <a:srgbClr val="667085"/>
                </a:solidFill>
                <a:latin typeface="Arial"/>
              </a:rPr>
              <a:t>NDVI</a:t>
            </a:r>
          </a:p>
        </p:txBody>
      </p:sp>
      <p:cxnSp>
        <p:nvCxnSpPr>
          <p:cNvPr id="67" name="TE_Q1_compare"/>
          <p:cNvCxnSpPr/>
          <p:nvPr/>
        </p:nvCxnSpPr>
        <p:spPr>
          <a:xfrm>
            <a:off x="1636776" y="5605272"/>
            <a:ext cx="822960" cy="0"/>
          </a:xfrm>
          <a:prstGeom prst="line">
            <a:avLst/>
          </a:prstGeom>
          <a:ln w="15240">
            <a:solidFill>
              <a:srgbClr val="2F6F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_Q2"/>
          <p:cNvSpPr/>
          <p:nvPr/>
        </p:nvSpPr>
        <p:spPr>
          <a:xfrm>
            <a:off x="4142232" y="3584448"/>
            <a:ext cx="3776472" cy="2907792"/>
          </a:xfrm>
          <a:prstGeom prst="roundRect">
            <a:avLst/>
          </a:prstGeom>
          <a:solidFill>
            <a:srgbClr val="FFF3E8"/>
          </a:solidFill>
          <a:ln w="1524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_Q2_badge"/>
          <p:cNvSpPr/>
          <p:nvPr/>
        </p:nvSpPr>
        <p:spPr>
          <a:xfrm>
            <a:off x="4306824" y="3749039"/>
            <a:ext cx="493776" cy="493776"/>
          </a:xfrm>
          <a:prstGeom prst="roundRect">
            <a:avLst/>
          </a:prstGeom>
          <a:solidFill>
            <a:srgbClr val="C96A16"/>
          </a:solidFill>
          <a:ln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0" name="TE_Q2_title"/>
          <p:cNvSpPr txBox="1"/>
          <p:nvPr/>
        </p:nvSpPr>
        <p:spPr>
          <a:xfrm>
            <a:off x="4928616" y="3694176"/>
            <a:ext cx="272491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Arial"/>
              </a:rPr>
              <a:t>Load-bearing state</a:t>
            </a:r>
          </a:p>
        </p:txBody>
      </p:sp>
      <p:sp>
        <p:nvSpPr>
          <p:cNvPr id="71" name="TE_Q2_question"/>
          <p:cNvSpPr txBox="1"/>
          <p:nvPr/>
        </p:nvSpPr>
        <p:spPr>
          <a:xfrm>
            <a:off x="4398264" y="4334256"/>
            <a:ext cx="3264408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/>
              </a:rPr>
              <a:t>Does removing the state contribution degrade the forecast?</a:t>
            </a:r>
          </a:p>
        </p:txBody>
      </p:sp>
      <p:sp>
        <p:nvSpPr>
          <p:cNvPr id="72" name="TE_Q2_full"/>
          <p:cNvSpPr/>
          <p:nvPr/>
        </p:nvSpPr>
        <p:spPr>
          <a:xfrm>
            <a:off x="4562856" y="5184648"/>
            <a:ext cx="1097280" cy="786384"/>
          </a:xfrm>
          <a:prstGeom prst="roundRect">
            <a:avLst/>
          </a:prstGeom>
          <a:solidFill>
            <a:srgbClr val="EAF6F3"/>
          </a:solidFill>
          <a:ln w="16510">
            <a:solidFill>
              <a:srgbClr val="238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full
state path</a:t>
            </a:r>
          </a:p>
        </p:txBody>
      </p:sp>
      <p:sp>
        <p:nvSpPr>
          <p:cNvPr id="73" name="TE_Q2_cut"/>
          <p:cNvSpPr/>
          <p:nvPr/>
        </p:nvSpPr>
        <p:spPr>
          <a:xfrm>
            <a:off x="6428232" y="5184648"/>
            <a:ext cx="1097280" cy="786384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Arial"/>
              </a:rPr>
              <a:t>state
removed</a:t>
            </a:r>
          </a:p>
        </p:txBody>
      </p:sp>
      <p:sp>
        <p:nvSpPr>
          <p:cNvPr id="74" name="TE_Q2_delta"/>
          <p:cNvSpPr txBox="1"/>
          <p:nvPr/>
        </p:nvSpPr>
        <p:spPr>
          <a:xfrm>
            <a:off x="5724144" y="5340096"/>
            <a:ext cx="6400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800" b="1">
                <a:solidFill>
                  <a:srgbClr val="C96A16"/>
                </a:solidFill>
                <a:latin typeface="Arial"/>
              </a:rPr>
              <a:t>Δ</a:t>
            </a:r>
          </a:p>
        </p:txBody>
      </p:sp>
      <p:sp>
        <p:nvSpPr>
          <p:cNvPr id="75" name="TE_Q3"/>
          <p:cNvSpPr/>
          <p:nvPr/>
        </p:nvSpPr>
        <p:spPr>
          <a:xfrm>
            <a:off x="8065008" y="3584448"/>
            <a:ext cx="3776472" cy="2907792"/>
          </a:xfrm>
          <a:prstGeom prst="roundRect">
            <a:avLst/>
          </a:prstGeom>
          <a:solidFill>
            <a:srgbClr val="F2EFF9"/>
          </a:solidFill>
          <a:ln w="15240"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_Q3_badge"/>
          <p:cNvSpPr/>
          <p:nvPr/>
        </p:nvSpPr>
        <p:spPr>
          <a:xfrm>
            <a:off x="8229600" y="3749039"/>
            <a:ext cx="493776" cy="493776"/>
          </a:xfrm>
          <a:prstGeom prst="roundRect">
            <a:avLst/>
          </a:prstGeom>
          <a:solidFill>
            <a:srgbClr val="7256A8"/>
          </a:solidFill>
          <a:ln>
            <a:solidFill>
              <a:srgbClr val="725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7" name="TE_Q3_title"/>
          <p:cNvSpPr txBox="1"/>
          <p:nvPr/>
        </p:nvSpPr>
        <p:spPr>
          <a:xfrm>
            <a:off x="8851392" y="3694176"/>
            <a:ext cx="272491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l"/>
            <a:r>
              <a:rPr sz="1350" b="1">
                <a:solidFill>
                  <a:srgbClr val="1F2937"/>
                </a:solidFill>
                <a:latin typeface="Arial"/>
              </a:rPr>
              <a:t>Weather-response fidelity</a:t>
            </a:r>
          </a:p>
        </p:txBody>
      </p:sp>
      <p:sp>
        <p:nvSpPr>
          <p:cNvPr id="78" name="TE_Q3_question"/>
          <p:cNvSpPr txBox="1"/>
          <p:nvPr/>
        </p:nvSpPr>
        <p:spPr>
          <a:xfrm>
            <a:off x="8321040" y="4334256"/>
            <a:ext cx="3264408" cy="58521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0">
                <a:solidFill>
                  <a:srgbClr val="667085"/>
                </a:solidFill>
                <a:latin typeface="Arial"/>
              </a:rPr>
              <a:t>Does replacing future weather alter the response correctly?</a:t>
            </a:r>
          </a:p>
        </p:txBody>
      </p:sp>
      <p:sp>
        <p:nvSpPr>
          <p:cNvPr id="79" name="TE_Q3_real"/>
          <p:cNvSpPr/>
          <p:nvPr/>
        </p:nvSpPr>
        <p:spPr>
          <a:xfrm>
            <a:off x="8375904" y="5093208"/>
            <a:ext cx="1298448" cy="82296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_Q3_real_T_label"/>
          <p:cNvSpPr txBox="1"/>
          <p:nvPr/>
        </p:nvSpPr>
        <p:spPr>
          <a:xfrm>
            <a:off x="8430768" y="5157216"/>
            <a:ext cx="164592" cy="167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/>
              </a:rPr>
              <a:t>T</a:t>
            </a:r>
          </a:p>
        </p:txBody>
      </p:sp>
      <p:cxnSp>
        <p:nvCxnSpPr>
          <p:cNvPr id="81" name="TE_Q3_real_T_segment_1"/>
          <p:cNvCxnSpPr/>
          <p:nvPr/>
        </p:nvCxnSpPr>
        <p:spPr>
          <a:xfrm flipV="1">
            <a:off x="8631936" y="5212537"/>
            <a:ext cx="237378" cy="48615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TE_Q3_real_T_segment_2"/>
          <p:cNvCxnSpPr/>
          <p:nvPr/>
        </p:nvCxnSpPr>
        <p:spPr>
          <a:xfrm>
            <a:off x="8869314" y="5212537"/>
            <a:ext cx="259689" cy="65379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TE_Q3_real_T_segment_3"/>
          <p:cNvCxnSpPr/>
          <p:nvPr/>
        </p:nvCxnSpPr>
        <p:spPr>
          <a:xfrm flipV="1">
            <a:off x="9129003" y="5227624"/>
            <a:ext cx="453909" cy="5029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_Q3_real_P_label"/>
          <p:cNvSpPr txBox="1"/>
          <p:nvPr/>
        </p:nvSpPr>
        <p:spPr>
          <a:xfrm>
            <a:off x="8430768" y="5324856"/>
            <a:ext cx="164592" cy="167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/>
              </a:rPr>
              <a:t>P</a:t>
            </a:r>
          </a:p>
        </p:txBody>
      </p:sp>
      <p:cxnSp>
        <p:nvCxnSpPr>
          <p:cNvPr id="85" name="TE_Q3_real_P_segment_1"/>
          <p:cNvCxnSpPr/>
          <p:nvPr/>
        </p:nvCxnSpPr>
        <p:spPr>
          <a:xfrm>
            <a:off x="8631936" y="5428792"/>
            <a:ext cx="237378" cy="16764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TE_Q3_real_P_segment_2"/>
          <p:cNvCxnSpPr/>
          <p:nvPr/>
        </p:nvCxnSpPr>
        <p:spPr>
          <a:xfrm flipV="1">
            <a:off x="8869314" y="5385206"/>
            <a:ext cx="259689" cy="60350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TE_Q3_real_P_segment_3"/>
          <p:cNvCxnSpPr/>
          <p:nvPr/>
        </p:nvCxnSpPr>
        <p:spPr>
          <a:xfrm>
            <a:off x="9129003" y="5385206"/>
            <a:ext cx="453909" cy="10058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_Q3_real_R_label"/>
          <p:cNvSpPr txBox="1"/>
          <p:nvPr/>
        </p:nvSpPr>
        <p:spPr>
          <a:xfrm>
            <a:off x="8430768" y="5492496"/>
            <a:ext cx="164592" cy="167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/>
              </a:rPr>
              <a:t>R</a:t>
            </a:r>
          </a:p>
        </p:txBody>
      </p:sp>
      <p:cxnSp>
        <p:nvCxnSpPr>
          <p:cNvPr id="89" name="TE_Q3_real_R_segment_1"/>
          <p:cNvCxnSpPr/>
          <p:nvPr/>
        </p:nvCxnSpPr>
        <p:spPr>
          <a:xfrm flipV="1">
            <a:off x="8631936" y="5547817"/>
            <a:ext cx="237378" cy="48615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TE_Q3_real_R_segment_2"/>
          <p:cNvCxnSpPr/>
          <p:nvPr/>
        </p:nvCxnSpPr>
        <p:spPr>
          <a:xfrm>
            <a:off x="8869314" y="5547817"/>
            <a:ext cx="259689" cy="502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TE_Q3_real_R_segment_3"/>
          <p:cNvCxnSpPr/>
          <p:nvPr/>
        </p:nvCxnSpPr>
        <p:spPr>
          <a:xfrm>
            <a:off x="9129003" y="5552846"/>
            <a:ext cx="453909" cy="50292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_Q3_real_label"/>
          <p:cNvSpPr txBox="1"/>
          <p:nvPr/>
        </p:nvSpPr>
        <p:spPr>
          <a:xfrm>
            <a:off x="8403336" y="5687568"/>
            <a:ext cx="124358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actual u</a:t>
            </a:r>
          </a:p>
        </p:txBody>
      </p:sp>
      <p:sp>
        <p:nvSpPr>
          <p:cNvPr id="93" name="TE_Q3_donor"/>
          <p:cNvSpPr/>
          <p:nvPr/>
        </p:nvSpPr>
        <p:spPr>
          <a:xfrm>
            <a:off x="10213848" y="5093208"/>
            <a:ext cx="1298448" cy="822960"/>
          </a:xfrm>
          <a:prstGeom prst="roundRect">
            <a:avLst/>
          </a:prstGeom>
          <a:solidFill>
            <a:srgbClr val="FFF3E8"/>
          </a:solidFill>
          <a:ln w="13970">
            <a:solidFill>
              <a:srgbClr val="C96A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_Q3_donor_T_label"/>
          <p:cNvSpPr txBox="1"/>
          <p:nvPr/>
        </p:nvSpPr>
        <p:spPr>
          <a:xfrm>
            <a:off x="10268712" y="5157216"/>
            <a:ext cx="164592" cy="167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C96A16"/>
                </a:solidFill>
                <a:latin typeface="Arial"/>
              </a:rPr>
              <a:t>T</a:t>
            </a:r>
          </a:p>
        </p:txBody>
      </p:sp>
      <p:cxnSp>
        <p:nvCxnSpPr>
          <p:cNvPr id="95" name="TE_Q3_donor_T_segment_1"/>
          <p:cNvCxnSpPr/>
          <p:nvPr/>
        </p:nvCxnSpPr>
        <p:spPr>
          <a:xfrm flipV="1">
            <a:off x="10469880" y="5212537"/>
            <a:ext cx="237378" cy="48615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TE_Q3_donor_T_segment_2"/>
          <p:cNvCxnSpPr/>
          <p:nvPr/>
        </p:nvCxnSpPr>
        <p:spPr>
          <a:xfrm>
            <a:off x="10707258" y="5212537"/>
            <a:ext cx="259689" cy="65379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TE_Q3_donor_T_segment_3"/>
          <p:cNvCxnSpPr/>
          <p:nvPr/>
        </p:nvCxnSpPr>
        <p:spPr>
          <a:xfrm flipV="1">
            <a:off x="10966947" y="5227624"/>
            <a:ext cx="453909" cy="50292"/>
          </a:xfrm>
          <a:prstGeom prst="line">
            <a:avLst/>
          </a:prstGeom>
          <a:ln w="10160">
            <a:solidFill>
              <a:srgbClr val="C96A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_Q3_donor_P_label"/>
          <p:cNvSpPr txBox="1"/>
          <p:nvPr/>
        </p:nvSpPr>
        <p:spPr>
          <a:xfrm>
            <a:off x="10268712" y="5324856"/>
            <a:ext cx="164592" cy="167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2F6F9F"/>
                </a:solidFill>
                <a:latin typeface="Arial"/>
              </a:rPr>
              <a:t>P</a:t>
            </a:r>
          </a:p>
        </p:txBody>
      </p:sp>
      <p:cxnSp>
        <p:nvCxnSpPr>
          <p:cNvPr id="99" name="TE_Q3_donor_P_segment_1"/>
          <p:cNvCxnSpPr/>
          <p:nvPr/>
        </p:nvCxnSpPr>
        <p:spPr>
          <a:xfrm>
            <a:off x="10469880" y="5428792"/>
            <a:ext cx="237378" cy="16764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TE_Q3_donor_P_segment_2"/>
          <p:cNvCxnSpPr/>
          <p:nvPr/>
        </p:nvCxnSpPr>
        <p:spPr>
          <a:xfrm flipV="1">
            <a:off x="10707258" y="5385206"/>
            <a:ext cx="259689" cy="60350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TE_Q3_donor_P_segment_3"/>
          <p:cNvCxnSpPr/>
          <p:nvPr/>
        </p:nvCxnSpPr>
        <p:spPr>
          <a:xfrm>
            <a:off x="10966947" y="5385206"/>
            <a:ext cx="453909" cy="10058"/>
          </a:xfrm>
          <a:prstGeom prst="line">
            <a:avLst/>
          </a:prstGeom>
          <a:ln w="10160">
            <a:solidFill>
              <a:srgbClr val="2F6F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_Q3_donor_R_label"/>
          <p:cNvSpPr txBox="1"/>
          <p:nvPr/>
        </p:nvSpPr>
        <p:spPr>
          <a:xfrm>
            <a:off x="10268712" y="5492496"/>
            <a:ext cx="164592" cy="167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050" b="1">
                <a:solidFill>
                  <a:srgbClr val="7256A8"/>
                </a:solidFill>
                <a:latin typeface="Arial"/>
              </a:rPr>
              <a:t>R</a:t>
            </a:r>
          </a:p>
        </p:txBody>
      </p:sp>
      <p:cxnSp>
        <p:nvCxnSpPr>
          <p:cNvPr id="103" name="TE_Q3_donor_R_segment_1"/>
          <p:cNvCxnSpPr/>
          <p:nvPr/>
        </p:nvCxnSpPr>
        <p:spPr>
          <a:xfrm flipV="1">
            <a:off x="10469880" y="5547817"/>
            <a:ext cx="237378" cy="48615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TE_Q3_donor_R_segment_2"/>
          <p:cNvCxnSpPr/>
          <p:nvPr/>
        </p:nvCxnSpPr>
        <p:spPr>
          <a:xfrm>
            <a:off x="10707258" y="5547817"/>
            <a:ext cx="259689" cy="5029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TE_Q3_donor_R_segment_3"/>
          <p:cNvCxnSpPr/>
          <p:nvPr/>
        </p:nvCxnSpPr>
        <p:spPr>
          <a:xfrm>
            <a:off x="10966947" y="5552846"/>
            <a:ext cx="453909" cy="50292"/>
          </a:xfrm>
          <a:prstGeom prst="line">
            <a:avLst/>
          </a:prstGeom>
          <a:ln w="10160">
            <a:solidFill>
              <a:srgbClr val="7256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_Q3_donor_label"/>
          <p:cNvSpPr txBox="1"/>
          <p:nvPr/>
        </p:nvSpPr>
        <p:spPr>
          <a:xfrm>
            <a:off x="10241280" y="5687568"/>
            <a:ext cx="1243584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150" b="1">
                <a:solidFill>
                  <a:srgbClr val="1F2937"/>
                </a:solidFill>
                <a:latin typeface="Arial"/>
              </a:rPr>
              <a:t>replaced u′</a:t>
            </a:r>
          </a:p>
        </p:txBody>
      </p:sp>
      <p:sp>
        <p:nvSpPr>
          <p:cNvPr id="107" name="TE_Q3_delta"/>
          <p:cNvSpPr txBox="1"/>
          <p:nvPr/>
        </p:nvSpPr>
        <p:spPr>
          <a:xfrm>
            <a:off x="9674352" y="5321808"/>
            <a:ext cx="54864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/>
            <a:r>
              <a:rPr sz="1250" b="1">
                <a:solidFill>
                  <a:srgbClr val="7256A8"/>
                </a:solidFill>
                <a:latin typeface="Arial"/>
              </a:rPr>
              <a:t>→ Δŷ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矩形: 圆角 199"/>
          <p:cNvSpPr/>
          <p:nvPr/>
        </p:nvSpPr>
        <p:spPr>
          <a:xfrm>
            <a:off x="3444240" y="688340"/>
            <a:ext cx="4427220" cy="2732405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矩形: 圆角 88"/>
          <p:cNvSpPr/>
          <p:nvPr/>
        </p:nvSpPr>
        <p:spPr>
          <a:xfrm>
            <a:off x="5113655" y="742950"/>
            <a:ext cx="2547620" cy="2477135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立方体 282"/>
          <p:cNvSpPr/>
          <p:nvPr/>
        </p:nvSpPr>
        <p:spPr>
          <a:xfrm flipH="1">
            <a:off x="3600450" y="1138722"/>
            <a:ext cx="349885" cy="334010"/>
          </a:xfrm>
          <a:prstGeom prst="cube">
            <a:avLst>
              <a:gd name="adj" fmla="val 1214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9" name="立方体 278"/>
          <p:cNvSpPr/>
          <p:nvPr/>
        </p:nvSpPr>
        <p:spPr>
          <a:xfrm flipH="1">
            <a:off x="3761105" y="1055219"/>
            <a:ext cx="541655" cy="501015"/>
          </a:xfrm>
          <a:prstGeom prst="cube">
            <a:avLst>
              <a:gd name="adj" fmla="val 1214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1" name="矩形: 圆角 90"/>
          <p:cNvSpPr/>
          <p:nvPr/>
        </p:nvSpPr>
        <p:spPr>
          <a:xfrm>
            <a:off x="351155" y="688340"/>
            <a:ext cx="2857500" cy="3806190"/>
          </a:xfrm>
          <a:prstGeom prst="roundRect">
            <a:avLst>
              <a:gd name="adj" fmla="val 10356"/>
            </a:avLst>
          </a:prstGeom>
          <a:noFill/>
          <a:ln>
            <a:solidFill>
              <a:schemeClr val="tx1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FDF0E7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2" name="组合 211"/>
          <p:cNvGrpSpPr/>
          <p:nvPr/>
        </p:nvGrpSpPr>
        <p:grpSpPr>
          <a:xfrm>
            <a:off x="3777925" y="2222896"/>
            <a:ext cx="790462" cy="717196"/>
            <a:chOff x="745382" y="1937274"/>
            <a:chExt cx="790462" cy="717196"/>
          </a:xfrm>
        </p:grpSpPr>
        <p:sp>
          <p:nvSpPr>
            <p:cNvPr id="109" name="立方体 108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立方体 127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立方体 128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立方体 129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立方体 130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立方体 131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立方体 132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立方体 133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立方体 134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立方体 135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立方体 137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立方体 138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立方体 139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立方体 140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立方体 141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立方体 142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立方体 143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立方体 144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立方体 146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0" name="直接连接符 109"/>
          <p:cNvCxnSpPr/>
          <p:nvPr/>
        </p:nvCxnSpPr>
        <p:spPr>
          <a:xfrm>
            <a:off x="6386242" y="1307160"/>
            <a:ext cx="186055" cy="635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  <a:headEnd type="none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箭头: 右弧形 113"/>
          <p:cNvSpPr/>
          <p:nvPr/>
        </p:nvSpPr>
        <p:spPr>
          <a:xfrm rot="20996806" flipH="1">
            <a:off x="3559175" y="1674495"/>
            <a:ext cx="150495" cy="740410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3692735" y="1921730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252" name="组合 251"/>
          <p:cNvGrpSpPr/>
          <p:nvPr/>
        </p:nvGrpSpPr>
        <p:grpSpPr>
          <a:xfrm>
            <a:off x="543560" y="809625"/>
            <a:ext cx="2204720" cy="529590"/>
            <a:chOff x="856" y="1275"/>
            <a:chExt cx="6265" cy="1528"/>
          </a:xfrm>
        </p:grpSpPr>
        <p:pic>
          <p:nvPicPr>
            <p:cNvPr id="152" name="图片 151"/>
            <p:cNvPicPr>
              <a:picLocks noChangeAspect="1"/>
            </p:cNvPicPr>
            <p:nvPr/>
          </p:nvPicPr>
          <p:blipFill>
            <a:blip r:embed="rId1"/>
            <a:srcRect l="33750" t="3554" r="33958" b="2757"/>
            <a:stretch>
              <a:fillRect/>
            </a:stretch>
          </p:blipFill>
          <p:spPr>
            <a:xfrm>
              <a:off x="2471" y="1275"/>
              <a:ext cx="1550" cy="1529"/>
            </a:xfrm>
            <a:prstGeom prst="rect">
              <a:avLst/>
            </a:prstGeom>
          </p:spPr>
        </p:pic>
        <p:pic>
          <p:nvPicPr>
            <p:cNvPr id="155" name="图片 154"/>
            <p:cNvPicPr>
              <a:picLocks noChangeAspect="1"/>
            </p:cNvPicPr>
            <p:nvPr/>
          </p:nvPicPr>
          <p:blipFill>
            <a:blip r:embed="rId1"/>
            <a:srcRect l="67292" t="3554" r="1146" b="2757"/>
            <a:stretch>
              <a:fillRect/>
            </a:stretch>
          </p:blipFill>
          <p:spPr>
            <a:xfrm>
              <a:off x="4071" y="1275"/>
              <a:ext cx="1515" cy="1529"/>
            </a:xfrm>
            <a:prstGeom prst="rect">
              <a:avLst/>
            </a:prstGeom>
          </p:spPr>
        </p:pic>
        <p:pic>
          <p:nvPicPr>
            <p:cNvPr id="99" name="图片 98"/>
            <p:cNvPicPr>
              <a:picLocks noChangeAspect="1"/>
            </p:cNvPicPr>
            <p:nvPr/>
          </p:nvPicPr>
          <p:blipFill>
            <a:blip r:embed="rId1"/>
            <a:srcRect l="521" t="3554" r="67604" b="2757"/>
            <a:stretch>
              <a:fillRect/>
            </a:stretch>
          </p:blipFill>
          <p:spPr>
            <a:xfrm>
              <a:off x="856" y="1275"/>
              <a:ext cx="1530" cy="1529"/>
            </a:xfrm>
            <a:prstGeom prst="rect">
              <a:avLst/>
            </a:prstGeom>
          </p:spPr>
        </p:pic>
        <p:pic>
          <p:nvPicPr>
            <p:cNvPr id="204" name="图片 203"/>
            <p:cNvPicPr>
              <a:picLocks noChangeAspect="1"/>
            </p:cNvPicPr>
            <p:nvPr/>
          </p:nvPicPr>
          <p:blipFill>
            <a:blip r:embed="rId2"/>
            <a:srcRect l="68223" t="1579" r="304"/>
            <a:stretch>
              <a:fillRect/>
            </a:stretch>
          </p:blipFill>
          <p:spPr>
            <a:xfrm>
              <a:off x="5671" y="1317"/>
              <a:ext cx="1451" cy="1487"/>
            </a:xfrm>
            <a:prstGeom prst="rect">
              <a:avLst/>
            </a:prstGeom>
          </p:spPr>
        </p:pic>
      </p:grpSp>
      <p:sp>
        <p:nvSpPr>
          <p:cNvPr id="219" name="箭头: V 形 5"/>
          <p:cNvSpPr/>
          <p:nvPr/>
        </p:nvSpPr>
        <p:spPr>
          <a:xfrm>
            <a:off x="351155" y="0"/>
            <a:ext cx="353822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(a) Multimodal context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0" name="箭头: V 形 5"/>
          <p:cNvSpPr/>
          <p:nvPr/>
        </p:nvSpPr>
        <p:spPr>
          <a:xfrm>
            <a:off x="4230370" y="0"/>
            <a:ext cx="353822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(b) History encoding &amp; state construction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1" name="箭头: V 形 5"/>
          <p:cNvSpPr/>
          <p:nvPr/>
        </p:nvSpPr>
        <p:spPr>
          <a:xfrm>
            <a:off x="7967980" y="0"/>
            <a:ext cx="353822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(c) Weather-conditioned shared dynamics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22" name="箭头: V 形 5"/>
          <p:cNvSpPr/>
          <p:nvPr/>
        </p:nvSpPr>
        <p:spPr>
          <a:xfrm>
            <a:off x="12006580" y="0"/>
            <a:ext cx="3538220" cy="476885"/>
          </a:xfrm>
          <a:prstGeom prst="chevron">
            <a:avLst/>
          </a:prstGeom>
          <a:solidFill>
            <a:srgbClr val="E3DD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rgbClr val="672898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(d) Readout &amp; forecast </a:t>
            </a:r>
            <a:endParaRPr lang="en-US" altLang="zh-CN" sz="1600" b="1" dirty="0">
              <a:solidFill>
                <a:srgbClr val="672898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543560" y="1276350"/>
            <a:ext cx="2205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Historical Earth observations</a:t>
            </a:r>
            <a:endParaRPr lang="en-US" altLang="zh-CN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259" name="图片 2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4" b="8816"/>
          <a:stretch>
            <a:fillRect/>
          </a:stretch>
        </p:blipFill>
        <p:spPr>
          <a:xfrm>
            <a:off x="537845" y="1548130"/>
            <a:ext cx="1216660" cy="523240"/>
          </a:xfrm>
          <a:prstGeom prst="rect">
            <a:avLst/>
          </a:prstGeom>
        </p:spPr>
      </p:pic>
      <p:pic>
        <p:nvPicPr>
          <p:cNvPr id="260" name="图片 259"/>
          <p:cNvPicPr/>
          <p:nvPr/>
        </p:nvPicPr>
        <p:blipFill>
          <a:blip r:embed="rId4"/>
          <a:stretch>
            <a:fillRect/>
          </a:stretch>
        </p:blipFill>
        <p:spPr>
          <a:xfrm>
            <a:off x="1729740" y="2251710"/>
            <a:ext cx="1018540" cy="498475"/>
          </a:xfrm>
          <a:prstGeom prst="rect">
            <a:avLst/>
          </a:prstGeom>
        </p:spPr>
      </p:pic>
      <p:sp>
        <p:nvSpPr>
          <p:cNvPr id="261" name="文本框 260"/>
          <p:cNvSpPr txBox="1"/>
          <p:nvPr/>
        </p:nvSpPr>
        <p:spPr>
          <a:xfrm>
            <a:off x="543560" y="2031365"/>
            <a:ext cx="2205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Historical environmental context</a:t>
            </a:r>
            <a:endParaRPr lang="en-US" altLang="zh-CN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262" name="图片 261"/>
          <p:cNvPicPr/>
          <p:nvPr/>
        </p:nvPicPr>
        <p:blipFill>
          <a:blip r:embed="rId5"/>
          <a:srcRect l="41019" t="45204" r="27784" b="41926"/>
          <a:stretch>
            <a:fillRect/>
          </a:stretch>
        </p:blipFill>
        <p:spPr>
          <a:xfrm>
            <a:off x="543560" y="2251710"/>
            <a:ext cx="1113155" cy="499110"/>
          </a:xfrm>
          <a:prstGeom prst="rect">
            <a:avLst/>
          </a:prstGeom>
        </p:spPr>
      </p:pic>
      <p:pic>
        <p:nvPicPr>
          <p:cNvPr id="263" name="图片 2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0220" y="1576705"/>
            <a:ext cx="988060" cy="497840"/>
          </a:xfrm>
          <a:prstGeom prst="rect">
            <a:avLst/>
          </a:prstGeom>
        </p:spPr>
      </p:pic>
      <p:sp>
        <p:nvSpPr>
          <p:cNvPr id="264" name="文本框 263"/>
          <p:cNvSpPr txBox="1"/>
          <p:nvPr/>
        </p:nvSpPr>
        <p:spPr>
          <a:xfrm>
            <a:off x="543560" y="2750185"/>
            <a:ext cx="2205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Historical environmental context</a:t>
            </a:r>
            <a:endParaRPr lang="en-US" altLang="zh-CN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65" name="立方体 264"/>
          <p:cNvSpPr/>
          <p:nvPr/>
        </p:nvSpPr>
        <p:spPr>
          <a:xfrm flipH="1">
            <a:off x="3950231" y="966581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5" name="图片 274"/>
          <p:cNvPicPr/>
          <p:nvPr/>
        </p:nvPicPr>
        <p:blipFill>
          <a:blip r:embed="rId7"/>
          <a:srcRect l="7635" t="6420" r="57841" b="25882"/>
          <a:stretch>
            <a:fillRect/>
          </a:stretch>
        </p:blipFill>
        <p:spPr>
          <a:xfrm>
            <a:off x="543560" y="2995295"/>
            <a:ext cx="1039495" cy="478790"/>
          </a:xfrm>
          <a:prstGeom prst="rect">
            <a:avLst/>
          </a:prstGeom>
        </p:spPr>
      </p:pic>
      <p:pic>
        <p:nvPicPr>
          <p:cNvPr id="276" name="图片 275"/>
          <p:cNvPicPr/>
          <p:nvPr/>
        </p:nvPicPr>
        <p:blipFill>
          <a:blip r:embed="rId8"/>
          <a:srcRect l="42988" t="19552" r="13903" b="57314"/>
          <a:stretch>
            <a:fillRect/>
          </a:stretch>
        </p:blipFill>
        <p:spPr>
          <a:xfrm>
            <a:off x="1657350" y="2995295"/>
            <a:ext cx="1091565" cy="478155"/>
          </a:xfrm>
          <a:prstGeom prst="rect">
            <a:avLst/>
          </a:prstGeom>
        </p:spPr>
      </p:pic>
      <p:sp>
        <p:nvSpPr>
          <p:cNvPr id="277" name="文本框 276"/>
          <p:cNvSpPr txBox="1"/>
          <p:nvPr/>
        </p:nvSpPr>
        <p:spPr>
          <a:xfrm>
            <a:off x="543560" y="3507740"/>
            <a:ext cx="27800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Future meteorological forcing u_{t:t+h}</a:t>
            </a:r>
            <a:endParaRPr lang="en-US" altLang="zh-CN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4030523" y="1177459"/>
            <a:ext cx="6507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History Encoder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88" name="直接连接符 287"/>
          <p:cNvCxnSpPr/>
          <p:nvPr/>
        </p:nvCxnSpPr>
        <p:spPr>
          <a:xfrm flipV="1">
            <a:off x="4629197" y="1410161"/>
            <a:ext cx="624840" cy="81280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0" name="组合 289"/>
          <p:cNvGrpSpPr/>
          <p:nvPr/>
        </p:nvGrpSpPr>
        <p:grpSpPr>
          <a:xfrm>
            <a:off x="5288280" y="1073785"/>
            <a:ext cx="1050290" cy="415290"/>
            <a:chOff x="8386" y="1742"/>
            <a:chExt cx="1654" cy="654"/>
          </a:xfrm>
        </p:grpSpPr>
        <p:sp>
          <p:nvSpPr>
            <p:cNvPr id="286" name="立方体 285"/>
            <p:cNvSpPr/>
            <p:nvPr/>
          </p:nvSpPr>
          <p:spPr>
            <a:xfrm>
              <a:off x="8386" y="1742"/>
              <a:ext cx="1655" cy="654"/>
            </a:xfrm>
            <a:prstGeom prst="cube">
              <a:avLst>
                <a:gd name="adj" fmla="val 7282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文本框 288"/>
            <p:cNvSpPr txBox="1"/>
            <p:nvPr/>
          </p:nvSpPr>
          <p:spPr>
            <a:xfrm>
              <a:off x="8421" y="1793"/>
              <a:ext cx="1571" cy="5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P</a:t>
              </a:r>
              <a:b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</a:br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  <a:sym typeface="+mn-ea"/>
                </a:rPr>
                <a:t>Projector</a:t>
              </a:r>
              <a:endParaRPr lang="en-US"/>
            </a:p>
            <a:p>
              <a:pPr algn="ctr"/>
              <a:endParaRPr lang="zh-CN" altLang="en-US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2" name="组合 291"/>
          <p:cNvGrpSpPr/>
          <p:nvPr/>
        </p:nvGrpSpPr>
        <p:grpSpPr>
          <a:xfrm>
            <a:off x="6625694" y="943658"/>
            <a:ext cx="787771" cy="730644"/>
            <a:chOff x="2362609" y="5155034"/>
            <a:chExt cx="787771" cy="730644"/>
          </a:xfrm>
        </p:grpSpPr>
        <p:sp>
          <p:nvSpPr>
            <p:cNvPr id="293" name="立方体 292"/>
            <p:cNvSpPr/>
            <p:nvPr/>
          </p:nvSpPr>
          <p:spPr>
            <a:xfrm>
              <a:off x="236260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立方体 293"/>
            <p:cNvSpPr/>
            <p:nvPr/>
          </p:nvSpPr>
          <p:spPr>
            <a:xfrm>
              <a:off x="252265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立方体 294"/>
            <p:cNvSpPr/>
            <p:nvPr/>
          </p:nvSpPr>
          <p:spPr>
            <a:xfrm>
              <a:off x="2692519" y="515503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立方体 295"/>
            <p:cNvSpPr/>
            <p:nvPr/>
          </p:nvSpPr>
          <p:spPr>
            <a:xfrm>
              <a:off x="286237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立方体 296"/>
            <p:cNvSpPr/>
            <p:nvPr/>
          </p:nvSpPr>
          <p:spPr>
            <a:xfrm>
              <a:off x="302242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立方体 297"/>
            <p:cNvSpPr/>
            <p:nvPr/>
          </p:nvSpPr>
          <p:spPr>
            <a:xfrm>
              <a:off x="236260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立方体 299"/>
            <p:cNvSpPr/>
            <p:nvPr/>
          </p:nvSpPr>
          <p:spPr>
            <a:xfrm>
              <a:off x="252265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立方体 300"/>
            <p:cNvSpPr/>
            <p:nvPr/>
          </p:nvSpPr>
          <p:spPr>
            <a:xfrm>
              <a:off x="2692519" y="53118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立方体 318"/>
            <p:cNvSpPr/>
            <p:nvPr/>
          </p:nvSpPr>
          <p:spPr>
            <a:xfrm>
              <a:off x="286237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9" name="立方体 338"/>
            <p:cNvSpPr/>
            <p:nvPr/>
          </p:nvSpPr>
          <p:spPr>
            <a:xfrm>
              <a:off x="302242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立方体 348"/>
            <p:cNvSpPr/>
            <p:nvPr/>
          </p:nvSpPr>
          <p:spPr>
            <a:xfrm>
              <a:off x="236260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立方体 354"/>
            <p:cNvSpPr/>
            <p:nvPr/>
          </p:nvSpPr>
          <p:spPr>
            <a:xfrm>
              <a:off x="252265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立方体 355"/>
            <p:cNvSpPr/>
            <p:nvPr/>
          </p:nvSpPr>
          <p:spPr>
            <a:xfrm>
              <a:off x="2692519" y="546268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立方体 358"/>
            <p:cNvSpPr/>
            <p:nvPr/>
          </p:nvSpPr>
          <p:spPr>
            <a:xfrm>
              <a:off x="286237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立方体 359"/>
            <p:cNvSpPr/>
            <p:nvPr/>
          </p:nvSpPr>
          <p:spPr>
            <a:xfrm>
              <a:off x="302242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立方体 360"/>
            <p:cNvSpPr/>
            <p:nvPr/>
          </p:nvSpPr>
          <p:spPr>
            <a:xfrm>
              <a:off x="236260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立方体 361"/>
            <p:cNvSpPr/>
            <p:nvPr/>
          </p:nvSpPr>
          <p:spPr>
            <a:xfrm>
              <a:off x="252265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立方体 362"/>
            <p:cNvSpPr/>
            <p:nvPr/>
          </p:nvSpPr>
          <p:spPr>
            <a:xfrm>
              <a:off x="2692519" y="561587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立方体 363"/>
            <p:cNvSpPr/>
            <p:nvPr/>
          </p:nvSpPr>
          <p:spPr>
            <a:xfrm>
              <a:off x="286237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立方体 367"/>
            <p:cNvSpPr/>
            <p:nvPr/>
          </p:nvSpPr>
          <p:spPr>
            <a:xfrm>
              <a:off x="302242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9" name="立方体 368"/>
            <p:cNvSpPr/>
            <p:nvPr/>
          </p:nvSpPr>
          <p:spPr>
            <a:xfrm>
              <a:off x="236260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立方体 376"/>
            <p:cNvSpPr/>
            <p:nvPr/>
          </p:nvSpPr>
          <p:spPr>
            <a:xfrm>
              <a:off x="252265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立方体 379"/>
            <p:cNvSpPr/>
            <p:nvPr/>
          </p:nvSpPr>
          <p:spPr>
            <a:xfrm>
              <a:off x="2692519" y="575926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1" name="立方体 380"/>
            <p:cNvSpPr/>
            <p:nvPr/>
          </p:nvSpPr>
          <p:spPr>
            <a:xfrm>
              <a:off x="286237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3" name="立方体 382"/>
            <p:cNvSpPr/>
            <p:nvPr/>
          </p:nvSpPr>
          <p:spPr>
            <a:xfrm>
              <a:off x="302242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3" name="组合 402"/>
          <p:cNvGrpSpPr/>
          <p:nvPr/>
        </p:nvGrpSpPr>
        <p:grpSpPr>
          <a:xfrm>
            <a:off x="5239385" y="2025650"/>
            <a:ext cx="2281555" cy="941705"/>
            <a:chOff x="8203" y="3830"/>
            <a:chExt cx="7316" cy="3741"/>
          </a:xfrm>
        </p:grpSpPr>
        <p:pic>
          <p:nvPicPr>
            <p:cNvPr id="390" name="图片 389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10243" y="3830"/>
              <a:ext cx="5277" cy="2433"/>
            </a:xfrm>
            <a:prstGeom prst="rect">
              <a:avLst/>
            </a:prstGeom>
          </p:spPr>
        </p:pic>
        <p:pic>
          <p:nvPicPr>
            <p:cNvPr id="397" name="图片 396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835" y="4079"/>
              <a:ext cx="5277" cy="2433"/>
            </a:xfrm>
            <a:prstGeom prst="rect">
              <a:avLst/>
            </a:prstGeom>
          </p:spPr>
        </p:pic>
        <p:pic>
          <p:nvPicPr>
            <p:cNvPr id="399" name="图片 398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427" y="4328"/>
              <a:ext cx="5277" cy="2433"/>
            </a:xfrm>
            <a:prstGeom prst="rect">
              <a:avLst/>
            </a:prstGeom>
          </p:spPr>
        </p:pic>
        <p:pic>
          <p:nvPicPr>
            <p:cNvPr id="400" name="图片 399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9019" y="4577"/>
              <a:ext cx="5277" cy="2433"/>
            </a:xfrm>
            <a:prstGeom prst="rect">
              <a:avLst/>
            </a:prstGeom>
          </p:spPr>
        </p:pic>
        <p:pic>
          <p:nvPicPr>
            <p:cNvPr id="401" name="图片 400"/>
            <p:cNvPicPr>
              <a:picLocks noChangeAspect="1"/>
            </p:cNvPicPr>
            <p:nvPr/>
          </p:nvPicPr>
          <p:blipFill>
            <a:blip r:embed="rId1"/>
            <a:srcRect l="67292" t="53792" r="1146" b="2757"/>
            <a:stretch>
              <a:fillRect/>
            </a:stretch>
          </p:blipFill>
          <p:spPr>
            <a:xfrm>
              <a:off x="8611" y="4826"/>
              <a:ext cx="5277" cy="2433"/>
            </a:xfrm>
            <a:prstGeom prst="rect">
              <a:avLst/>
            </a:prstGeom>
          </p:spPr>
        </p:pic>
        <p:pic>
          <p:nvPicPr>
            <p:cNvPr id="385" name="图片 384"/>
            <p:cNvPicPr>
              <a:picLocks noChangeAspect="1"/>
            </p:cNvPicPr>
            <p:nvPr/>
          </p:nvPicPr>
          <p:blipFill>
            <a:blip r:embed="rId1"/>
            <a:srcRect l="521" t="52220" r="67604" b="2757"/>
            <a:stretch>
              <a:fillRect/>
            </a:stretch>
          </p:blipFill>
          <p:spPr>
            <a:xfrm>
              <a:off x="8203" y="5075"/>
              <a:ext cx="5277" cy="2497"/>
            </a:xfrm>
            <a:prstGeom prst="rect">
              <a:avLst/>
            </a:prstGeom>
          </p:spPr>
        </p:pic>
      </p:grpSp>
      <p:cxnSp>
        <p:nvCxnSpPr>
          <p:cNvPr id="404" name="直接连接符 403"/>
          <p:cNvCxnSpPr/>
          <p:nvPr/>
        </p:nvCxnSpPr>
        <p:spPr>
          <a:xfrm>
            <a:off x="4646342" y="2541096"/>
            <a:ext cx="520700" cy="635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矩形: 圆角 651"/>
          <p:cNvSpPr/>
          <p:nvPr/>
        </p:nvSpPr>
        <p:spPr>
          <a:xfrm>
            <a:off x="9515661" y="370915"/>
            <a:ext cx="2017060" cy="6060138"/>
          </a:xfrm>
          <a:custGeom>
            <a:avLst/>
            <a:gdLst>
              <a:gd name="connsiteX0" fmla="*/ 0 w 2017060"/>
              <a:gd name="connsiteY0" fmla="*/ 161970 h 6060138"/>
              <a:gd name="connsiteX1" fmla="*/ 161970 w 2017060"/>
              <a:gd name="connsiteY1" fmla="*/ 0 h 6060138"/>
              <a:gd name="connsiteX2" fmla="*/ 1855090 w 2017060"/>
              <a:gd name="connsiteY2" fmla="*/ 0 h 6060138"/>
              <a:gd name="connsiteX3" fmla="*/ 2017060 w 2017060"/>
              <a:gd name="connsiteY3" fmla="*/ 161970 h 6060138"/>
              <a:gd name="connsiteX4" fmla="*/ 2017060 w 2017060"/>
              <a:gd name="connsiteY4" fmla="*/ 5898168 h 6060138"/>
              <a:gd name="connsiteX5" fmla="*/ 1855090 w 2017060"/>
              <a:gd name="connsiteY5" fmla="*/ 6060138 h 6060138"/>
              <a:gd name="connsiteX6" fmla="*/ 161970 w 2017060"/>
              <a:gd name="connsiteY6" fmla="*/ 6060138 h 6060138"/>
              <a:gd name="connsiteX7" fmla="*/ 0 w 2017060"/>
              <a:gd name="connsiteY7" fmla="*/ 5898168 h 6060138"/>
              <a:gd name="connsiteX8" fmla="*/ 0 w 2017060"/>
              <a:gd name="connsiteY8" fmla="*/ 161970 h 6060138"/>
              <a:gd name="connsiteX0-1" fmla="*/ 1855090 w 2017060"/>
              <a:gd name="connsiteY0-2" fmla="*/ 0 h 6060138"/>
              <a:gd name="connsiteX1-3" fmla="*/ 2017060 w 2017060"/>
              <a:gd name="connsiteY1-4" fmla="*/ 161970 h 6060138"/>
              <a:gd name="connsiteX2-5" fmla="*/ 2017060 w 2017060"/>
              <a:gd name="connsiteY2-6" fmla="*/ 5898168 h 6060138"/>
              <a:gd name="connsiteX3-7" fmla="*/ 1855090 w 2017060"/>
              <a:gd name="connsiteY3-8" fmla="*/ 6060138 h 6060138"/>
              <a:gd name="connsiteX4-9" fmla="*/ 161970 w 2017060"/>
              <a:gd name="connsiteY4-10" fmla="*/ 6060138 h 6060138"/>
              <a:gd name="connsiteX5-11" fmla="*/ 0 w 2017060"/>
              <a:gd name="connsiteY5-12" fmla="*/ 5898168 h 6060138"/>
              <a:gd name="connsiteX6-13" fmla="*/ 0 w 2017060"/>
              <a:gd name="connsiteY6-14" fmla="*/ 161970 h 6060138"/>
              <a:gd name="connsiteX7-15" fmla="*/ 161970 w 2017060"/>
              <a:gd name="connsiteY7-16" fmla="*/ 0 h 6060138"/>
              <a:gd name="connsiteX8-17" fmla="*/ 1946530 w 2017060"/>
              <a:gd name="connsiteY8-18" fmla="*/ 91440 h 6060138"/>
              <a:gd name="connsiteX0-19" fmla="*/ 1855090 w 2017060"/>
              <a:gd name="connsiteY0-20" fmla="*/ 0 h 6060138"/>
              <a:gd name="connsiteX1-21" fmla="*/ 2017060 w 2017060"/>
              <a:gd name="connsiteY1-22" fmla="*/ 161970 h 6060138"/>
              <a:gd name="connsiteX2-23" fmla="*/ 2017060 w 2017060"/>
              <a:gd name="connsiteY2-24" fmla="*/ 5898168 h 6060138"/>
              <a:gd name="connsiteX3-25" fmla="*/ 1855090 w 2017060"/>
              <a:gd name="connsiteY3-26" fmla="*/ 6060138 h 6060138"/>
              <a:gd name="connsiteX4-27" fmla="*/ 161970 w 2017060"/>
              <a:gd name="connsiteY4-28" fmla="*/ 6060138 h 6060138"/>
              <a:gd name="connsiteX5-29" fmla="*/ 0 w 2017060"/>
              <a:gd name="connsiteY5-30" fmla="*/ 5898168 h 6060138"/>
              <a:gd name="connsiteX6-31" fmla="*/ 0 w 2017060"/>
              <a:gd name="connsiteY6-32" fmla="*/ 161970 h 6060138"/>
              <a:gd name="connsiteX7-33" fmla="*/ 161970 w 2017060"/>
              <a:gd name="connsiteY7-34" fmla="*/ 0 h 60601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017060" h="6060138">
                <a:moveTo>
                  <a:pt x="1855090" y="0"/>
                </a:moveTo>
                <a:cubicBezTo>
                  <a:pt x="1944544" y="0"/>
                  <a:pt x="2017060" y="72516"/>
                  <a:pt x="2017060" y="161970"/>
                </a:cubicBezTo>
                <a:lnTo>
                  <a:pt x="2017060" y="5898168"/>
                </a:lnTo>
                <a:cubicBezTo>
                  <a:pt x="2017060" y="5987622"/>
                  <a:pt x="1944544" y="6060138"/>
                  <a:pt x="1855090" y="6060138"/>
                </a:cubicBezTo>
                <a:lnTo>
                  <a:pt x="161970" y="6060138"/>
                </a:lnTo>
                <a:cubicBezTo>
                  <a:pt x="72516" y="6060138"/>
                  <a:pt x="0" y="5987622"/>
                  <a:pt x="0" y="5898168"/>
                </a:cubicBezTo>
                <a:lnTo>
                  <a:pt x="0" y="161970"/>
                </a:lnTo>
                <a:cubicBezTo>
                  <a:pt x="0" y="72516"/>
                  <a:pt x="72516" y="0"/>
                  <a:pt x="161970" y="0"/>
                </a:cubicBezTo>
              </a:path>
            </a:pathLst>
          </a:custGeom>
          <a:solidFill>
            <a:srgbClr val="F3FDFF"/>
          </a:solidFill>
          <a:ln>
            <a:solidFill>
              <a:srgbClr val="22A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0" name="矩形: 圆角 689"/>
          <p:cNvSpPr/>
          <p:nvPr/>
        </p:nvSpPr>
        <p:spPr>
          <a:xfrm>
            <a:off x="9550583" y="1188019"/>
            <a:ext cx="1843186" cy="1686290"/>
          </a:xfrm>
          <a:prstGeom prst="roundRect">
            <a:avLst>
              <a:gd name="adj" fmla="val 10213"/>
            </a:avLst>
          </a:prstGeom>
          <a:solidFill>
            <a:srgbClr val="FFFBFF"/>
          </a:solidFill>
          <a:ln>
            <a:solidFill>
              <a:srgbClr val="FD6BEC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矩形: 圆角 152"/>
          <p:cNvSpPr/>
          <p:nvPr/>
        </p:nvSpPr>
        <p:spPr>
          <a:xfrm>
            <a:off x="9550583" y="4837579"/>
            <a:ext cx="1955617" cy="394271"/>
          </a:xfrm>
          <a:prstGeom prst="roundRect">
            <a:avLst>
              <a:gd name="adj" fmla="val 7785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70" name="组合 669"/>
          <p:cNvGrpSpPr/>
          <p:nvPr/>
        </p:nvGrpSpPr>
        <p:grpSpPr>
          <a:xfrm>
            <a:off x="10117045" y="6112889"/>
            <a:ext cx="801149" cy="146293"/>
            <a:chOff x="11245215" y="5706489"/>
            <a:chExt cx="801149" cy="146293"/>
          </a:xfrm>
        </p:grpSpPr>
        <p:sp>
          <p:nvSpPr>
            <p:cNvPr id="665" name="矩形 664"/>
            <p:cNvSpPr/>
            <p:nvPr/>
          </p:nvSpPr>
          <p:spPr>
            <a:xfrm>
              <a:off x="11245215" y="5706489"/>
              <a:ext cx="121017" cy="1462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  <a:alpha val="41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6" name="矩形 665"/>
            <p:cNvSpPr/>
            <p:nvPr/>
          </p:nvSpPr>
          <p:spPr>
            <a:xfrm>
              <a:off x="11415248" y="5706489"/>
              <a:ext cx="121017" cy="146293"/>
            </a:xfrm>
            <a:prstGeom prst="rect">
              <a:avLst/>
            </a:prstGeom>
            <a:solidFill>
              <a:srgbClr val="D5F1FF"/>
            </a:solidFill>
            <a:ln>
              <a:solidFill>
                <a:srgbClr val="7CC8FC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7" name="矩形 666"/>
            <p:cNvSpPr/>
            <p:nvPr/>
          </p:nvSpPr>
          <p:spPr>
            <a:xfrm>
              <a:off x="11585281" y="5706489"/>
              <a:ext cx="121017" cy="1462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75000"/>
                  <a:alpha val="41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8" name="矩形 667"/>
            <p:cNvSpPr/>
            <p:nvPr/>
          </p:nvSpPr>
          <p:spPr>
            <a:xfrm>
              <a:off x="11758489" y="5706489"/>
              <a:ext cx="121017" cy="146293"/>
            </a:xfrm>
            <a:prstGeom prst="rect">
              <a:avLst/>
            </a:prstGeom>
            <a:solidFill>
              <a:srgbClr val="FEDEEC"/>
            </a:solidFill>
            <a:ln>
              <a:solidFill>
                <a:srgbClr val="FF8585">
                  <a:alpha val="41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9" name="矩形 668"/>
            <p:cNvSpPr/>
            <p:nvPr/>
          </p:nvSpPr>
          <p:spPr>
            <a:xfrm>
              <a:off x="11925347" y="5706489"/>
              <a:ext cx="121017" cy="146293"/>
            </a:xfrm>
            <a:prstGeom prst="rect">
              <a:avLst/>
            </a:prstGeom>
            <a:solidFill>
              <a:srgbClr val="EAE9E2"/>
            </a:solidFill>
            <a:ln>
              <a:solidFill>
                <a:schemeClr val="bg1">
                  <a:lumMod val="50000"/>
                  <a:alpha val="41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6" name="矩形: 圆角 595"/>
          <p:cNvSpPr/>
          <p:nvPr/>
        </p:nvSpPr>
        <p:spPr>
          <a:xfrm rot="5400000">
            <a:off x="7114008" y="4189753"/>
            <a:ext cx="3307918" cy="1174681"/>
          </a:xfrm>
          <a:custGeom>
            <a:avLst/>
            <a:gdLst>
              <a:gd name="connsiteX0" fmla="*/ 0 w 3285813"/>
              <a:gd name="connsiteY0" fmla="*/ 186093 h 1116533"/>
              <a:gd name="connsiteX1" fmla="*/ 186093 w 3285813"/>
              <a:gd name="connsiteY1" fmla="*/ 0 h 1116533"/>
              <a:gd name="connsiteX2" fmla="*/ 3099720 w 3285813"/>
              <a:gd name="connsiteY2" fmla="*/ 0 h 1116533"/>
              <a:gd name="connsiteX3" fmla="*/ 3285813 w 3285813"/>
              <a:gd name="connsiteY3" fmla="*/ 186093 h 1116533"/>
              <a:gd name="connsiteX4" fmla="*/ 3285813 w 3285813"/>
              <a:gd name="connsiteY4" fmla="*/ 930440 h 1116533"/>
              <a:gd name="connsiteX5" fmla="*/ 3099720 w 3285813"/>
              <a:gd name="connsiteY5" fmla="*/ 1116533 h 1116533"/>
              <a:gd name="connsiteX6" fmla="*/ 186093 w 3285813"/>
              <a:gd name="connsiteY6" fmla="*/ 1116533 h 1116533"/>
              <a:gd name="connsiteX7" fmla="*/ 0 w 3285813"/>
              <a:gd name="connsiteY7" fmla="*/ 930440 h 1116533"/>
              <a:gd name="connsiteX8" fmla="*/ 0 w 3285813"/>
              <a:gd name="connsiteY8" fmla="*/ 186093 h 1116533"/>
              <a:gd name="connsiteX0-1" fmla="*/ 0 w 3285813"/>
              <a:gd name="connsiteY0-2" fmla="*/ 186093 h 1116533"/>
              <a:gd name="connsiteX1-3" fmla="*/ 186093 w 3285813"/>
              <a:gd name="connsiteY1-4" fmla="*/ 0 h 1116533"/>
              <a:gd name="connsiteX2-5" fmla="*/ 2840126 w 3285813"/>
              <a:gd name="connsiteY2-6" fmla="*/ 3084 h 1116533"/>
              <a:gd name="connsiteX3-7" fmla="*/ 3099720 w 3285813"/>
              <a:gd name="connsiteY3-8" fmla="*/ 0 h 1116533"/>
              <a:gd name="connsiteX4-9" fmla="*/ 3285813 w 3285813"/>
              <a:gd name="connsiteY4-10" fmla="*/ 186093 h 1116533"/>
              <a:gd name="connsiteX5-11" fmla="*/ 3285813 w 3285813"/>
              <a:gd name="connsiteY5-12" fmla="*/ 930440 h 1116533"/>
              <a:gd name="connsiteX6-13" fmla="*/ 3099720 w 3285813"/>
              <a:gd name="connsiteY6-14" fmla="*/ 1116533 h 1116533"/>
              <a:gd name="connsiteX7-15" fmla="*/ 186093 w 3285813"/>
              <a:gd name="connsiteY7-16" fmla="*/ 1116533 h 1116533"/>
              <a:gd name="connsiteX8-17" fmla="*/ 0 w 3285813"/>
              <a:gd name="connsiteY8-18" fmla="*/ 930440 h 1116533"/>
              <a:gd name="connsiteX9" fmla="*/ 0 w 3285813"/>
              <a:gd name="connsiteY9" fmla="*/ 186093 h 1116533"/>
              <a:gd name="connsiteX0-19" fmla="*/ 0 w 3285813"/>
              <a:gd name="connsiteY0-20" fmla="*/ 189359 h 1119799"/>
              <a:gd name="connsiteX1-21" fmla="*/ 186093 w 3285813"/>
              <a:gd name="connsiteY1-22" fmla="*/ 3266 h 1119799"/>
              <a:gd name="connsiteX2-23" fmla="*/ 503326 w 3285813"/>
              <a:gd name="connsiteY2-24" fmla="*/ 0 h 1119799"/>
              <a:gd name="connsiteX3-25" fmla="*/ 2840126 w 3285813"/>
              <a:gd name="connsiteY3-26" fmla="*/ 6350 h 1119799"/>
              <a:gd name="connsiteX4-27" fmla="*/ 3099720 w 3285813"/>
              <a:gd name="connsiteY4-28" fmla="*/ 3266 h 1119799"/>
              <a:gd name="connsiteX5-29" fmla="*/ 3285813 w 3285813"/>
              <a:gd name="connsiteY5-30" fmla="*/ 189359 h 1119799"/>
              <a:gd name="connsiteX6-31" fmla="*/ 3285813 w 3285813"/>
              <a:gd name="connsiteY6-32" fmla="*/ 933706 h 1119799"/>
              <a:gd name="connsiteX7-33" fmla="*/ 3099720 w 3285813"/>
              <a:gd name="connsiteY7-34" fmla="*/ 1119799 h 1119799"/>
              <a:gd name="connsiteX8-35" fmla="*/ 186093 w 3285813"/>
              <a:gd name="connsiteY8-36" fmla="*/ 1119799 h 1119799"/>
              <a:gd name="connsiteX9-37" fmla="*/ 0 w 3285813"/>
              <a:gd name="connsiteY9-38" fmla="*/ 933706 h 1119799"/>
              <a:gd name="connsiteX10" fmla="*/ 0 w 3285813"/>
              <a:gd name="connsiteY10" fmla="*/ 189359 h 1119799"/>
              <a:gd name="connsiteX0-39" fmla="*/ 2840126 w 3285813"/>
              <a:gd name="connsiteY0-40" fmla="*/ 6350 h 1119799"/>
              <a:gd name="connsiteX1-41" fmla="*/ 3099720 w 3285813"/>
              <a:gd name="connsiteY1-42" fmla="*/ 3266 h 1119799"/>
              <a:gd name="connsiteX2-43" fmla="*/ 3285813 w 3285813"/>
              <a:gd name="connsiteY2-44" fmla="*/ 189359 h 1119799"/>
              <a:gd name="connsiteX3-45" fmla="*/ 3285813 w 3285813"/>
              <a:gd name="connsiteY3-46" fmla="*/ 933706 h 1119799"/>
              <a:gd name="connsiteX4-47" fmla="*/ 3099720 w 3285813"/>
              <a:gd name="connsiteY4-48" fmla="*/ 1119799 h 1119799"/>
              <a:gd name="connsiteX5-49" fmla="*/ 186093 w 3285813"/>
              <a:gd name="connsiteY5-50" fmla="*/ 1119799 h 1119799"/>
              <a:gd name="connsiteX6-51" fmla="*/ 0 w 3285813"/>
              <a:gd name="connsiteY6-52" fmla="*/ 933706 h 1119799"/>
              <a:gd name="connsiteX7-53" fmla="*/ 0 w 3285813"/>
              <a:gd name="connsiteY7-54" fmla="*/ 189359 h 1119799"/>
              <a:gd name="connsiteX8-55" fmla="*/ 186093 w 3285813"/>
              <a:gd name="connsiteY8-56" fmla="*/ 3266 h 1119799"/>
              <a:gd name="connsiteX9-57" fmla="*/ 503326 w 3285813"/>
              <a:gd name="connsiteY9-58" fmla="*/ 0 h 1119799"/>
              <a:gd name="connsiteX10-59" fmla="*/ 2931566 w 3285813"/>
              <a:gd name="connsiteY10-60" fmla="*/ 97790 h 1119799"/>
              <a:gd name="connsiteX0-61" fmla="*/ 2840126 w 3285813"/>
              <a:gd name="connsiteY0-62" fmla="*/ 6350 h 1119799"/>
              <a:gd name="connsiteX1-63" fmla="*/ 3099720 w 3285813"/>
              <a:gd name="connsiteY1-64" fmla="*/ 3266 h 1119799"/>
              <a:gd name="connsiteX2-65" fmla="*/ 3285813 w 3285813"/>
              <a:gd name="connsiteY2-66" fmla="*/ 189359 h 1119799"/>
              <a:gd name="connsiteX3-67" fmla="*/ 3285813 w 3285813"/>
              <a:gd name="connsiteY3-68" fmla="*/ 933706 h 1119799"/>
              <a:gd name="connsiteX4-69" fmla="*/ 3099720 w 3285813"/>
              <a:gd name="connsiteY4-70" fmla="*/ 1119799 h 1119799"/>
              <a:gd name="connsiteX5-71" fmla="*/ 186093 w 3285813"/>
              <a:gd name="connsiteY5-72" fmla="*/ 1119799 h 1119799"/>
              <a:gd name="connsiteX6-73" fmla="*/ 0 w 3285813"/>
              <a:gd name="connsiteY6-74" fmla="*/ 933706 h 1119799"/>
              <a:gd name="connsiteX7-75" fmla="*/ 0 w 3285813"/>
              <a:gd name="connsiteY7-76" fmla="*/ 189359 h 1119799"/>
              <a:gd name="connsiteX8-77" fmla="*/ 186093 w 3285813"/>
              <a:gd name="connsiteY8-78" fmla="*/ 3266 h 1119799"/>
              <a:gd name="connsiteX9-79" fmla="*/ 503326 w 3285813"/>
              <a:gd name="connsiteY9-80" fmla="*/ 0 h 11197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3285813" h="1119799">
                <a:moveTo>
                  <a:pt x="2840126" y="6350"/>
                </a:moveTo>
                <a:lnTo>
                  <a:pt x="3099720" y="3266"/>
                </a:lnTo>
                <a:cubicBezTo>
                  <a:pt x="3202496" y="3266"/>
                  <a:pt x="3285813" y="86583"/>
                  <a:pt x="3285813" y="189359"/>
                </a:cubicBezTo>
                <a:lnTo>
                  <a:pt x="3285813" y="933706"/>
                </a:lnTo>
                <a:cubicBezTo>
                  <a:pt x="3285813" y="1036482"/>
                  <a:pt x="3202496" y="1119799"/>
                  <a:pt x="3099720" y="1119799"/>
                </a:cubicBezTo>
                <a:lnTo>
                  <a:pt x="186093" y="1119799"/>
                </a:lnTo>
                <a:cubicBezTo>
                  <a:pt x="83317" y="1119799"/>
                  <a:pt x="0" y="1036482"/>
                  <a:pt x="0" y="933706"/>
                </a:cubicBezTo>
                <a:lnTo>
                  <a:pt x="0" y="189359"/>
                </a:lnTo>
                <a:cubicBezTo>
                  <a:pt x="0" y="86583"/>
                  <a:pt x="83317" y="3266"/>
                  <a:pt x="186093" y="3266"/>
                </a:cubicBezTo>
                <a:lnTo>
                  <a:pt x="503326" y="0"/>
                </a:lnTo>
              </a:path>
            </a:pathLst>
          </a:custGeom>
          <a:solidFill>
            <a:srgbClr val="FFF7FE"/>
          </a:solidFill>
          <a:ln>
            <a:solidFill>
              <a:srgbClr val="E08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: 圆角 199"/>
          <p:cNvSpPr/>
          <p:nvPr/>
        </p:nvSpPr>
        <p:spPr>
          <a:xfrm flipV="1">
            <a:off x="4042627" y="3126897"/>
            <a:ext cx="4009193" cy="3265654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  <a:gd name="connsiteX0-81" fmla="*/ 4870077 w 5257799"/>
              <a:gd name="connsiteY0-82" fmla="*/ 0 h 2900201"/>
              <a:gd name="connsiteX1-83" fmla="*/ 5074208 w 5257799"/>
              <a:gd name="connsiteY1-84" fmla="*/ 1237 h 2900201"/>
              <a:gd name="connsiteX2-85" fmla="*/ 5257799 w 5257799"/>
              <a:gd name="connsiteY2-86" fmla="*/ 184828 h 2900201"/>
              <a:gd name="connsiteX3-87" fmla="*/ 5257799 w 5257799"/>
              <a:gd name="connsiteY3-88" fmla="*/ 2716610 h 2900201"/>
              <a:gd name="connsiteX4-89" fmla="*/ 5074208 w 5257799"/>
              <a:gd name="connsiteY4-90" fmla="*/ 2900201 h 2900201"/>
              <a:gd name="connsiteX5-91" fmla="*/ 183591 w 5257799"/>
              <a:gd name="connsiteY5-92" fmla="*/ 2900201 h 2900201"/>
              <a:gd name="connsiteX6-93" fmla="*/ 0 w 5257799"/>
              <a:gd name="connsiteY6-94" fmla="*/ 2716610 h 2900201"/>
              <a:gd name="connsiteX7-95" fmla="*/ 0 w 5257799"/>
              <a:gd name="connsiteY7-96" fmla="*/ 184828 h 2900201"/>
              <a:gd name="connsiteX8-97" fmla="*/ 183591 w 5257799"/>
              <a:gd name="connsiteY8-98" fmla="*/ 1237 h 2900201"/>
              <a:gd name="connsiteX0-99" fmla="*/ 5074208 w 5257799"/>
              <a:gd name="connsiteY0-100" fmla="*/ 0 h 2898964"/>
              <a:gd name="connsiteX1-101" fmla="*/ 5257799 w 5257799"/>
              <a:gd name="connsiteY1-102" fmla="*/ 183591 h 2898964"/>
              <a:gd name="connsiteX2-103" fmla="*/ 5257799 w 5257799"/>
              <a:gd name="connsiteY2-104" fmla="*/ 2715373 h 2898964"/>
              <a:gd name="connsiteX3-105" fmla="*/ 5074208 w 5257799"/>
              <a:gd name="connsiteY3-106" fmla="*/ 2898964 h 2898964"/>
              <a:gd name="connsiteX4-107" fmla="*/ 183591 w 5257799"/>
              <a:gd name="connsiteY4-108" fmla="*/ 2898964 h 2898964"/>
              <a:gd name="connsiteX5-109" fmla="*/ 0 w 5257799"/>
              <a:gd name="connsiteY5-110" fmla="*/ 2715373 h 2898964"/>
              <a:gd name="connsiteX6-111" fmla="*/ 0 w 5257799"/>
              <a:gd name="connsiteY6-112" fmla="*/ 183591 h 2898964"/>
              <a:gd name="connsiteX7-113" fmla="*/ 183591 w 5257799"/>
              <a:gd name="connsiteY7-114" fmla="*/ 0 h 28989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257799" h="2898964">
                <a:moveTo>
                  <a:pt x="5074208" y="0"/>
                </a:moveTo>
                <a:cubicBezTo>
                  <a:pt x="5175603" y="0"/>
                  <a:pt x="5257799" y="82196"/>
                  <a:pt x="5257799" y="183591"/>
                </a:cubicBezTo>
                <a:lnTo>
                  <a:pt x="5257799" y="2715373"/>
                </a:lnTo>
                <a:cubicBezTo>
                  <a:pt x="5257799" y="2816768"/>
                  <a:pt x="5175603" y="2898964"/>
                  <a:pt x="5074208" y="2898964"/>
                </a:cubicBezTo>
                <a:lnTo>
                  <a:pt x="183591" y="2898964"/>
                </a:lnTo>
                <a:cubicBezTo>
                  <a:pt x="82196" y="2898964"/>
                  <a:pt x="0" y="2816768"/>
                  <a:pt x="0" y="2715373"/>
                </a:cubicBezTo>
                <a:lnTo>
                  <a:pt x="0" y="183591"/>
                </a:lnTo>
                <a:cubicBezTo>
                  <a:pt x="0" y="82196"/>
                  <a:pt x="82196" y="0"/>
                  <a:pt x="183591" y="0"/>
                </a:cubicBezTo>
              </a:path>
            </a:pathLst>
          </a:custGeom>
          <a:solidFill>
            <a:srgbClr val="FFFAEB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: 圆角 199"/>
          <p:cNvSpPr/>
          <p:nvPr/>
        </p:nvSpPr>
        <p:spPr>
          <a:xfrm>
            <a:off x="4042628" y="361110"/>
            <a:ext cx="5388612" cy="2732112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solidFill>
            <a:srgbClr val="F5F5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/>
          <p:cNvSpPr/>
          <p:nvPr/>
        </p:nvSpPr>
        <p:spPr>
          <a:xfrm>
            <a:off x="4096419" y="543190"/>
            <a:ext cx="1958797" cy="2477284"/>
          </a:xfrm>
          <a:prstGeom prst="roundRect">
            <a:avLst>
              <a:gd name="adj" fmla="val 10356"/>
            </a:avLst>
          </a:prstGeom>
          <a:solidFill>
            <a:srgbClr val="FDF0E7"/>
          </a:solidFill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箭头: 下 184"/>
          <p:cNvSpPr/>
          <p:nvPr/>
        </p:nvSpPr>
        <p:spPr>
          <a:xfrm rot="16200000">
            <a:off x="1981735" y="1772970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矩形: 圆角 433"/>
          <p:cNvSpPr/>
          <p:nvPr/>
        </p:nvSpPr>
        <p:spPr>
          <a:xfrm>
            <a:off x="4480235" y="4718565"/>
            <a:ext cx="1521014" cy="79548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/>
          <p:cNvSpPr/>
          <p:nvPr/>
        </p:nvSpPr>
        <p:spPr>
          <a:xfrm>
            <a:off x="4268968" y="3511207"/>
            <a:ext cx="177456" cy="4053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5" name="矩形 284"/>
          <p:cNvSpPr/>
          <p:nvPr/>
        </p:nvSpPr>
        <p:spPr>
          <a:xfrm>
            <a:off x="6187695" y="3400980"/>
            <a:ext cx="177455" cy="6668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4199152" y="875329"/>
            <a:ext cx="1080034" cy="1096386"/>
            <a:chOff x="5765298" y="3550278"/>
            <a:chExt cx="1339878" cy="1363847"/>
          </a:xfrm>
        </p:grpSpPr>
        <p:sp>
          <p:nvSpPr>
            <p:cNvPr id="166" name="矩形 165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" name="图片 2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图片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图片 5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图片 6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图片 7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图片 8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图片 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图片 10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75" name="直接连接符 174"/>
          <p:cNvCxnSpPr/>
          <p:nvPr/>
        </p:nvCxnSpPr>
        <p:spPr>
          <a:xfrm>
            <a:off x="4947332" y="1615712"/>
            <a:ext cx="1049099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4181100" y="714711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4572828" y="556336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Path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585632" y="191074"/>
            <a:ext cx="4510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Heterogeneous Feature Projection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5601664" y="710225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/>
          <p:cNvSpPr/>
          <p:nvPr/>
        </p:nvSpPr>
        <p:spPr>
          <a:xfrm>
            <a:off x="6093023" y="543191"/>
            <a:ext cx="1958797" cy="2477283"/>
          </a:xfrm>
          <a:prstGeom prst="roundRect">
            <a:avLst>
              <a:gd name="adj" fmla="val 10356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: 圆角 89"/>
          <p:cNvSpPr/>
          <p:nvPr/>
        </p:nvSpPr>
        <p:spPr>
          <a:xfrm>
            <a:off x="8093506" y="543192"/>
            <a:ext cx="1261807" cy="2477282"/>
          </a:xfrm>
          <a:prstGeom prst="roundRect">
            <a:avLst>
              <a:gd name="adj" fmla="val 10356"/>
            </a:avLst>
          </a:prstGeom>
          <a:solidFill>
            <a:srgbClr val="EFF5FB"/>
          </a:solidFill>
          <a:ln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6156178" y="714573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6350473" y="556335"/>
            <a:ext cx="164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Frequence Path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7737935" y="716954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8248890" y="556335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Raw Path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8145715" y="716573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9119174" y="716573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组合 211"/>
          <p:cNvGrpSpPr/>
          <p:nvPr/>
        </p:nvGrpSpPr>
        <p:grpSpPr>
          <a:xfrm>
            <a:off x="4419275" y="2064146"/>
            <a:ext cx="790462" cy="717196"/>
            <a:chOff x="745382" y="1937274"/>
            <a:chExt cx="790462" cy="717196"/>
          </a:xfrm>
        </p:grpSpPr>
        <p:sp>
          <p:nvSpPr>
            <p:cNvPr id="109" name="立方体 108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立方体 127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立方体 128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立方体 129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立方体 130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立方体 131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立方体 132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立方体 133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立方体 134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立方体 135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立方体 137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立方体 138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立方体 139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立方体 140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立方体 141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立方体 142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立方体 143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立方体 144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立方体 146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1" name="文本框 150"/>
          <p:cNvSpPr txBox="1"/>
          <p:nvPr/>
        </p:nvSpPr>
        <p:spPr>
          <a:xfrm>
            <a:off x="4531926" y="2801764"/>
            <a:ext cx="983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Time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5" name="立方体 164"/>
          <p:cNvSpPr/>
          <p:nvPr/>
        </p:nvSpPr>
        <p:spPr>
          <a:xfrm flipH="1">
            <a:off x="5382156" y="1156557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7" name="直接连接符 176"/>
          <p:cNvCxnSpPr/>
          <p:nvPr/>
        </p:nvCxnSpPr>
        <p:spPr>
          <a:xfrm>
            <a:off x="4531926" y="1228209"/>
            <a:ext cx="968977" cy="14956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flipV="1">
            <a:off x="4947332" y="1108159"/>
            <a:ext cx="1014876" cy="11658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/>
        </p:nvSpPr>
        <p:spPr>
          <a:xfrm>
            <a:off x="5462448" y="1353354"/>
            <a:ext cx="650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Encoder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70" name="直接连接符 169"/>
          <p:cNvCxnSpPr/>
          <p:nvPr/>
        </p:nvCxnSpPr>
        <p:spPr>
          <a:xfrm>
            <a:off x="4515189" y="1620568"/>
            <a:ext cx="983367" cy="242916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箭头: 右弧形 201"/>
          <p:cNvSpPr/>
          <p:nvPr/>
        </p:nvSpPr>
        <p:spPr>
          <a:xfrm rot="1856806">
            <a:off x="5501707" y="1874843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5177451" y="2551396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6380584" y="2066973"/>
            <a:ext cx="787771" cy="730644"/>
            <a:chOff x="2362609" y="5155034"/>
            <a:chExt cx="787771" cy="730644"/>
          </a:xfrm>
        </p:grpSpPr>
        <p:sp>
          <p:nvSpPr>
            <p:cNvPr id="24" name="立方体 23"/>
            <p:cNvSpPr/>
            <p:nvPr/>
          </p:nvSpPr>
          <p:spPr>
            <a:xfrm>
              <a:off x="236260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立方体 24"/>
            <p:cNvSpPr/>
            <p:nvPr/>
          </p:nvSpPr>
          <p:spPr>
            <a:xfrm>
              <a:off x="252265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立方体 25"/>
            <p:cNvSpPr/>
            <p:nvPr/>
          </p:nvSpPr>
          <p:spPr>
            <a:xfrm>
              <a:off x="2692519" y="515503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立方体 27"/>
            <p:cNvSpPr/>
            <p:nvPr/>
          </p:nvSpPr>
          <p:spPr>
            <a:xfrm>
              <a:off x="286237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立方体 29"/>
            <p:cNvSpPr/>
            <p:nvPr/>
          </p:nvSpPr>
          <p:spPr>
            <a:xfrm>
              <a:off x="302242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/>
            <p:cNvSpPr/>
            <p:nvPr/>
          </p:nvSpPr>
          <p:spPr>
            <a:xfrm>
              <a:off x="236260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立方体 35"/>
            <p:cNvSpPr/>
            <p:nvPr/>
          </p:nvSpPr>
          <p:spPr>
            <a:xfrm>
              <a:off x="252265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立方体 36"/>
            <p:cNvSpPr/>
            <p:nvPr/>
          </p:nvSpPr>
          <p:spPr>
            <a:xfrm>
              <a:off x="2692519" y="53118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立方体 37"/>
            <p:cNvSpPr/>
            <p:nvPr/>
          </p:nvSpPr>
          <p:spPr>
            <a:xfrm>
              <a:off x="286237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立方体 38"/>
            <p:cNvSpPr/>
            <p:nvPr/>
          </p:nvSpPr>
          <p:spPr>
            <a:xfrm>
              <a:off x="302242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立方体 41"/>
            <p:cNvSpPr/>
            <p:nvPr/>
          </p:nvSpPr>
          <p:spPr>
            <a:xfrm>
              <a:off x="236260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立方体 42"/>
            <p:cNvSpPr/>
            <p:nvPr/>
          </p:nvSpPr>
          <p:spPr>
            <a:xfrm>
              <a:off x="252265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立方体 43"/>
            <p:cNvSpPr/>
            <p:nvPr/>
          </p:nvSpPr>
          <p:spPr>
            <a:xfrm>
              <a:off x="2692519" y="546268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立方体 45"/>
            <p:cNvSpPr/>
            <p:nvPr/>
          </p:nvSpPr>
          <p:spPr>
            <a:xfrm>
              <a:off x="286237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/>
            <p:cNvSpPr/>
            <p:nvPr/>
          </p:nvSpPr>
          <p:spPr>
            <a:xfrm>
              <a:off x="302242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立方体 47"/>
            <p:cNvSpPr/>
            <p:nvPr/>
          </p:nvSpPr>
          <p:spPr>
            <a:xfrm>
              <a:off x="236260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立方体 49"/>
            <p:cNvSpPr/>
            <p:nvPr/>
          </p:nvSpPr>
          <p:spPr>
            <a:xfrm>
              <a:off x="252265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立方体 51"/>
            <p:cNvSpPr/>
            <p:nvPr/>
          </p:nvSpPr>
          <p:spPr>
            <a:xfrm>
              <a:off x="2692519" y="561587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立方体 53"/>
            <p:cNvSpPr/>
            <p:nvPr/>
          </p:nvSpPr>
          <p:spPr>
            <a:xfrm>
              <a:off x="286237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立方体 54"/>
            <p:cNvSpPr/>
            <p:nvPr/>
          </p:nvSpPr>
          <p:spPr>
            <a:xfrm>
              <a:off x="302242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立方体 55"/>
            <p:cNvSpPr/>
            <p:nvPr/>
          </p:nvSpPr>
          <p:spPr>
            <a:xfrm>
              <a:off x="236260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立方体 56"/>
            <p:cNvSpPr/>
            <p:nvPr/>
          </p:nvSpPr>
          <p:spPr>
            <a:xfrm>
              <a:off x="252265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立方体 60"/>
            <p:cNvSpPr/>
            <p:nvPr/>
          </p:nvSpPr>
          <p:spPr>
            <a:xfrm>
              <a:off x="2692519" y="575926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立方体 61"/>
            <p:cNvSpPr/>
            <p:nvPr/>
          </p:nvSpPr>
          <p:spPr>
            <a:xfrm>
              <a:off x="286237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立方体 62"/>
            <p:cNvSpPr/>
            <p:nvPr/>
          </p:nvSpPr>
          <p:spPr>
            <a:xfrm>
              <a:off x="302242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202435" y="864112"/>
            <a:ext cx="1080034" cy="1096386"/>
            <a:chOff x="5765298" y="3550278"/>
            <a:chExt cx="1339878" cy="1363847"/>
          </a:xfrm>
        </p:grpSpPr>
        <p:sp>
          <p:nvSpPr>
            <p:cNvPr id="65" name="矩形 64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6" name="图片 65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7" name="图片 6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9" name="图片 68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0" name="图片 69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图片 70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3" name="图片 72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5" name="图片 74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9" name="图片 78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0" name="图片 7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59" name="组合 158"/>
          <p:cNvGrpSpPr/>
          <p:nvPr/>
        </p:nvGrpSpPr>
        <p:grpSpPr>
          <a:xfrm>
            <a:off x="8582508" y="1605187"/>
            <a:ext cx="654419" cy="246221"/>
            <a:chOff x="7037301" y="4830087"/>
            <a:chExt cx="654419" cy="246221"/>
          </a:xfrm>
        </p:grpSpPr>
        <p:sp>
          <p:nvSpPr>
            <p:cNvPr id="81" name="矩形: 圆角 80"/>
            <p:cNvSpPr/>
            <p:nvPr/>
          </p:nvSpPr>
          <p:spPr>
            <a:xfrm>
              <a:off x="7037301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096926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5" name="直接箭头连接符 84"/>
          <p:cNvCxnSpPr/>
          <p:nvPr/>
        </p:nvCxnSpPr>
        <p:spPr>
          <a:xfrm>
            <a:off x="8425046" y="1631846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6941232" y="1609231"/>
            <a:ext cx="1049099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立方体 105"/>
          <p:cNvSpPr/>
          <p:nvPr/>
        </p:nvSpPr>
        <p:spPr>
          <a:xfrm flipH="1">
            <a:off x="7376056" y="1150076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8" name="直接连接符 107"/>
          <p:cNvCxnSpPr/>
          <p:nvPr/>
        </p:nvCxnSpPr>
        <p:spPr>
          <a:xfrm>
            <a:off x="6525826" y="1221728"/>
            <a:ext cx="968977" cy="14956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6941232" y="1101678"/>
            <a:ext cx="1014876" cy="116582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6509089" y="1614087"/>
            <a:ext cx="983367" cy="242916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7431946" y="1337461"/>
            <a:ext cx="703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 Encoder</a:t>
            </a:r>
            <a:endParaRPr lang="zh-CN" altLang="en-US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4" name="箭头: 右弧形 113"/>
          <p:cNvSpPr/>
          <p:nvPr/>
        </p:nvSpPr>
        <p:spPr>
          <a:xfrm rot="1856806">
            <a:off x="7484091" y="1884622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7159835" y="2561175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6459821" y="2807396"/>
            <a:ext cx="138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8361599" y="809787"/>
            <a:ext cx="738728" cy="759181"/>
            <a:chOff x="4397416" y="3897848"/>
            <a:chExt cx="738728" cy="759181"/>
          </a:xfrm>
        </p:grpSpPr>
        <p:sp>
          <p:nvSpPr>
            <p:cNvPr id="154" name="矩形 153"/>
            <p:cNvSpPr/>
            <p:nvPr/>
          </p:nvSpPr>
          <p:spPr>
            <a:xfrm>
              <a:off x="4397416" y="3897848"/>
              <a:ext cx="738728" cy="75918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9" name="图片 118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4451310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0" name="图片 119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4451092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1" name="图片 120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4788448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4" name="图片 123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4788448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57" name="立方体 156"/>
          <p:cNvSpPr/>
          <p:nvPr/>
        </p:nvSpPr>
        <p:spPr>
          <a:xfrm>
            <a:off x="8191461" y="1894307"/>
            <a:ext cx="1086364" cy="127747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箭头: 右弧形 159"/>
          <p:cNvSpPr/>
          <p:nvPr/>
        </p:nvSpPr>
        <p:spPr>
          <a:xfrm rot="21121899" flipH="1">
            <a:off x="8145125" y="2078681"/>
            <a:ext cx="193710" cy="504014"/>
          </a:xfrm>
          <a:prstGeom prst="curvedLeftArrow">
            <a:avLst>
              <a:gd name="adj1" fmla="val 25000"/>
              <a:gd name="adj2" fmla="val 97417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8336251" y="2044124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8451109" y="2277810"/>
            <a:ext cx="627721" cy="573811"/>
            <a:chOff x="7127350" y="4511418"/>
            <a:chExt cx="627721" cy="573811"/>
          </a:xfrm>
        </p:grpSpPr>
        <p:sp>
          <p:nvSpPr>
            <p:cNvPr id="173" name="立方体 172"/>
            <p:cNvSpPr/>
            <p:nvPr/>
          </p:nvSpPr>
          <p:spPr>
            <a:xfrm>
              <a:off x="712735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立方体 173"/>
            <p:cNvSpPr/>
            <p:nvPr/>
          </p:nvSpPr>
          <p:spPr>
            <a:xfrm>
              <a:off x="728740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立方体 175"/>
            <p:cNvSpPr/>
            <p:nvPr/>
          </p:nvSpPr>
          <p:spPr>
            <a:xfrm>
              <a:off x="7457260" y="45114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立方体 177"/>
            <p:cNvSpPr/>
            <p:nvPr/>
          </p:nvSpPr>
          <p:spPr>
            <a:xfrm>
              <a:off x="7627120" y="451141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立方体 179"/>
            <p:cNvSpPr/>
            <p:nvPr/>
          </p:nvSpPr>
          <p:spPr>
            <a:xfrm>
              <a:off x="712735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立方体 180"/>
            <p:cNvSpPr/>
            <p:nvPr/>
          </p:nvSpPr>
          <p:spPr>
            <a:xfrm>
              <a:off x="728740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立方体 182"/>
            <p:cNvSpPr/>
            <p:nvPr/>
          </p:nvSpPr>
          <p:spPr>
            <a:xfrm>
              <a:off x="7457260" y="466223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立方体 185"/>
            <p:cNvSpPr/>
            <p:nvPr/>
          </p:nvSpPr>
          <p:spPr>
            <a:xfrm>
              <a:off x="7627120" y="466223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立方体 187"/>
            <p:cNvSpPr/>
            <p:nvPr/>
          </p:nvSpPr>
          <p:spPr>
            <a:xfrm>
              <a:off x="712735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立方体 188"/>
            <p:cNvSpPr/>
            <p:nvPr/>
          </p:nvSpPr>
          <p:spPr>
            <a:xfrm>
              <a:off x="728740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立方体 189"/>
            <p:cNvSpPr/>
            <p:nvPr/>
          </p:nvSpPr>
          <p:spPr>
            <a:xfrm>
              <a:off x="7457260" y="481542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立方体 190"/>
            <p:cNvSpPr/>
            <p:nvPr/>
          </p:nvSpPr>
          <p:spPr>
            <a:xfrm>
              <a:off x="7627120" y="481542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立方体 192"/>
            <p:cNvSpPr/>
            <p:nvPr/>
          </p:nvSpPr>
          <p:spPr>
            <a:xfrm>
              <a:off x="712735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立方体 193"/>
            <p:cNvSpPr/>
            <p:nvPr/>
          </p:nvSpPr>
          <p:spPr>
            <a:xfrm>
              <a:off x="728740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立方体 194"/>
            <p:cNvSpPr/>
            <p:nvPr/>
          </p:nvSpPr>
          <p:spPr>
            <a:xfrm>
              <a:off x="7457260" y="495881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立方体 195"/>
            <p:cNvSpPr/>
            <p:nvPr/>
          </p:nvSpPr>
          <p:spPr>
            <a:xfrm>
              <a:off x="7627120" y="495881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9" name="文本框 198"/>
          <p:cNvSpPr txBox="1"/>
          <p:nvPr/>
        </p:nvSpPr>
        <p:spPr>
          <a:xfrm>
            <a:off x="8296430" y="2807396"/>
            <a:ext cx="94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4328175" y="3020474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/>
          <p:nvPr/>
        </p:nvCxnSpPr>
        <p:spPr>
          <a:xfrm>
            <a:off x="5782074" y="3020474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6459821" y="3020474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>
            <a:off x="7779753" y="3020474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>
            <a:off x="4263288" y="3102628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7252659" y="3109359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6405234" y="3106366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953900" y="3102627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4299692" y="3581745"/>
            <a:ext cx="787771" cy="126417"/>
            <a:chOff x="368276" y="3330446"/>
            <a:chExt cx="787771" cy="126417"/>
          </a:xfrm>
        </p:grpSpPr>
        <p:sp>
          <p:nvSpPr>
            <p:cNvPr id="214" name="立方体 213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立方体 214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6" name="立方体 215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立方体 216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立方体 217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6218719" y="3440180"/>
            <a:ext cx="787771" cy="126417"/>
            <a:chOff x="2996246" y="3916743"/>
            <a:chExt cx="787771" cy="126417"/>
          </a:xfrm>
        </p:grpSpPr>
        <p:sp>
          <p:nvSpPr>
            <p:cNvPr id="241" name="立方体 240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立方体 241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立方体 242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立方体 244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6218719" y="3751665"/>
            <a:ext cx="787771" cy="126417"/>
            <a:chOff x="2996246" y="4147540"/>
            <a:chExt cx="787771" cy="126417"/>
          </a:xfrm>
        </p:grpSpPr>
        <p:sp>
          <p:nvSpPr>
            <p:cNvPr id="246" name="立方体 245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立方体 246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立方体 247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立方体 248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立方体 249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8" name="文本框 267"/>
          <p:cNvSpPr txBox="1"/>
          <p:nvPr/>
        </p:nvSpPr>
        <p:spPr>
          <a:xfrm>
            <a:off x="4204365" y="3695651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4853855" y="3695651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6123089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6797982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6123089" y="3864893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6797983" y="3883211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4497758" y="3595482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6401429" y="3446671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6397432" y="3777058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02" name="直接箭头连接符 301"/>
          <p:cNvCxnSpPr/>
          <p:nvPr/>
        </p:nvCxnSpPr>
        <p:spPr>
          <a:xfrm>
            <a:off x="5264674" y="4150345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组合 302"/>
          <p:cNvGrpSpPr/>
          <p:nvPr/>
        </p:nvGrpSpPr>
        <p:grpSpPr>
          <a:xfrm>
            <a:off x="4866026" y="4380951"/>
            <a:ext cx="787771" cy="126417"/>
            <a:chOff x="2996246" y="3916743"/>
            <a:chExt cx="787771" cy="126417"/>
          </a:xfrm>
        </p:grpSpPr>
        <p:sp>
          <p:nvSpPr>
            <p:cNvPr id="304" name="立方体 30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立方体 30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立方体 30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立方体 30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立方体 30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9" name="矩形 308"/>
          <p:cNvSpPr/>
          <p:nvPr/>
        </p:nvSpPr>
        <p:spPr>
          <a:xfrm>
            <a:off x="7744712" y="3525322"/>
            <a:ext cx="177456" cy="405337"/>
          </a:xfrm>
          <a:prstGeom prst="rect">
            <a:avLst/>
          </a:prstGeom>
          <a:solidFill>
            <a:srgbClr val="FCEBE0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7108676" y="3595860"/>
            <a:ext cx="787771" cy="126417"/>
            <a:chOff x="368276" y="3330446"/>
            <a:chExt cx="787771" cy="126417"/>
          </a:xfrm>
        </p:grpSpPr>
        <p:sp>
          <p:nvSpPr>
            <p:cNvPr id="311" name="立方体 310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立方体 311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3" name="立方体 312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立方体 313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立方体 314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6" name="文本框 315"/>
          <p:cNvSpPr txBox="1"/>
          <p:nvPr/>
        </p:nvSpPr>
        <p:spPr>
          <a:xfrm>
            <a:off x="7019699" y="370976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7677738" y="3704719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7274456" y="3585337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5838988" y="3400980"/>
            <a:ext cx="177455" cy="666861"/>
          </a:xfrm>
          <a:prstGeom prst="rect">
            <a:avLst/>
          </a:prstGeom>
          <a:solidFill>
            <a:srgbClr val="E8F3E1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1" name="组合 320"/>
          <p:cNvGrpSpPr/>
          <p:nvPr/>
        </p:nvGrpSpPr>
        <p:grpSpPr>
          <a:xfrm>
            <a:off x="5208015" y="3440180"/>
            <a:ext cx="787771" cy="126417"/>
            <a:chOff x="2996246" y="3916743"/>
            <a:chExt cx="787771" cy="126417"/>
          </a:xfrm>
        </p:grpSpPr>
        <p:sp>
          <p:nvSpPr>
            <p:cNvPr id="322" name="立方体 32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立方体 32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立方体 32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立方体 32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立方体 32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7" name="组合 326"/>
          <p:cNvGrpSpPr/>
          <p:nvPr/>
        </p:nvGrpSpPr>
        <p:grpSpPr>
          <a:xfrm>
            <a:off x="5208015" y="3751665"/>
            <a:ext cx="787771" cy="126417"/>
            <a:chOff x="2996246" y="4147540"/>
            <a:chExt cx="787771" cy="126417"/>
          </a:xfrm>
        </p:grpSpPr>
        <p:sp>
          <p:nvSpPr>
            <p:cNvPr id="328" name="立方体 327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立方体 328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立方体 329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立方体 330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立方体 331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3" name="文本框 332"/>
          <p:cNvSpPr txBox="1"/>
          <p:nvPr/>
        </p:nvSpPr>
        <p:spPr>
          <a:xfrm>
            <a:off x="5112385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5787278" y="35550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5112385" y="3864893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5789158" y="3858284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5390725" y="3760999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5386728" y="3448451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4406223" y="4126950"/>
            <a:ext cx="827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Time2Freq.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341" name="组合 340"/>
          <p:cNvGrpSpPr/>
          <p:nvPr/>
        </p:nvGrpSpPr>
        <p:grpSpPr>
          <a:xfrm>
            <a:off x="6628478" y="4367015"/>
            <a:ext cx="787771" cy="126417"/>
            <a:chOff x="2996246" y="3916743"/>
            <a:chExt cx="787771" cy="126417"/>
          </a:xfrm>
        </p:grpSpPr>
        <p:sp>
          <p:nvSpPr>
            <p:cNvPr id="342" name="立方体 34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立方体 34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立方体 34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立方体 34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立方体 34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7" name="文本框 346"/>
          <p:cNvSpPr txBox="1"/>
          <p:nvPr/>
        </p:nvSpPr>
        <p:spPr>
          <a:xfrm>
            <a:off x="7023540" y="4141045"/>
            <a:ext cx="89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Freq.2Time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48" name="连接符: 肘形 347"/>
          <p:cNvCxnSpPr>
            <a:stCxn id="320" idx="2"/>
            <a:endCxn id="309" idx="2"/>
          </p:cNvCxnSpPr>
          <p:nvPr/>
        </p:nvCxnSpPr>
        <p:spPr>
          <a:xfrm rot="5400000" flipH="1" flipV="1">
            <a:off x="6811987" y="3046388"/>
            <a:ext cx="137182" cy="1905724"/>
          </a:xfrm>
          <a:prstGeom prst="bentConnector3">
            <a:avLst>
              <a:gd name="adj1" fmla="val -79618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连接符: 肘形 290"/>
          <p:cNvCxnSpPr>
            <a:stCxn id="284" idx="2"/>
            <a:endCxn id="285" idx="2"/>
          </p:cNvCxnSpPr>
          <p:nvPr/>
        </p:nvCxnSpPr>
        <p:spPr>
          <a:xfrm rot="16200000" flipH="1">
            <a:off x="5241411" y="3032828"/>
            <a:ext cx="151297" cy="1918727"/>
          </a:xfrm>
          <a:prstGeom prst="bentConnector3">
            <a:avLst>
              <a:gd name="adj1" fmla="val 15036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/>
          <p:cNvCxnSpPr/>
          <p:nvPr/>
        </p:nvCxnSpPr>
        <p:spPr>
          <a:xfrm>
            <a:off x="7019081" y="4181215"/>
            <a:ext cx="0" cy="16292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6" name="组合 435"/>
          <p:cNvGrpSpPr/>
          <p:nvPr/>
        </p:nvGrpSpPr>
        <p:grpSpPr>
          <a:xfrm>
            <a:off x="4602907" y="4793270"/>
            <a:ext cx="1324873" cy="588194"/>
            <a:chOff x="1537322" y="4909634"/>
            <a:chExt cx="1324873" cy="588194"/>
          </a:xfrm>
        </p:grpSpPr>
        <p:sp>
          <p:nvSpPr>
            <p:cNvPr id="357" name="椭圆 356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椭圆 364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椭圆 365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椭圆 366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椭圆 371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椭圆 372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椭圆 373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椭圆 374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6" name="直接箭头连接符 375"/>
            <p:cNvCxnSpPr>
              <a:stCxn id="357" idx="4"/>
              <a:endCxn id="372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箭头连接符 378"/>
            <p:cNvCxnSpPr>
              <a:stCxn id="357" idx="4"/>
              <a:endCxn id="373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箭头连接符 381"/>
            <p:cNvCxnSpPr>
              <a:stCxn id="357" idx="4"/>
              <a:endCxn id="374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箭头连接符 385"/>
            <p:cNvCxnSpPr>
              <a:stCxn id="357" idx="4"/>
              <a:endCxn id="375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箭头连接符 388"/>
            <p:cNvCxnSpPr>
              <a:stCxn id="365" idx="4"/>
              <a:endCxn id="372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箭头连接符 391"/>
            <p:cNvCxnSpPr>
              <a:stCxn id="365" idx="4"/>
              <a:endCxn id="373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箭头连接符 394"/>
            <p:cNvCxnSpPr>
              <a:stCxn id="365" idx="4"/>
              <a:endCxn id="374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箭头连接符 397"/>
            <p:cNvCxnSpPr>
              <a:stCxn id="365" idx="4"/>
              <a:endCxn id="375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箭头连接符 408"/>
            <p:cNvCxnSpPr>
              <a:stCxn id="366" idx="4"/>
              <a:endCxn id="372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箭头连接符 411"/>
            <p:cNvCxnSpPr>
              <a:stCxn id="366" idx="4"/>
              <a:endCxn id="373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箭头连接符 414"/>
            <p:cNvCxnSpPr>
              <a:stCxn id="366" idx="4"/>
              <a:endCxn id="374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箭头连接符 417"/>
            <p:cNvCxnSpPr>
              <a:stCxn id="366" idx="4"/>
              <a:endCxn id="375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箭头连接符 420"/>
            <p:cNvCxnSpPr>
              <a:stCxn id="367" idx="4"/>
              <a:endCxn id="372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箭头连接符 423"/>
            <p:cNvCxnSpPr>
              <a:stCxn id="367" idx="4"/>
              <a:endCxn id="373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箭头连接符 426"/>
            <p:cNvCxnSpPr>
              <a:stCxn id="367" idx="4"/>
              <a:endCxn id="374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/>
            <p:cNvCxnSpPr>
              <a:stCxn id="367" idx="4"/>
              <a:endCxn id="375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5" name="文本框 434"/>
          <p:cNvSpPr txBox="1"/>
          <p:nvPr/>
        </p:nvSpPr>
        <p:spPr>
          <a:xfrm>
            <a:off x="5050380" y="5316436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0" name="连接符: 肘形 449"/>
          <p:cNvCxnSpPr>
            <a:endCxn id="434" idx="1"/>
          </p:cNvCxnSpPr>
          <p:nvPr/>
        </p:nvCxnSpPr>
        <p:spPr>
          <a:xfrm rot="16200000" flipH="1">
            <a:off x="3283306" y="3919376"/>
            <a:ext cx="2111661" cy="282198"/>
          </a:xfrm>
          <a:prstGeom prst="bentConnector2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文本框 451"/>
          <p:cNvSpPr txBox="1"/>
          <p:nvPr/>
        </p:nvSpPr>
        <p:spPr>
          <a:xfrm>
            <a:off x="4115220" y="4874060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/>
          <p:cNvCxnSpPr/>
          <p:nvPr/>
        </p:nvCxnSpPr>
        <p:spPr>
          <a:xfrm>
            <a:off x="5264674" y="4541565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矩形: 圆角 456"/>
          <p:cNvSpPr/>
          <p:nvPr/>
        </p:nvSpPr>
        <p:spPr>
          <a:xfrm>
            <a:off x="6230959" y="4722540"/>
            <a:ext cx="1521014" cy="79548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8" name="组合 457"/>
          <p:cNvGrpSpPr/>
          <p:nvPr/>
        </p:nvGrpSpPr>
        <p:grpSpPr>
          <a:xfrm>
            <a:off x="6366356" y="4793270"/>
            <a:ext cx="1324873" cy="588194"/>
            <a:chOff x="1537322" y="4909634"/>
            <a:chExt cx="1324873" cy="588194"/>
          </a:xfrm>
        </p:grpSpPr>
        <p:sp>
          <p:nvSpPr>
            <p:cNvPr id="459" name="椭圆 458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0" name="椭圆 459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椭圆 460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椭圆 461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3" name="椭圆 462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4" name="椭圆 463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5" name="椭圆 464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6" name="椭圆 465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7" name="直接箭头连接符 466"/>
            <p:cNvCxnSpPr>
              <a:stCxn id="459" idx="4"/>
              <a:endCxn id="463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箭头连接符 467"/>
            <p:cNvCxnSpPr>
              <a:stCxn id="459" idx="4"/>
              <a:endCxn id="464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箭头连接符 468"/>
            <p:cNvCxnSpPr>
              <a:stCxn id="459" idx="4"/>
              <a:endCxn id="465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箭头连接符 469"/>
            <p:cNvCxnSpPr>
              <a:stCxn id="459" idx="4"/>
              <a:endCxn id="466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箭头连接符 470"/>
            <p:cNvCxnSpPr>
              <a:stCxn id="460" idx="4"/>
              <a:endCxn id="463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箭头连接符 471"/>
            <p:cNvCxnSpPr>
              <a:stCxn id="460" idx="4"/>
              <a:endCxn id="464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箭头连接符 472"/>
            <p:cNvCxnSpPr>
              <a:stCxn id="460" idx="4"/>
              <a:endCxn id="465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箭头连接符 473"/>
            <p:cNvCxnSpPr>
              <a:stCxn id="460" idx="4"/>
              <a:endCxn id="466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箭头连接符 474"/>
            <p:cNvCxnSpPr>
              <a:stCxn id="461" idx="4"/>
              <a:endCxn id="463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箭头连接符 475"/>
            <p:cNvCxnSpPr>
              <a:stCxn id="461" idx="4"/>
              <a:endCxn id="464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箭头连接符 476"/>
            <p:cNvCxnSpPr>
              <a:stCxn id="461" idx="4"/>
              <a:endCxn id="465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箭头连接符 477"/>
            <p:cNvCxnSpPr>
              <a:stCxn id="461" idx="4"/>
              <a:endCxn id="466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箭头连接符 478"/>
            <p:cNvCxnSpPr>
              <a:stCxn id="462" idx="4"/>
              <a:endCxn id="463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箭头连接符 479"/>
            <p:cNvCxnSpPr>
              <a:stCxn id="462" idx="4"/>
              <a:endCxn id="464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箭头连接符 480"/>
            <p:cNvCxnSpPr>
              <a:stCxn id="462" idx="4"/>
              <a:endCxn id="465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箭头连接符 481"/>
            <p:cNvCxnSpPr>
              <a:stCxn id="462" idx="4"/>
              <a:endCxn id="466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3" name="文本框 482"/>
          <p:cNvSpPr txBox="1"/>
          <p:nvPr/>
        </p:nvSpPr>
        <p:spPr>
          <a:xfrm>
            <a:off x="6813829" y="5322152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/>
          <p:cNvCxnSpPr/>
          <p:nvPr/>
        </p:nvCxnSpPr>
        <p:spPr>
          <a:xfrm>
            <a:off x="7020503" y="4541565"/>
            <a:ext cx="0" cy="18097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连接符: 肘形 484"/>
          <p:cNvCxnSpPr>
            <a:endCxn id="457" idx="3"/>
          </p:cNvCxnSpPr>
          <p:nvPr/>
        </p:nvCxnSpPr>
        <p:spPr>
          <a:xfrm rot="5400000">
            <a:off x="6815940" y="3926983"/>
            <a:ext cx="2129331" cy="257264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文本框 487"/>
          <p:cNvSpPr txBox="1"/>
          <p:nvPr/>
        </p:nvSpPr>
        <p:spPr>
          <a:xfrm>
            <a:off x="7676703" y="4874060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04" name="组合 503"/>
          <p:cNvGrpSpPr/>
          <p:nvPr/>
        </p:nvGrpSpPr>
        <p:grpSpPr>
          <a:xfrm>
            <a:off x="6001949" y="5614390"/>
            <a:ext cx="216000" cy="216000"/>
            <a:chOff x="6047417" y="5336099"/>
            <a:chExt cx="288000" cy="288000"/>
          </a:xfrm>
        </p:grpSpPr>
        <p:sp>
          <p:nvSpPr>
            <p:cNvPr id="494" name="椭圆 493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6" name="直接连接符 495"/>
            <p:cNvCxnSpPr>
              <a:stCxn id="494" idx="2"/>
              <a:endCxn id="494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>
              <a:stCxn id="494" idx="0"/>
              <a:endCxn id="494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6" name="连接符: 肘形 505"/>
          <p:cNvCxnSpPr>
            <a:stCxn id="434" idx="2"/>
            <a:endCxn id="494" idx="2"/>
          </p:cNvCxnSpPr>
          <p:nvPr/>
        </p:nvCxnSpPr>
        <p:spPr>
          <a:xfrm rot="16200000" flipH="1">
            <a:off x="5517174" y="5237614"/>
            <a:ext cx="208343" cy="761207"/>
          </a:xfrm>
          <a:prstGeom prst="bentConnector2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连接符: 肘形 509"/>
          <p:cNvCxnSpPr>
            <a:stCxn id="457" idx="2"/>
            <a:endCxn id="494" idx="6"/>
          </p:cNvCxnSpPr>
          <p:nvPr/>
        </p:nvCxnSpPr>
        <p:spPr>
          <a:xfrm rot="5400000">
            <a:off x="6502524" y="5233448"/>
            <a:ext cx="204368" cy="773517"/>
          </a:xfrm>
          <a:prstGeom prst="bentConnector2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5" name="组合 514"/>
          <p:cNvGrpSpPr/>
          <p:nvPr/>
        </p:nvGrpSpPr>
        <p:grpSpPr>
          <a:xfrm>
            <a:off x="6252445" y="5825825"/>
            <a:ext cx="654419" cy="246221"/>
            <a:chOff x="6949893" y="4830087"/>
            <a:chExt cx="654419" cy="246221"/>
          </a:xfrm>
        </p:grpSpPr>
        <p:sp>
          <p:nvSpPr>
            <p:cNvPr id="516" name="矩形: 圆角 515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6D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17" name="文本框 516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rgbClr val="FF6D6D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8" name="直接箭头连接符 517"/>
          <p:cNvCxnSpPr/>
          <p:nvPr/>
        </p:nvCxnSpPr>
        <p:spPr>
          <a:xfrm>
            <a:off x="6112016" y="5867724"/>
            <a:ext cx="0" cy="208434"/>
          </a:xfrm>
          <a:prstGeom prst="straightConnector1">
            <a:avLst/>
          </a:prstGeom>
          <a:ln w="12700">
            <a:solidFill>
              <a:srgbClr val="FF6D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立方体 518"/>
          <p:cNvSpPr/>
          <p:nvPr/>
        </p:nvSpPr>
        <p:spPr>
          <a:xfrm>
            <a:off x="5373495" y="6122565"/>
            <a:ext cx="1465793" cy="115547"/>
          </a:xfrm>
          <a:prstGeom prst="cube">
            <a:avLst/>
          </a:prstGeom>
          <a:solidFill>
            <a:srgbClr val="FFE1E1"/>
          </a:solidFill>
          <a:ln>
            <a:solidFill>
              <a:srgbClr val="FF6D6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/>
          <p:cNvSpPr txBox="1"/>
          <p:nvPr/>
        </p:nvSpPr>
        <p:spPr>
          <a:xfrm>
            <a:off x="4242554" y="6225513"/>
            <a:ext cx="3688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Dual-domain Cross-attention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5" name="文本框 534"/>
          <p:cNvSpPr txBox="1"/>
          <p:nvPr/>
        </p:nvSpPr>
        <p:spPr>
          <a:xfrm>
            <a:off x="8579541" y="3337470"/>
            <a:ext cx="920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Fused Features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38" name="组合 537"/>
          <p:cNvGrpSpPr/>
          <p:nvPr/>
        </p:nvGrpSpPr>
        <p:grpSpPr>
          <a:xfrm>
            <a:off x="8570693" y="3216730"/>
            <a:ext cx="216000" cy="216000"/>
            <a:chOff x="6047417" y="5336099"/>
            <a:chExt cx="288000" cy="288000"/>
          </a:xfrm>
        </p:grpSpPr>
        <p:sp>
          <p:nvSpPr>
            <p:cNvPr id="539" name="椭圆 538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0" name="直接连接符 539"/>
            <p:cNvCxnSpPr>
              <a:stCxn id="539" idx="2"/>
              <a:endCxn id="539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>
              <a:stCxn id="539" idx="0"/>
              <a:endCxn id="539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1" name="直接箭头连接符 570"/>
          <p:cNvCxnSpPr/>
          <p:nvPr/>
        </p:nvCxnSpPr>
        <p:spPr>
          <a:xfrm>
            <a:off x="8678592" y="3024035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连接符: 肘形 577"/>
          <p:cNvCxnSpPr>
            <a:stCxn id="519" idx="5"/>
            <a:endCxn id="539" idx="2"/>
          </p:cNvCxnSpPr>
          <p:nvPr/>
        </p:nvCxnSpPr>
        <p:spPr>
          <a:xfrm flipV="1">
            <a:off x="6839288" y="3324730"/>
            <a:ext cx="1731405" cy="2841165"/>
          </a:xfrm>
          <a:prstGeom prst="bentConnector3">
            <a:avLst>
              <a:gd name="adj1" fmla="val 73839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接箭头连接符 580"/>
          <p:cNvCxnSpPr/>
          <p:nvPr/>
        </p:nvCxnSpPr>
        <p:spPr>
          <a:xfrm>
            <a:off x="8679034" y="3467816"/>
            <a:ext cx="0" cy="227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3" name="组合 582"/>
          <p:cNvGrpSpPr/>
          <p:nvPr/>
        </p:nvGrpSpPr>
        <p:grpSpPr>
          <a:xfrm>
            <a:off x="8358604" y="3739918"/>
            <a:ext cx="787771" cy="126417"/>
            <a:chOff x="2996246" y="3916743"/>
            <a:chExt cx="787771" cy="126417"/>
          </a:xfrm>
        </p:grpSpPr>
        <p:sp>
          <p:nvSpPr>
            <p:cNvPr id="584" name="立方体 58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立方体 58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立方体 58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立方体 58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EE2F5"/>
            </a:solidFill>
            <a:ln w="9525"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立方体 58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3" name="文本框 592"/>
          <p:cNvSpPr txBox="1"/>
          <p:nvPr/>
        </p:nvSpPr>
        <p:spPr>
          <a:xfrm rot="5400000">
            <a:off x="8177842" y="4604814"/>
            <a:ext cx="2357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Topological Embedding</a:t>
            </a:r>
            <a:endParaRPr lang="en-US" altLang="zh-CN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04" name="图片 60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95" y="3839454"/>
            <a:ext cx="346570" cy="346570"/>
          </a:xfrm>
          <a:prstGeom prst="rect">
            <a:avLst/>
          </a:prstGeom>
        </p:spPr>
      </p:pic>
      <p:sp>
        <p:nvSpPr>
          <p:cNvPr id="607" name="文本框 606"/>
          <p:cNvSpPr txBox="1"/>
          <p:nvPr/>
        </p:nvSpPr>
        <p:spPr>
          <a:xfrm>
            <a:off x="8343241" y="3903218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Embedding_1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08" name="图片 6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445" y="4673174"/>
            <a:ext cx="346570" cy="346570"/>
          </a:xfrm>
          <a:prstGeom prst="rect">
            <a:avLst/>
          </a:prstGeom>
        </p:spPr>
      </p:pic>
      <p:sp>
        <p:nvSpPr>
          <p:cNvPr id="609" name="文本框 608"/>
          <p:cNvSpPr txBox="1"/>
          <p:nvPr/>
        </p:nvSpPr>
        <p:spPr>
          <a:xfrm>
            <a:off x="8349591" y="4736938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Embedding_2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445" y="5524004"/>
            <a:ext cx="346570" cy="346570"/>
          </a:xfrm>
          <a:prstGeom prst="rect">
            <a:avLst/>
          </a:prstGeom>
        </p:spPr>
      </p:pic>
      <p:sp>
        <p:nvSpPr>
          <p:cNvPr id="611" name="文本框 610"/>
          <p:cNvSpPr txBox="1"/>
          <p:nvPr/>
        </p:nvSpPr>
        <p:spPr>
          <a:xfrm>
            <a:off x="8349591" y="5587768"/>
            <a:ext cx="1005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Embedding_3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3" name="矩形 612"/>
          <p:cNvSpPr/>
          <p:nvPr/>
        </p:nvSpPr>
        <p:spPr>
          <a:xfrm>
            <a:off x="8377983" y="4265637"/>
            <a:ext cx="121017" cy="146293"/>
          </a:xfrm>
          <a:prstGeom prst="rect">
            <a:avLst/>
          </a:prstGeom>
          <a:solidFill>
            <a:srgbClr val="D5F1FF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" name="矩形 613"/>
          <p:cNvSpPr/>
          <p:nvPr/>
        </p:nvSpPr>
        <p:spPr>
          <a:xfrm>
            <a:off x="8372842" y="4477955"/>
            <a:ext cx="121017" cy="146293"/>
          </a:xfrm>
          <a:prstGeom prst="rect">
            <a:avLst/>
          </a:prstGeom>
          <a:solidFill>
            <a:srgbClr val="FEDEEC"/>
          </a:solidFill>
          <a:ln>
            <a:solidFill>
              <a:srgbClr val="F7B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文本框 614"/>
          <p:cNvSpPr txBox="1"/>
          <p:nvPr/>
        </p:nvSpPr>
        <p:spPr>
          <a:xfrm>
            <a:off x="8539597" y="4231827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9DC3E6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Frontal</a:t>
            </a:r>
            <a:endParaRPr lang="zh-CN" altLang="en-US" sz="1000" dirty="0">
              <a:solidFill>
                <a:srgbClr val="9DC3E6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6" name="文本框 615"/>
          <p:cNvSpPr txBox="1"/>
          <p:nvPr/>
        </p:nvSpPr>
        <p:spPr>
          <a:xfrm>
            <a:off x="8526273" y="4429092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7B5F9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Parietal</a:t>
            </a:r>
            <a:endParaRPr lang="zh-CN" altLang="en-US" sz="1000" dirty="0">
              <a:solidFill>
                <a:srgbClr val="F7B5F9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7" name="文本框 616"/>
          <p:cNvSpPr txBox="1"/>
          <p:nvPr/>
        </p:nvSpPr>
        <p:spPr>
          <a:xfrm>
            <a:off x="8571398" y="4469146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8" name="矩形 617"/>
          <p:cNvSpPr/>
          <p:nvPr/>
        </p:nvSpPr>
        <p:spPr>
          <a:xfrm>
            <a:off x="8264064" y="5089269"/>
            <a:ext cx="121017" cy="1462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9" name="矩形 618"/>
          <p:cNvSpPr/>
          <p:nvPr/>
        </p:nvSpPr>
        <p:spPr>
          <a:xfrm>
            <a:off x="8258923" y="5301587"/>
            <a:ext cx="121017" cy="1462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0" name="文本框 619"/>
          <p:cNvSpPr txBox="1"/>
          <p:nvPr/>
        </p:nvSpPr>
        <p:spPr>
          <a:xfrm>
            <a:off x="8425678" y="5055459"/>
            <a:ext cx="897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(Frontal) Fz</a:t>
            </a:r>
            <a:endParaRPr lang="zh-CN" altLang="en-US" sz="1000" dirty="0">
              <a:solidFill>
                <a:schemeClr val="accent4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1" name="文本框 620"/>
          <p:cNvSpPr txBox="1"/>
          <p:nvPr/>
        </p:nvSpPr>
        <p:spPr>
          <a:xfrm>
            <a:off x="8412353" y="5252724"/>
            <a:ext cx="9429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(Parietal) </a:t>
            </a:r>
            <a:r>
              <a:rPr lang="en-US" altLang="zh-CN" sz="1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8585231" y="5292778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/>
          <p:cNvSpPr txBox="1"/>
          <p:nvPr/>
        </p:nvSpPr>
        <p:spPr>
          <a:xfrm>
            <a:off x="8255428" y="4057579"/>
            <a:ext cx="1117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region_ 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5" name="文本框 624"/>
          <p:cNvSpPr txBox="1"/>
          <p:nvPr/>
        </p:nvSpPr>
        <p:spPr>
          <a:xfrm>
            <a:off x="8200743" y="4899740"/>
            <a:ext cx="11342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reg_pos_embedding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7" name="文本框 626"/>
          <p:cNvSpPr txBox="1"/>
          <p:nvPr/>
        </p:nvSpPr>
        <p:spPr>
          <a:xfrm>
            <a:off x="8177302" y="5742261"/>
            <a:ext cx="1253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positional_embedding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8" name="矩形 627"/>
          <p:cNvSpPr/>
          <p:nvPr/>
        </p:nvSpPr>
        <p:spPr>
          <a:xfrm>
            <a:off x="8486822" y="5935690"/>
            <a:ext cx="121017" cy="146293"/>
          </a:xfrm>
          <a:prstGeom prst="rect">
            <a:avLst/>
          </a:prstGeom>
          <a:solidFill>
            <a:srgbClr val="EAE9E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9" name="矩形 628"/>
          <p:cNvSpPr/>
          <p:nvPr/>
        </p:nvSpPr>
        <p:spPr>
          <a:xfrm>
            <a:off x="8488405" y="6148008"/>
            <a:ext cx="121017" cy="146293"/>
          </a:xfrm>
          <a:prstGeom prst="rect">
            <a:avLst/>
          </a:prstGeom>
          <a:solidFill>
            <a:srgbClr val="E1B4FA"/>
          </a:solidFill>
          <a:ln>
            <a:solidFill>
              <a:srgbClr val="B17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0" name="文本框 629"/>
          <p:cNvSpPr txBox="1"/>
          <p:nvPr/>
        </p:nvSpPr>
        <p:spPr>
          <a:xfrm>
            <a:off x="8648436" y="5901880"/>
            <a:ext cx="527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Fz: 0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8662007" y="6099145"/>
            <a:ext cx="459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r>
              <a:rPr lang="en-US" altLang="zh-CN" sz="1000" dirty="0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: 1</a:t>
            </a:r>
            <a:endParaRPr lang="zh-CN" altLang="en-US" sz="1000" dirty="0">
              <a:solidFill>
                <a:srgbClr val="B174F4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2" name="文本框 631"/>
          <p:cNvSpPr txBox="1"/>
          <p:nvPr/>
        </p:nvSpPr>
        <p:spPr>
          <a:xfrm>
            <a:off x="8599556" y="6145923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318230" y="199653"/>
            <a:ext cx="1539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Augmentation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2428799" y="3008801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Add Gaussian Noise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520542" y="2144494"/>
            <a:ext cx="1209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Channel Dropout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2470725" y="1234332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Random Time Shift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06" y="554301"/>
            <a:ext cx="1297176" cy="720000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06" y="1459696"/>
            <a:ext cx="1295339" cy="720000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606" y="2335471"/>
            <a:ext cx="1295340" cy="720000"/>
          </a:xfrm>
          <a:prstGeom prst="rect">
            <a:avLst/>
          </a:prstGeom>
        </p:spPr>
      </p:pic>
      <p:sp>
        <p:nvSpPr>
          <p:cNvPr id="636" name="矩形: 圆角 635"/>
          <p:cNvSpPr/>
          <p:nvPr/>
        </p:nvSpPr>
        <p:spPr>
          <a:xfrm>
            <a:off x="2259534" y="367715"/>
            <a:ext cx="1599417" cy="2887307"/>
          </a:xfrm>
          <a:custGeom>
            <a:avLst/>
            <a:gdLst>
              <a:gd name="connsiteX0" fmla="*/ 0 w 1898866"/>
              <a:gd name="connsiteY0" fmla="*/ 110818 h 3587576"/>
              <a:gd name="connsiteX1" fmla="*/ 110818 w 1898866"/>
              <a:gd name="connsiteY1" fmla="*/ 0 h 3587576"/>
              <a:gd name="connsiteX2" fmla="*/ 1788048 w 1898866"/>
              <a:gd name="connsiteY2" fmla="*/ 0 h 3587576"/>
              <a:gd name="connsiteX3" fmla="*/ 1898866 w 1898866"/>
              <a:gd name="connsiteY3" fmla="*/ 110818 h 3587576"/>
              <a:gd name="connsiteX4" fmla="*/ 1898866 w 1898866"/>
              <a:gd name="connsiteY4" fmla="*/ 3476758 h 3587576"/>
              <a:gd name="connsiteX5" fmla="*/ 1788048 w 1898866"/>
              <a:gd name="connsiteY5" fmla="*/ 3587576 h 3587576"/>
              <a:gd name="connsiteX6" fmla="*/ 110818 w 1898866"/>
              <a:gd name="connsiteY6" fmla="*/ 3587576 h 3587576"/>
              <a:gd name="connsiteX7" fmla="*/ 0 w 1898866"/>
              <a:gd name="connsiteY7" fmla="*/ 3476758 h 3587576"/>
              <a:gd name="connsiteX8" fmla="*/ 0 w 1898866"/>
              <a:gd name="connsiteY8" fmla="*/ 110818 h 3587576"/>
              <a:gd name="connsiteX0-1" fmla="*/ 0 w 1898866"/>
              <a:gd name="connsiteY0-2" fmla="*/ 110818 h 3587576"/>
              <a:gd name="connsiteX1-3" fmla="*/ 110818 w 1898866"/>
              <a:gd name="connsiteY1-4" fmla="*/ 0 h 3587576"/>
              <a:gd name="connsiteX2-5" fmla="*/ 240265 w 1898866"/>
              <a:gd name="connsiteY2-6" fmla="*/ 703 h 3587576"/>
              <a:gd name="connsiteX3-7" fmla="*/ 1788048 w 1898866"/>
              <a:gd name="connsiteY3-8" fmla="*/ 0 h 3587576"/>
              <a:gd name="connsiteX4-9" fmla="*/ 1898866 w 1898866"/>
              <a:gd name="connsiteY4-10" fmla="*/ 110818 h 3587576"/>
              <a:gd name="connsiteX5-11" fmla="*/ 1898866 w 1898866"/>
              <a:gd name="connsiteY5-12" fmla="*/ 3476758 h 3587576"/>
              <a:gd name="connsiteX6-13" fmla="*/ 1788048 w 1898866"/>
              <a:gd name="connsiteY6-14" fmla="*/ 3587576 h 3587576"/>
              <a:gd name="connsiteX7-15" fmla="*/ 110818 w 1898866"/>
              <a:gd name="connsiteY7-16" fmla="*/ 3587576 h 3587576"/>
              <a:gd name="connsiteX8-17" fmla="*/ 0 w 1898866"/>
              <a:gd name="connsiteY8-18" fmla="*/ 3476758 h 3587576"/>
              <a:gd name="connsiteX9" fmla="*/ 0 w 1898866"/>
              <a:gd name="connsiteY9" fmla="*/ 110818 h 3587576"/>
              <a:gd name="connsiteX0-19" fmla="*/ 0 w 1898866"/>
              <a:gd name="connsiteY0-20" fmla="*/ 112496 h 3589254"/>
              <a:gd name="connsiteX1-21" fmla="*/ 110818 w 1898866"/>
              <a:gd name="connsiteY1-22" fmla="*/ 1678 h 3589254"/>
              <a:gd name="connsiteX2-23" fmla="*/ 240265 w 1898866"/>
              <a:gd name="connsiteY2-24" fmla="*/ 2381 h 3589254"/>
              <a:gd name="connsiteX3-25" fmla="*/ 1678540 w 1898866"/>
              <a:gd name="connsiteY3-26" fmla="*/ 0 h 3589254"/>
              <a:gd name="connsiteX4-27" fmla="*/ 1788048 w 1898866"/>
              <a:gd name="connsiteY4-28" fmla="*/ 1678 h 3589254"/>
              <a:gd name="connsiteX5-29" fmla="*/ 1898866 w 1898866"/>
              <a:gd name="connsiteY5-30" fmla="*/ 112496 h 3589254"/>
              <a:gd name="connsiteX6-31" fmla="*/ 1898866 w 1898866"/>
              <a:gd name="connsiteY6-32" fmla="*/ 3478436 h 3589254"/>
              <a:gd name="connsiteX7-33" fmla="*/ 1788048 w 1898866"/>
              <a:gd name="connsiteY7-34" fmla="*/ 3589254 h 3589254"/>
              <a:gd name="connsiteX8-35" fmla="*/ 110818 w 1898866"/>
              <a:gd name="connsiteY8-36" fmla="*/ 3589254 h 3589254"/>
              <a:gd name="connsiteX9-37" fmla="*/ 0 w 1898866"/>
              <a:gd name="connsiteY9-38" fmla="*/ 3478436 h 3589254"/>
              <a:gd name="connsiteX10" fmla="*/ 0 w 1898866"/>
              <a:gd name="connsiteY10" fmla="*/ 112496 h 3589254"/>
              <a:gd name="connsiteX0-39" fmla="*/ 1678540 w 1898866"/>
              <a:gd name="connsiteY0-40" fmla="*/ 0 h 3589254"/>
              <a:gd name="connsiteX1-41" fmla="*/ 1788048 w 1898866"/>
              <a:gd name="connsiteY1-42" fmla="*/ 1678 h 3589254"/>
              <a:gd name="connsiteX2-43" fmla="*/ 1898866 w 1898866"/>
              <a:gd name="connsiteY2-44" fmla="*/ 112496 h 3589254"/>
              <a:gd name="connsiteX3-45" fmla="*/ 1898866 w 1898866"/>
              <a:gd name="connsiteY3-46" fmla="*/ 3478436 h 3589254"/>
              <a:gd name="connsiteX4-47" fmla="*/ 1788048 w 1898866"/>
              <a:gd name="connsiteY4-48" fmla="*/ 3589254 h 3589254"/>
              <a:gd name="connsiteX5-49" fmla="*/ 110818 w 1898866"/>
              <a:gd name="connsiteY5-50" fmla="*/ 3589254 h 3589254"/>
              <a:gd name="connsiteX6-51" fmla="*/ 0 w 1898866"/>
              <a:gd name="connsiteY6-52" fmla="*/ 3478436 h 3589254"/>
              <a:gd name="connsiteX7-53" fmla="*/ 0 w 1898866"/>
              <a:gd name="connsiteY7-54" fmla="*/ 112496 h 3589254"/>
              <a:gd name="connsiteX8-55" fmla="*/ 110818 w 1898866"/>
              <a:gd name="connsiteY8-56" fmla="*/ 1678 h 3589254"/>
              <a:gd name="connsiteX9-57" fmla="*/ 240265 w 1898866"/>
              <a:gd name="connsiteY9-58" fmla="*/ 2381 h 3589254"/>
              <a:gd name="connsiteX10-59" fmla="*/ 1769980 w 1898866"/>
              <a:gd name="connsiteY10-60" fmla="*/ 91440 h 3589254"/>
              <a:gd name="connsiteX0-61" fmla="*/ 1678540 w 1898866"/>
              <a:gd name="connsiteY0-62" fmla="*/ 0 h 3589254"/>
              <a:gd name="connsiteX1-63" fmla="*/ 1788048 w 1898866"/>
              <a:gd name="connsiteY1-64" fmla="*/ 1678 h 3589254"/>
              <a:gd name="connsiteX2-65" fmla="*/ 1898866 w 1898866"/>
              <a:gd name="connsiteY2-66" fmla="*/ 112496 h 3589254"/>
              <a:gd name="connsiteX3-67" fmla="*/ 1898866 w 1898866"/>
              <a:gd name="connsiteY3-68" fmla="*/ 3478436 h 3589254"/>
              <a:gd name="connsiteX4-69" fmla="*/ 1788048 w 1898866"/>
              <a:gd name="connsiteY4-70" fmla="*/ 3589254 h 3589254"/>
              <a:gd name="connsiteX5-71" fmla="*/ 110818 w 1898866"/>
              <a:gd name="connsiteY5-72" fmla="*/ 3589254 h 3589254"/>
              <a:gd name="connsiteX6-73" fmla="*/ 0 w 1898866"/>
              <a:gd name="connsiteY6-74" fmla="*/ 3478436 h 3589254"/>
              <a:gd name="connsiteX7-75" fmla="*/ 0 w 1898866"/>
              <a:gd name="connsiteY7-76" fmla="*/ 112496 h 3589254"/>
              <a:gd name="connsiteX8-77" fmla="*/ 110818 w 1898866"/>
              <a:gd name="connsiteY8-78" fmla="*/ 1678 h 3589254"/>
              <a:gd name="connsiteX9-79" fmla="*/ 240265 w 1898866"/>
              <a:gd name="connsiteY9-80" fmla="*/ 2381 h 3589254"/>
              <a:gd name="connsiteX0-81" fmla="*/ 1678540 w 1898866"/>
              <a:gd name="connsiteY0-82" fmla="*/ 0 h 3589254"/>
              <a:gd name="connsiteX1-83" fmla="*/ 1788048 w 1898866"/>
              <a:gd name="connsiteY1-84" fmla="*/ 1678 h 3589254"/>
              <a:gd name="connsiteX2-85" fmla="*/ 1898866 w 1898866"/>
              <a:gd name="connsiteY2-86" fmla="*/ 112496 h 3589254"/>
              <a:gd name="connsiteX3-87" fmla="*/ 1898866 w 1898866"/>
              <a:gd name="connsiteY3-88" fmla="*/ 3478436 h 3589254"/>
              <a:gd name="connsiteX4-89" fmla="*/ 1788048 w 1898866"/>
              <a:gd name="connsiteY4-90" fmla="*/ 3589254 h 3589254"/>
              <a:gd name="connsiteX5-91" fmla="*/ 110818 w 1898866"/>
              <a:gd name="connsiteY5-92" fmla="*/ 3589254 h 3589254"/>
              <a:gd name="connsiteX6-93" fmla="*/ 0 w 1898866"/>
              <a:gd name="connsiteY6-94" fmla="*/ 3478436 h 3589254"/>
              <a:gd name="connsiteX7-95" fmla="*/ 0 w 1898866"/>
              <a:gd name="connsiteY7-96" fmla="*/ 112496 h 3589254"/>
              <a:gd name="connsiteX8-97" fmla="*/ 110818 w 1898866"/>
              <a:gd name="connsiteY8-98" fmla="*/ 1678 h 3589254"/>
              <a:gd name="connsiteX0-99" fmla="*/ 1788048 w 1898866"/>
              <a:gd name="connsiteY0-100" fmla="*/ 0 h 3587576"/>
              <a:gd name="connsiteX1-101" fmla="*/ 1898866 w 1898866"/>
              <a:gd name="connsiteY1-102" fmla="*/ 110818 h 3587576"/>
              <a:gd name="connsiteX2-103" fmla="*/ 1898866 w 1898866"/>
              <a:gd name="connsiteY2-104" fmla="*/ 3476758 h 3587576"/>
              <a:gd name="connsiteX3-105" fmla="*/ 1788048 w 1898866"/>
              <a:gd name="connsiteY3-106" fmla="*/ 3587576 h 3587576"/>
              <a:gd name="connsiteX4-107" fmla="*/ 110818 w 1898866"/>
              <a:gd name="connsiteY4-108" fmla="*/ 3587576 h 3587576"/>
              <a:gd name="connsiteX5-109" fmla="*/ 0 w 1898866"/>
              <a:gd name="connsiteY5-110" fmla="*/ 3476758 h 3587576"/>
              <a:gd name="connsiteX6-111" fmla="*/ 0 w 1898866"/>
              <a:gd name="connsiteY6-112" fmla="*/ 110818 h 3587576"/>
              <a:gd name="connsiteX7-113" fmla="*/ 110818 w 1898866"/>
              <a:gd name="connsiteY7-114" fmla="*/ 0 h 3587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898866" h="3587576">
                <a:moveTo>
                  <a:pt x="1788048" y="0"/>
                </a:moveTo>
                <a:cubicBezTo>
                  <a:pt x="1849251" y="0"/>
                  <a:pt x="1898866" y="49615"/>
                  <a:pt x="1898866" y="110818"/>
                </a:cubicBezTo>
                <a:lnTo>
                  <a:pt x="1898866" y="3476758"/>
                </a:lnTo>
                <a:cubicBezTo>
                  <a:pt x="1898866" y="3537961"/>
                  <a:pt x="1849251" y="3587576"/>
                  <a:pt x="1788048" y="3587576"/>
                </a:cubicBezTo>
                <a:lnTo>
                  <a:pt x="110818" y="3587576"/>
                </a:lnTo>
                <a:cubicBezTo>
                  <a:pt x="49615" y="3587576"/>
                  <a:pt x="0" y="3537961"/>
                  <a:pt x="0" y="3476758"/>
                </a:cubicBezTo>
                <a:lnTo>
                  <a:pt x="0" y="110818"/>
                </a:lnTo>
                <a:cubicBezTo>
                  <a:pt x="0" y="49615"/>
                  <a:pt x="49615" y="0"/>
                  <a:pt x="11081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1" name="箭头: 下 640"/>
          <p:cNvSpPr/>
          <p:nvPr/>
        </p:nvSpPr>
        <p:spPr>
          <a:xfrm rot="16200000">
            <a:off x="3764036" y="1772970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2" name="矩形: 圆角 641"/>
          <p:cNvSpPr/>
          <p:nvPr/>
        </p:nvSpPr>
        <p:spPr>
          <a:xfrm>
            <a:off x="2263218" y="3358404"/>
            <a:ext cx="1685871" cy="3072652"/>
          </a:xfrm>
          <a:prstGeom prst="roundRect">
            <a:avLst>
              <a:gd name="adj" fmla="val 8030"/>
            </a:avLst>
          </a:prstGeom>
          <a:solidFill>
            <a:srgbClr val="F2F8EE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3" name="矩形: 圆角 642"/>
          <p:cNvSpPr/>
          <p:nvPr/>
        </p:nvSpPr>
        <p:spPr>
          <a:xfrm>
            <a:off x="479167" y="3358402"/>
            <a:ext cx="1685871" cy="3072651"/>
          </a:xfrm>
          <a:prstGeom prst="roundRect">
            <a:avLst>
              <a:gd name="adj" fmla="val 8030"/>
            </a:avLst>
          </a:prstGeom>
          <a:solidFill>
            <a:srgbClr val="FDF0E7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5" name="文本框 644"/>
          <p:cNvSpPr txBox="1"/>
          <p:nvPr/>
        </p:nvSpPr>
        <p:spPr>
          <a:xfrm>
            <a:off x="448532" y="3314831"/>
            <a:ext cx="1736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Encoder</a:t>
            </a:r>
            <a:endParaRPr lang="zh-CN" altLang="en-US" sz="16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47" name="文本框 646"/>
          <p:cNvSpPr txBox="1"/>
          <p:nvPr/>
        </p:nvSpPr>
        <p:spPr>
          <a:xfrm>
            <a:off x="2233919" y="3321555"/>
            <a:ext cx="18188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 Encoder</a:t>
            </a:r>
            <a:endParaRPr lang="zh-CN" altLang="en-US" sz="16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5" name="矩形: 圆角 634"/>
          <p:cNvSpPr/>
          <p:nvPr/>
        </p:nvSpPr>
        <p:spPr>
          <a:xfrm>
            <a:off x="479167" y="368867"/>
            <a:ext cx="1599418" cy="2886155"/>
          </a:xfrm>
          <a:custGeom>
            <a:avLst/>
            <a:gdLst>
              <a:gd name="connsiteX0" fmla="*/ 0 w 1898866"/>
              <a:gd name="connsiteY0" fmla="*/ 125116 h 3587576"/>
              <a:gd name="connsiteX1" fmla="*/ 125116 w 1898866"/>
              <a:gd name="connsiteY1" fmla="*/ 0 h 3587576"/>
              <a:gd name="connsiteX2" fmla="*/ 1773750 w 1898866"/>
              <a:gd name="connsiteY2" fmla="*/ 0 h 3587576"/>
              <a:gd name="connsiteX3" fmla="*/ 1898866 w 1898866"/>
              <a:gd name="connsiteY3" fmla="*/ 125116 h 3587576"/>
              <a:gd name="connsiteX4" fmla="*/ 1898866 w 1898866"/>
              <a:gd name="connsiteY4" fmla="*/ 3462460 h 3587576"/>
              <a:gd name="connsiteX5" fmla="*/ 1773750 w 1898866"/>
              <a:gd name="connsiteY5" fmla="*/ 3587576 h 3587576"/>
              <a:gd name="connsiteX6" fmla="*/ 125116 w 1898866"/>
              <a:gd name="connsiteY6" fmla="*/ 3587576 h 3587576"/>
              <a:gd name="connsiteX7" fmla="*/ 0 w 1898866"/>
              <a:gd name="connsiteY7" fmla="*/ 3462460 h 3587576"/>
              <a:gd name="connsiteX8" fmla="*/ 0 w 1898866"/>
              <a:gd name="connsiteY8" fmla="*/ 125116 h 3587576"/>
              <a:gd name="connsiteX0-1" fmla="*/ 0 w 1898866"/>
              <a:gd name="connsiteY0-2" fmla="*/ 127214 h 3589674"/>
              <a:gd name="connsiteX1-3" fmla="*/ 125116 w 1898866"/>
              <a:gd name="connsiteY1-4" fmla="*/ 2098 h 3589674"/>
              <a:gd name="connsiteX2-5" fmla="*/ 239979 w 1898866"/>
              <a:gd name="connsiteY2-6" fmla="*/ 0 h 3589674"/>
              <a:gd name="connsiteX3-7" fmla="*/ 1773750 w 1898866"/>
              <a:gd name="connsiteY3-8" fmla="*/ 2098 h 3589674"/>
              <a:gd name="connsiteX4-9" fmla="*/ 1898866 w 1898866"/>
              <a:gd name="connsiteY4-10" fmla="*/ 127214 h 3589674"/>
              <a:gd name="connsiteX5-11" fmla="*/ 1898866 w 1898866"/>
              <a:gd name="connsiteY5-12" fmla="*/ 3464558 h 3589674"/>
              <a:gd name="connsiteX6-13" fmla="*/ 1773750 w 1898866"/>
              <a:gd name="connsiteY6-14" fmla="*/ 3589674 h 3589674"/>
              <a:gd name="connsiteX7-15" fmla="*/ 125116 w 1898866"/>
              <a:gd name="connsiteY7-16" fmla="*/ 3589674 h 3589674"/>
              <a:gd name="connsiteX8-17" fmla="*/ 0 w 1898866"/>
              <a:gd name="connsiteY8-18" fmla="*/ 3464558 h 3589674"/>
              <a:gd name="connsiteX9" fmla="*/ 0 w 1898866"/>
              <a:gd name="connsiteY9" fmla="*/ 127214 h 3589674"/>
              <a:gd name="connsiteX0-19" fmla="*/ 0 w 1898866"/>
              <a:gd name="connsiteY0-20" fmla="*/ 127214 h 3589674"/>
              <a:gd name="connsiteX1-21" fmla="*/ 125116 w 1898866"/>
              <a:gd name="connsiteY1-22" fmla="*/ 2098 h 3589674"/>
              <a:gd name="connsiteX2-23" fmla="*/ 239979 w 1898866"/>
              <a:gd name="connsiteY2-24" fmla="*/ 0 h 3589674"/>
              <a:gd name="connsiteX3-25" fmla="*/ 1694923 w 1898866"/>
              <a:gd name="connsiteY3-26" fmla="*/ 0 h 3589674"/>
              <a:gd name="connsiteX4-27" fmla="*/ 1773750 w 1898866"/>
              <a:gd name="connsiteY4-28" fmla="*/ 2098 h 3589674"/>
              <a:gd name="connsiteX5-29" fmla="*/ 1898866 w 1898866"/>
              <a:gd name="connsiteY5-30" fmla="*/ 127214 h 3589674"/>
              <a:gd name="connsiteX6-31" fmla="*/ 1898866 w 1898866"/>
              <a:gd name="connsiteY6-32" fmla="*/ 3464558 h 3589674"/>
              <a:gd name="connsiteX7-33" fmla="*/ 1773750 w 1898866"/>
              <a:gd name="connsiteY7-34" fmla="*/ 3589674 h 3589674"/>
              <a:gd name="connsiteX8-35" fmla="*/ 125116 w 1898866"/>
              <a:gd name="connsiteY8-36" fmla="*/ 3589674 h 3589674"/>
              <a:gd name="connsiteX9-37" fmla="*/ 0 w 1898866"/>
              <a:gd name="connsiteY9-38" fmla="*/ 3464558 h 3589674"/>
              <a:gd name="connsiteX10" fmla="*/ 0 w 1898866"/>
              <a:gd name="connsiteY10" fmla="*/ 127214 h 3589674"/>
              <a:gd name="connsiteX0-39" fmla="*/ 1694923 w 1898866"/>
              <a:gd name="connsiteY0-40" fmla="*/ 0 h 3589674"/>
              <a:gd name="connsiteX1-41" fmla="*/ 1773750 w 1898866"/>
              <a:gd name="connsiteY1-42" fmla="*/ 2098 h 3589674"/>
              <a:gd name="connsiteX2-43" fmla="*/ 1898866 w 1898866"/>
              <a:gd name="connsiteY2-44" fmla="*/ 127214 h 3589674"/>
              <a:gd name="connsiteX3-45" fmla="*/ 1898866 w 1898866"/>
              <a:gd name="connsiteY3-46" fmla="*/ 3464558 h 3589674"/>
              <a:gd name="connsiteX4-47" fmla="*/ 1773750 w 1898866"/>
              <a:gd name="connsiteY4-48" fmla="*/ 3589674 h 3589674"/>
              <a:gd name="connsiteX5-49" fmla="*/ 125116 w 1898866"/>
              <a:gd name="connsiteY5-50" fmla="*/ 3589674 h 3589674"/>
              <a:gd name="connsiteX6-51" fmla="*/ 0 w 1898866"/>
              <a:gd name="connsiteY6-52" fmla="*/ 3464558 h 3589674"/>
              <a:gd name="connsiteX7-53" fmla="*/ 0 w 1898866"/>
              <a:gd name="connsiteY7-54" fmla="*/ 127214 h 3589674"/>
              <a:gd name="connsiteX8-55" fmla="*/ 125116 w 1898866"/>
              <a:gd name="connsiteY8-56" fmla="*/ 2098 h 3589674"/>
              <a:gd name="connsiteX9-57" fmla="*/ 239979 w 1898866"/>
              <a:gd name="connsiteY9-58" fmla="*/ 0 h 3589674"/>
              <a:gd name="connsiteX10-59" fmla="*/ 1786363 w 1898866"/>
              <a:gd name="connsiteY10-60" fmla="*/ 91440 h 3589674"/>
              <a:gd name="connsiteX0-61" fmla="*/ 1694923 w 1898866"/>
              <a:gd name="connsiteY0-62" fmla="*/ 0 h 3589674"/>
              <a:gd name="connsiteX1-63" fmla="*/ 1773750 w 1898866"/>
              <a:gd name="connsiteY1-64" fmla="*/ 2098 h 3589674"/>
              <a:gd name="connsiteX2-65" fmla="*/ 1898866 w 1898866"/>
              <a:gd name="connsiteY2-66" fmla="*/ 127214 h 3589674"/>
              <a:gd name="connsiteX3-67" fmla="*/ 1898866 w 1898866"/>
              <a:gd name="connsiteY3-68" fmla="*/ 3464558 h 3589674"/>
              <a:gd name="connsiteX4-69" fmla="*/ 1773750 w 1898866"/>
              <a:gd name="connsiteY4-70" fmla="*/ 3589674 h 3589674"/>
              <a:gd name="connsiteX5-71" fmla="*/ 125116 w 1898866"/>
              <a:gd name="connsiteY5-72" fmla="*/ 3589674 h 3589674"/>
              <a:gd name="connsiteX6-73" fmla="*/ 0 w 1898866"/>
              <a:gd name="connsiteY6-74" fmla="*/ 3464558 h 3589674"/>
              <a:gd name="connsiteX7-75" fmla="*/ 0 w 1898866"/>
              <a:gd name="connsiteY7-76" fmla="*/ 127214 h 3589674"/>
              <a:gd name="connsiteX8-77" fmla="*/ 125116 w 1898866"/>
              <a:gd name="connsiteY8-78" fmla="*/ 2098 h 3589674"/>
              <a:gd name="connsiteX9-79" fmla="*/ 239979 w 1898866"/>
              <a:gd name="connsiteY9-80" fmla="*/ 0 h 3589674"/>
              <a:gd name="connsiteX0-81" fmla="*/ 1694923 w 1898866"/>
              <a:gd name="connsiteY0-82" fmla="*/ 0 h 3589674"/>
              <a:gd name="connsiteX1-83" fmla="*/ 1773750 w 1898866"/>
              <a:gd name="connsiteY1-84" fmla="*/ 2098 h 3589674"/>
              <a:gd name="connsiteX2-85" fmla="*/ 1898866 w 1898866"/>
              <a:gd name="connsiteY2-86" fmla="*/ 127214 h 3589674"/>
              <a:gd name="connsiteX3-87" fmla="*/ 1898866 w 1898866"/>
              <a:gd name="connsiteY3-88" fmla="*/ 3464558 h 3589674"/>
              <a:gd name="connsiteX4-89" fmla="*/ 1773750 w 1898866"/>
              <a:gd name="connsiteY4-90" fmla="*/ 3589674 h 3589674"/>
              <a:gd name="connsiteX5-91" fmla="*/ 125116 w 1898866"/>
              <a:gd name="connsiteY5-92" fmla="*/ 3589674 h 3589674"/>
              <a:gd name="connsiteX6-93" fmla="*/ 0 w 1898866"/>
              <a:gd name="connsiteY6-94" fmla="*/ 3464558 h 3589674"/>
              <a:gd name="connsiteX7-95" fmla="*/ 0 w 1898866"/>
              <a:gd name="connsiteY7-96" fmla="*/ 127214 h 3589674"/>
              <a:gd name="connsiteX8-97" fmla="*/ 125116 w 1898866"/>
              <a:gd name="connsiteY8-98" fmla="*/ 2098 h 3589674"/>
              <a:gd name="connsiteX0-99" fmla="*/ 1773750 w 1898866"/>
              <a:gd name="connsiteY0-100" fmla="*/ 0 h 3587576"/>
              <a:gd name="connsiteX1-101" fmla="*/ 1898866 w 1898866"/>
              <a:gd name="connsiteY1-102" fmla="*/ 125116 h 3587576"/>
              <a:gd name="connsiteX2-103" fmla="*/ 1898866 w 1898866"/>
              <a:gd name="connsiteY2-104" fmla="*/ 3462460 h 3587576"/>
              <a:gd name="connsiteX3-105" fmla="*/ 1773750 w 1898866"/>
              <a:gd name="connsiteY3-106" fmla="*/ 3587576 h 3587576"/>
              <a:gd name="connsiteX4-107" fmla="*/ 125116 w 1898866"/>
              <a:gd name="connsiteY4-108" fmla="*/ 3587576 h 3587576"/>
              <a:gd name="connsiteX5-109" fmla="*/ 0 w 1898866"/>
              <a:gd name="connsiteY5-110" fmla="*/ 3462460 h 3587576"/>
              <a:gd name="connsiteX6-111" fmla="*/ 0 w 1898866"/>
              <a:gd name="connsiteY6-112" fmla="*/ 125116 h 3587576"/>
              <a:gd name="connsiteX7-113" fmla="*/ 125116 w 1898866"/>
              <a:gd name="connsiteY7-114" fmla="*/ 0 h 358757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1898866" h="3587576">
                <a:moveTo>
                  <a:pt x="1773750" y="0"/>
                </a:moveTo>
                <a:cubicBezTo>
                  <a:pt x="1842850" y="0"/>
                  <a:pt x="1898866" y="56016"/>
                  <a:pt x="1898866" y="125116"/>
                </a:cubicBezTo>
                <a:lnTo>
                  <a:pt x="1898866" y="3462460"/>
                </a:lnTo>
                <a:cubicBezTo>
                  <a:pt x="1898866" y="3531560"/>
                  <a:pt x="1842850" y="3587576"/>
                  <a:pt x="1773750" y="3587576"/>
                </a:cubicBezTo>
                <a:lnTo>
                  <a:pt x="125116" y="3587576"/>
                </a:lnTo>
                <a:cubicBezTo>
                  <a:pt x="56016" y="3587576"/>
                  <a:pt x="0" y="3531560"/>
                  <a:pt x="0" y="3462460"/>
                </a:cubicBezTo>
                <a:lnTo>
                  <a:pt x="0" y="125116"/>
                </a:lnTo>
                <a:cubicBezTo>
                  <a:pt x="0" y="56016"/>
                  <a:pt x="56016" y="0"/>
                  <a:pt x="12511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9" y="2307943"/>
            <a:ext cx="1296000" cy="7560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85" y="1430105"/>
            <a:ext cx="1296000" cy="7560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9" y="521720"/>
            <a:ext cx="1296000" cy="7560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525449" y="203361"/>
            <a:ext cx="1539688" cy="34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EEG Data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17345" y="1074246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591286" y="3051359"/>
            <a:ext cx="14291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Contains 84 channels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48" name="文本框 647"/>
          <p:cNvSpPr txBox="1"/>
          <p:nvPr/>
        </p:nvSpPr>
        <p:spPr>
          <a:xfrm>
            <a:off x="1004441" y="1979641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49" name="文本框 648"/>
          <p:cNvSpPr txBox="1"/>
          <p:nvPr/>
        </p:nvSpPr>
        <p:spPr>
          <a:xfrm>
            <a:off x="1004440" y="2785671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53" name="文本框 652"/>
          <p:cNvSpPr txBox="1"/>
          <p:nvPr/>
        </p:nvSpPr>
        <p:spPr>
          <a:xfrm>
            <a:off x="9593654" y="201638"/>
            <a:ext cx="1891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MoE</a:t>
            </a:r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-Trans. Block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54" name="立方体 653"/>
          <p:cNvSpPr/>
          <p:nvPr/>
        </p:nvSpPr>
        <p:spPr>
          <a:xfrm>
            <a:off x="9787727" y="5564847"/>
            <a:ext cx="1465793" cy="115547"/>
          </a:xfrm>
          <a:prstGeom prst="cube">
            <a:avLst/>
          </a:prstGeom>
          <a:solidFill>
            <a:srgbClr val="F3FDFF"/>
          </a:solidFill>
          <a:ln>
            <a:solidFill>
              <a:srgbClr val="22A8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0491313" y="5740395"/>
            <a:ext cx="430688" cy="246221"/>
            <a:chOff x="9809629" y="5556245"/>
            <a:chExt cx="654419" cy="246221"/>
          </a:xfrm>
        </p:grpSpPr>
        <p:sp>
          <p:nvSpPr>
            <p:cNvPr id="655" name="矩形: 圆角 654"/>
            <p:cNvSpPr/>
            <p:nvPr/>
          </p:nvSpPr>
          <p:spPr>
            <a:xfrm>
              <a:off x="9809629" y="5558904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656" name="文本框 655"/>
            <p:cNvSpPr txBox="1"/>
            <p:nvPr/>
          </p:nvSpPr>
          <p:spPr>
            <a:xfrm>
              <a:off x="9872687" y="5556245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22A8FA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LN</a:t>
              </a:r>
              <a:endParaRPr lang="en-US" altLang="zh-CN" sz="1000" dirty="0">
                <a:solidFill>
                  <a:srgbClr val="22A8FA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7" name="箭头: 下 656"/>
          <p:cNvSpPr/>
          <p:nvPr/>
        </p:nvSpPr>
        <p:spPr>
          <a:xfrm rot="16200000">
            <a:off x="9562194" y="5915517"/>
            <a:ext cx="219203" cy="481108"/>
          </a:xfrm>
          <a:prstGeom prst="downArrow">
            <a:avLst>
              <a:gd name="adj1" fmla="val 38672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8" name="文本框 657"/>
          <p:cNvSpPr txBox="1"/>
          <p:nvPr/>
        </p:nvSpPr>
        <p:spPr>
          <a:xfrm>
            <a:off x="9904090" y="6215312"/>
            <a:ext cx="13644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Semantic Features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659" name="组合 658"/>
          <p:cNvGrpSpPr/>
          <p:nvPr/>
        </p:nvGrpSpPr>
        <p:grpSpPr>
          <a:xfrm>
            <a:off x="10063629" y="6080976"/>
            <a:ext cx="787771" cy="126417"/>
            <a:chOff x="2996246" y="3916743"/>
            <a:chExt cx="787771" cy="126417"/>
          </a:xfrm>
        </p:grpSpPr>
        <p:sp>
          <p:nvSpPr>
            <p:cNvPr id="660" name="立方体 659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1" name="立方体 660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2" name="立方体 661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3" name="立方体 662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EE2F5"/>
            </a:solidFill>
            <a:ln w="9525"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4" name="立方体 663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72" name="文本框 671"/>
          <p:cNvSpPr txBox="1"/>
          <p:nvPr/>
        </p:nvSpPr>
        <p:spPr>
          <a:xfrm>
            <a:off x="10883529" y="6021769"/>
            <a:ext cx="73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Topologicalembedding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10309366" y="5719556"/>
            <a:ext cx="0" cy="2901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连接符: 肘形 491"/>
          <p:cNvCxnSpPr/>
          <p:nvPr/>
        </p:nvCxnSpPr>
        <p:spPr>
          <a:xfrm rot="16200000" flipH="1">
            <a:off x="10511656" y="4503502"/>
            <a:ext cx="12700" cy="1460558"/>
          </a:xfrm>
          <a:prstGeom prst="bentConnector3">
            <a:avLst>
              <a:gd name="adj1" fmla="val 1250000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1" name="组合 520"/>
          <p:cNvGrpSpPr/>
          <p:nvPr/>
        </p:nvGrpSpPr>
        <p:grpSpPr>
          <a:xfrm>
            <a:off x="9585142" y="4884640"/>
            <a:ext cx="537527" cy="290540"/>
            <a:chOff x="11229792" y="5161341"/>
            <a:chExt cx="537527" cy="290540"/>
          </a:xfrm>
        </p:grpSpPr>
        <p:sp>
          <p:nvSpPr>
            <p:cNvPr id="509" name="立方体 508"/>
            <p:cNvSpPr/>
            <p:nvPr/>
          </p:nvSpPr>
          <p:spPr>
            <a:xfrm>
              <a:off x="11229792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1" name="立方体 510"/>
            <p:cNvSpPr/>
            <p:nvPr/>
          </p:nvSpPr>
          <p:spPr>
            <a:xfrm>
              <a:off x="11434580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2" name="立方体 511"/>
            <p:cNvSpPr/>
            <p:nvPr/>
          </p:nvSpPr>
          <p:spPr>
            <a:xfrm>
              <a:off x="11639368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3" name="立方体 512"/>
            <p:cNvSpPr/>
            <p:nvPr/>
          </p:nvSpPr>
          <p:spPr>
            <a:xfrm>
              <a:off x="11229792" y="532546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4" name="立方体 513"/>
            <p:cNvSpPr/>
            <p:nvPr/>
          </p:nvSpPr>
          <p:spPr>
            <a:xfrm>
              <a:off x="11434580" y="532546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0" name="立方体 519"/>
            <p:cNvSpPr/>
            <p:nvPr/>
          </p:nvSpPr>
          <p:spPr>
            <a:xfrm>
              <a:off x="11639368" y="532546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4E8E0"/>
            </a:solidFill>
            <a:ln w="9525">
              <a:solidFill>
                <a:srgbClr val="9BBA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4" name="组合 533"/>
          <p:cNvGrpSpPr/>
          <p:nvPr/>
        </p:nvGrpSpPr>
        <p:grpSpPr>
          <a:xfrm>
            <a:off x="10910796" y="4884640"/>
            <a:ext cx="537527" cy="290540"/>
            <a:chOff x="11202896" y="4997216"/>
            <a:chExt cx="537527" cy="290540"/>
          </a:xfrm>
        </p:grpSpPr>
        <p:sp>
          <p:nvSpPr>
            <p:cNvPr id="528" name="立方体 527"/>
            <p:cNvSpPr/>
            <p:nvPr/>
          </p:nvSpPr>
          <p:spPr>
            <a:xfrm>
              <a:off x="11202896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9" name="立方体 528"/>
            <p:cNvSpPr/>
            <p:nvPr/>
          </p:nvSpPr>
          <p:spPr>
            <a:xfrm>
              <a:off x="11407684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0" name="立方体 529"/>
            <p:cNvSpPr/>
            <p:nvPr/>
          </p:nvSpPr>
          <p:spPr>
            <a:xfrm>
              <a:off x="11612472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1" name="立方体 530"/>
            <p:cNvSpPr/>
            <p:nvPr/>
          </p:nvSpPr>
          <p:spPr>
            <a:xfrm>
              <a:off x="11202896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2" name="立方体 531"/>
            <p:cNvSpPr/>
            <p:nvPr/>
          </p:nvSpPr>
          <p:spPr>
            <a:xfrm>
              <a:off x="11407684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3" name="立方体 532"/>
            <p:cNvSpPr/>
            <p:nvPr/>
          </p:nvSpPr>
          <p:spPr>
            <a:xfrm>
              <a:off x="11612472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0" name="组合 549"/>
          <p:cNvGrpSpPr/>
          <p:nvPr/>
        </p:nvGrpSpPr>
        <p:grpSpPr>
          <a:xfrm>
            <a:off x="10252855" y="4884640"/>
            <a:ext cx="537527" cy="290540"/>
            <a:chOff x="11355296" y="5033522"/>
            <a:chExt cx="537527" cy="290540"/>
          </a:xfrm>
        </p:grpSpPr>
        <p:sp>
          <p:nvSpPr>
            <p:cNvPr id="544" name="立方体 543"/>
            <p:cNvSpPr/>
            <p:nvPr/>
          </p:nvSpPr>
          <p:spPr>
            <a:xfrm>
              <a:off x="11355296" y="503352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5" name="立方体 544"/>
            <p:cNvSpPr/>
            <p:nvPr/>
          </p:nvSpPr>
          <p:spPr>
            <a:xfrm>
              <a:off x="11560084" y="503352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6" name="立方体 545"/>
            <p:cNvSpPr/>
            <p:nvPr/>
          </p:nvSpPr>
          <p:spPr>
            <a:xfrm>
              <a:off x="11764872" y="503352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7" name="立方体 546"/>
            <p:cNvSpPr/>
            <p:nvPr/>
          </p:nvSpPr>
          <p:spPr>
            <a:xfrm>
              <a:off x="11355296" y="51976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8" name="立方体 547"/>
            <p:cNvSpPr/>
            <p:nvPr/>
          </p:nvSpPr>
          <p:spPr>
            <a:xfrm>
              <a:off x="11560084" y="51976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9" name="立方体 548"/>
            <p:cNvSpPr/>
            <p:nvPr/>
          </p:nvSpPr>
          <p:spPr>
            <a:xfrm>
              <a:off x="11764872" y="51976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8F0DC"/>
            </a:solidFill>
            <a:ln w="9525">
              <a:solidFill>
                <a:srgbClr val="E4DE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51" name="直接箭头连接符 550"/>
          <p:cNvCxnSpPr/>
          <p:nvPr/>
        </p:nvCxnSpPr>
        <p:spPr>
          <a:xfrm flipV="1">
            <a:off x="10511491" y="5223932"/>
            <a:ext cx="0" cy="2901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2" name="文本框 551"/>
          <p:cNvSpPr txBox="1"/>
          <p:nvPr/>
        </p:nvSpPr>
        <p:spPr>
          <a:xfrm>
            <a:off x="9487914" y="5312427"/>
            <a:ext cx="599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9BBA8C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rgbClr val="9BBA8C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54" name="文本框 553"/>
          <p:cNvSpPr txBox="1"/>
          <p:nvPr/>
        </p:nvSpPr>
        <p:spPr>
          <a:xfrm>
            <a:off x="10454717" y="5345619"/>
            <a:ext cx="4176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DCD43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</a:t>
            </a:r>
            <a:endParaRPr lang="zh-CN" altLang="en-US" sz="1000" dirty="0">
              <a:solidFill>
                <a:srgbClr val="DCD430"/>
              </a:solidFill>
            </a:endParaRPr>
          </a:p>
        </p:txBody>
      </p:sp>
      <p:sp>
        <p:nvSpPr>
          <p:cNvPr id="556" name="文本框 555"/>
          <p:cNvSpPr txBox="1"/>
          <p:nvPr/>
        </p:nvSpPr>
        <p:spPr>
          <a:xfrm>
            <a:off x="11097565" y="5339800"/>
            <a:ext cx="5327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>
                <a:solidFill>
                  <a:srgbClr val="AE59DD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Value</a:t>
            </a:r>
            <a:endParaRPr lang="zh-CN" altLang="en-US" sz="1000" dirty="0">
              <a:solidFill>
                <a:srgbClr val="AE59DD"/>
              </a:solidFill>
            </a:endParaRPr>
          </a:p>
        </p:txBody>
      </p:sp>
      <p:grpSp>
        <p:nvGrpSpPr>
          <p:cNvPr id="557" name="组合 556"/>
          <p:cNvGrpSpPr/>
          <p:nvPr/>
        </p:nvGrpSpPr>
        <p:grpSpPr>
          <a:xfrm>
            <a:off x="9658075" y="4418045"/>
            <a:ext cx="1115354" cy="246221"/>
            <a:chOff x="6949893" y="4830087"/>
            <a:chExt cx="654419" cy="246221"/>
          </a:xfrm>
        </p:grpSpPr>
        <p:sp>
          <p:nvSpPr>
            <p:cNvPr id="558" name="矩形: 圆角 557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6D6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59" name="文本框 558"/>
            <p:cNvSpPr txBox="1"/>
            <p:nvPr/>
          </p:nvSpPr>
          <p:spPr>
            <a:xfrm>
              <a:off x="7140478" y="4830087"/>
              <a:ext cx="3450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RoPE</a:t>
              </a:r>
              <a:endParaRPr lang="en-US" altLang="zh-CN" sz="1000" dirty="0">
                <a:solidFill>
                  <a:srgbClr val="FF6D6D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60" name="直接箭头连接符 559"/>
          <p:cNvCxnSpPr/>
          <p:nvPr/>
        </p:nvCxnSpPr>
        <p:spPr>
          <a:xfrm flipV="1">
            <a:off x="9787591" y="4679441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0" name="组合 579"/>
          <p:cNvGrpSpPr/>
          <p:nvPr/>
        </p:nvGrpSpPr>
        <p:grpSpPr>
          <a:xfrm>
            <a:off x="9589545" y="3919988"/>
            <a:ext cx="537527" cy="290540"/>
            <a:chOff x="11229792" y="2988094"/>
            <a:chExt cx="537527" cy="290540"/>
          </a:xfrm>
        </p:grpSpPr>
        <p:sp>
          <p:nvSpPr>
            <p:cNvPr id="567" name="立方体 566"/>
            <p:cNvSpPr/>
            <p:nvPr/>
          </p:nvSpPr>
          <p:spPr>
            <a:xfrm>
              <a:off x="11229792" y="298809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8" name="立方体 567"/>
            <p:cNvSpPr/>
            <p:nvPr/>
          </p:nvSpPr>
          <p:spPr>
            <a:xfrm>
              <a:off x="11434580" y="298809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9" name="立方体 568"/>
            <p:cNvSpPr/>
            <p:nvPr/>
          </p:nvSpPr>
          <p:spPr>
            <a:xfrm>
              <a:off x="11639368" y="298809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0" name="立方体 569"/>
            <p:cNvSpPr/>
            <p:nvPr/>
          </p:nvSpPr>
          <p:spPr>
            <a:xfrm>
              <a:off x="11229792" y="31522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2" name="立方体 571"/>
            <p:cNvSpPr/>
            <p:nvPr/>
          </p:nvSpPr>
          <p:spPr>
            <a:xfrm>
              <a:off x="11434580" y="31522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3" name="立方体 572"/>
            <p:cNvSpPr/>
            <p:nvPr/>
          </p:nvSpPr>
          <p:spPr>
            <a:xfrm>
              <a:off x="11639368" y="31522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9D7DD"/>
            </a:solidFill>
            <a:ln w="9525">
              <a:solidFill>
                <a:srgbClr val="C87E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4" name="组合 573"/>
          <p:cNvGrpSpPr/>
          <p:nvPr/>
        </p:nvGrpSpPr>
        <p:grpSpPr>
          <a:xfrm>
            <a:off x="10915199" y="3924248"/>
            <a:ext cx="537527" cy="290540"/>
            <a:chOff x="11202896" y="4997216"/>
            <a:chExt cx="537527" cy="290540"/>
          </a:xfrm>
        </p:grpSpPr>
        <p:sp>
          <p:nvSpPr>
            <p:cNvPr id="86" name="立方体 85"/>
            <p:cNvSpPr/>
            <p:nvPr/>
          </p:nvSpPr>
          <p:spPr>
            <a:xfrm>
              <a:off x="11202896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立方体 86"/>
            <p:cNvSpPr/>
            <p:nvPr/>
          </p:nvSpPr>
          <p:spPr>
            <a:xfrm>
              <a:off x="11407684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立方体 93"/>
            <p:cNvSpPr/>
            <p:nvPr/>
          </p:nvSpPr>
          <p:spPr>
            <a:xfrm>
              <a:off x="11612472" y="499721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立方体 94"/>
            <p:cNvSpPr/>
            <p:nvPr/>
          </p:nvSpPr>
          <p:spPr>
            <a:xfrm>
              <a:off x="11202896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立方体 95"/>
            <p:cNvSpPr/>
            <p:nvPr/>
          </p:nvSpPr>
          <p:spPr>
            <a:xfrm>
              <a:off x="11407684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立方体 96"/>
            <p:cNvSpPr/>
            <p:nvPr/>
          </p:nvSpPr>
          <p:spPr>
            <a:xfrm>
              <a:off x="11612472" y="51613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5CFED"/>
            </a:solidFill>
            <a:ln w="9525">
              <a:solidFill>
                <a:srgbClr val="AE59D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82" name="组合 581"/>
          <p:cNvGrpSpPr/>
          <p:nvPr/>
        </p:nvGrpSpPr>
        <p:grpSpPr>
          <a:xfrm>
            <a:off x="10265555" y="3919988"/>
            <a:ext cx="537527" cy="290540"/>
            <a:chOff x="11229792" y="3503724"/>
            <a:chExt cx="537527" cy="290540"/>
          </a:xfrm>
        </p:grpSpPr>
        <p:sp>
          <p:nvSpPr>
            <p:cNvPr id="117" name="立方体 116"/>
            <p:cNvSpPr/>
            <p:nvPr/>
          </p:nvSpPr>
          <p:spPr>
            <a:xfrm>
              <a:off x="11229792" y="350372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立方体 117"/>
            <p:cNvSpPr/>
            <p:nvPr/>
          </p:nvSpPr>
          <p:spPr>
            <a:xfrm>
              <a:off x="11434580" y="350372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立方体 121"/>
            <p:cNvSpPr/>
            <p:nvPr/>
          </p:nvSpPr>
          <p:spPr>
            <a:xfrm>
              <a:off x="11639368" y="350372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立方体 122"/>
            <p:cNvSpPr/>
            <p:nvPr/>
          </p:nvSpPr>
          <p:spPr>
            <a:xfrm>
              <a:off x="11229792" y="366784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立方体 124"/>
            <p:cNvSpPr/>
            <p:nvPr/>
          </p:nvSpPr>
          <p:spPr>
            <a:xfrm>
              <a:off x="11434580" y="366784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6" name="立方体 575"/>
            <p:cNvSpPr/>
            <p:nvPr/>
          </p:nvSpPr>
          <p:spPr>
            <a:xfrm>
              <a:off x="11639368" y="366784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D7FDE8"/>
            </a:solidFill>
            <a:ln w="9525">
              <a:solidFill>
                <a:srgbClr val="64C88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77" name="直接箭头连接符 576"/>
          <p:cNvCxnSpPr/>
          <p:nvPr/>
        </p:nvCxnSpPr>
        <p:spPr>
          <a:xfrm flipV="1">
            <a:off x="11235391" y="4246577"/>
            <a:ext cx="0" cy="575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9" name="直接箭头连接符 598"/>
          <p:cNvCxnSpPr/>
          <p:nvPr/>
        </p:nvCxnSpPr>
        <p:spPr>
          <a:xfrm flipV="1">
            <a:off x="10524191" y="4679441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0" name="直接箭头连接符 599"/>
          <p:cNvCxnSpPr/>
          <p:nvPr/>
        </p:nvCxnSpPr>
        <p:spPr>
          <a:xfrm flipV="1">
            <a:off x="9787591" y="4240820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1" name="直接箭头连接符 600"/>
          <p:cNvCxnSpPr/>
          <p:nvPr/>
        </p:nvCxnSpPr>
        <p:spPr>
          <a:xfrm flipV="1">
            <a:off x="10524191" y="4240820"/>
            <a:ext cx="0" cy="1571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2" name="组合 611"/>
          <p:cNvGrpSpPr/>
          <p:nvPr/>
        </p:nvGrpSpPr>
        <p:grpSpPr>
          <a:xfrm>
            <a:off x="9816794" y="3387933"/>
            <a:ext cx="1550890" cy="246951"/>
            <a:chOff x="9448494" y="3136539"/>
            <a:chExt cx="1550890" cy="246951"/>
          </a:xfrm>
        </p:grpSpPr>
        <p:sp>
          <p:nvSpPr>
            <p:cNvPr id="605" name="矩形: 圆角 604"/>
            <p:cNvSpPr/>
            <p:nvPr/>
          </p:nvSpPr>
          <p:spPr>
            <a:xfrm>
              <a:off x="9448494" y="3136539"/>
              <a:ext cx="14925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78E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606" name="文本框 605"/>
            <p:cNvSpPr txBox="1"/>
            <p:nvPr/>
          </p:nvSpPr>
          <p:spPr>
            <a:xfrm>
              <a:off x="9466979" y="3137269"/>
              <a:ext cx="153240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78E3F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Multi-Head Attention </a:t>
              </a:r>
              <a:endParaRPr lang="en-US" altLang="zh-CN" sz="1000" dirty="0">
                <a:solidFill>
                  <a:srgbClr val="F78E3F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34" name="连接符: 肘形 633"/>
          <p:cNvCxnSpPr/>
          <p:nvPr/>
        </p:nvCxnSpPr>
        <p:spPr>
          <a:xfrm rot="16200000" flipH="1">
            <a:off x="10527502" y="3159156"/>
            <a:ext cx="12700" cy="1466850"/>
          </a:xfrm>
          <a:prstGeom prst="bentConnector3">
            <a:avLst>
              <a:gd name="adj1" fmla="val -8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/>
          <p:cNvCxnSpPr/>
          <p:nvPr/>
        </p:nvCxnSpPr>
        <p:spPr>
          <a:xfrm flipV="1">
            <a:off x="10526432" y="3658140"/>
            <a:ext cx="0" cy="2364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立方体 155"/>
          <p:cNvSpPr/>
          <p:nvPr/>
        </p:nvSpPr>
        <p:spPr>
          <a:xfrm>
            <a:off x="9836049" y="2972936"/>
            <a:ext cx="1465793" cy="115547"/>
          </a:xfrm>
          <a:prstGeom prst="cube">
            <a:avLst/>
          </a:prstGeom>
          <a:solidFill>
            <a:srgbClr val="F3FDFF"/>
          </a:solidFill>
          <a:ln>
            <a:solidFill>
              <a:srgbClr val="22A8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8" name="直接箭头连接符 167"/>
          <p:cNvCxnSpPr/>
          <p:nvPr/>
        </p:nvCxnSpPr>
        <p:spPr>
          <a:xfrm flipV="1">
            <a:off x="10533715" y="2726168"/>
            <a:ext cx="0" cy="2421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0" name="组合 639"/>
          <p:cNvGrpSpPr/>
          <p:nvPr/>
        </p:nvGrpSpPr>
        <p:grpSpPr>
          <a:xfrm>
            <a:off x="10631885" y="3120357"/>
            <a:ext cx="762000" cy="248751"/>
            <a:chOff x="11099800" y="2613334"/>
            <a:chExt cx="762000" cy="248751"/>
          </a:xfrm>
        </p:grpSpPr>
        <p:sp>
          <p:nvSpPr>
            <p:cNvPr id="171" name="矩形: 圆角 170"/>
            <p:cNvSpPr/>
            <p:nvPr/>
          </p:nvSpPr>
          <p:spPr>
            <a:xfrm>
              <a:off x="11118850" y="2613334"/>
              <a:ext cx="733876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11099800" y="2615864"/>
              <a:ext cx="762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Add &amp; LN</a:t>
              </a:r>
              <a:endParaRPr lang="en-US" altLang="zh-CN" sz="1000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79" name="直接箭头连接符 178"/>
          <p:cNvCxnSpPr/>
          <p:nvPr/>
        </p:nvCxnSpPr>
        <p:spPr>
          <a:xfrm flipV="1">
            <a:off x="10532782" y="3106909"/>
            <a:ext cx="0" cy="2503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" name="连接符: 肘形 687"/>
          <p:cNvCxnSpPr>
            <a:endCxn id="156" idx="5"/>
          </p:cNvCxnSpPr>
          <p:nvPr/>
        </p:nvCxnSpPr>
        <p:spPr>
          <a:xfrm rot="16200000" flipV="1">
            <a:off x="10494342" y="3823766"/>
            <a:ext cx="1806820" cy="19182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4" name="组合 693"/>
          <p:cNvGrpSpPr/>
          <p:nvPr/>
        </p:nvGrpSpPr>
        <p:grpSpPr>
          <a:xfrm>
            <a:off x="10215819" y="2509771"/>
            <a:ext cx="654419" cy="246221"/>
            <a:chOff x="11259547" y="1914372"/>
            <a:chExt cx="654419" cy="246221"/>
          </a:xfrm>
        </p:grpSpPr>
        <p:sp>
          <p:nvSpPr>
            <p:cNvPr id="692" name="矩形: 圆角 691"/>
            <p:cNvSpPr/>
            <p:nvPr/>
          </p:nvSpPr>
          <p:spPr>
            <a:xfrm>
              <a:off x="11259547" y="1935645"/>
              <a:ext cx="654419" cy="20082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693" name="文本框 692"/>
            <p:cNvSpPr txBox="1"/>
            <p:nvPr/>
          </p:nvSpPr>
          <p:spPr>
            <a:xfrm>
              <a:off x="11315513" y="1914372"/>
              <a:ext cx="59462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Router</a:t>
              </a:r>
              <a:endPara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3" name="组合 702"/>
          <p:cNvGrpSpPr/>
          <p:nvPr/>
        </p:nvGrpSpPr>
        <p:grpSpPr>
          <a:xfrm>
            <a:off x="9604631" y="1638428"/>
            <a:ext cx="699711" cy="246221"/>
            <a:chOff x="11210510" y="1890674"/>
            <a:chExt cx="699711" cy="246221"/>
          </a:xfrm>
        </p:grpSpPr>
        <p:sp>
          <p:nvSpPr>
            <p:cNvPr id="192" name="矩形: 圆角 191"/>
            <p:cNvSpPr/>
            <p:nvPr/>
          </p:nvSpPr>
          <p:spPr>
            <a:xfrm>
              <a:off x="11259548" y="1894072"/>
              <a:ext cx="547858" cy="242401"/>
            </a:xfrm>
            <a:prstGeom prst="roundRect">
              <a:avLst>
                <a:gd name="adj" fmla="val 33358"/>
              </a:avLst>
            </a:prstGeom>
            <a:noFill/>
            <a:ln>
              <a:solidFill>
                <a:srgbClr val="BCB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11210510" y="1890674"/>
              <a:ext cx="6997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Expert1</a:t>
              </a:r>
              <a:endParaRPr lang="en-US" altLang="zh-CN" sz="1000" dirty="0">
                <a:solidFill>
                  <a:srgbClr val="BCB3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3" name="组合 222"/>
          <p:cNvGrpSpPr/>
          <p:nvPr/>
        </p:nvGrpSpPr>
        <p:grpSpPr>
          <a:xfrm>
            <a:off x="10181352" y="1638428"/>
            <a:ext cx="680014" cy="246221"/>
            <a:chOff x="11210511" y="1890674"/>
            <a:chExt cx="680014" cy="246221"/>
          </a:xfrm>
        </p:grpSpPr>
        <p:sp>
          <p:nvSpPr>
            <p:cNvPr id="224" name="矩形: 圆角 223"/>
            <p:cNvSpPr/>
            <p:nvPr/>
          </p:nvSpPr>
          <p:spPr>
            <a:xfrm>
              <a:off x="11259548" y="1894072"/>
              <a:ext cx="547858" cy="242401"/>
            </a:xfrm>
            <a:prstGeom prst="roundRect">
              <a:avLst>
                <a:gd name="adj" fmla="val 33358"/>
              </a:avLst>
            </a:prstGeom>
            <a:noFill/>
            <a:ln>
              <a:solidFill>
                <a:srgbClr val="BCB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5" name="文本框 224"/>
            <p:cNvSpPr txBox="1"/>
            <p:nvPr/>
          </p:nvSpPr>
          <p:spPr>
            <a:xfrm>
              <a:off x="11210511" y="1890674"/>
              <a:ext cx="680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Expert2</a:t>
              </a:r>
              <a:endParaRPr lang="en-US" altLang="zh-CN" sz="1000" dirty="0">
                <a:solidFill>
                  <a:srgbClr val="BCB3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6" name="组合 225"/>
          <p:cNvGrpSpPr/>
          <p:nvPr/>
        </p:nvGrpSpPr>
        <p:grpSpPr>
          <a:xfrm>
            <a:off x="10751136" y="1638428"/>
            <a:ext cx="684302" cy="246221"/>
            <a:chOff x="11210511" y="1890674"/>
            <a:chExt cx="684302" cy="246221"/>
          </a:xfrm>
        </p:grpSpPr>
        <p:sp>
          <p:nvSpPr>
            <p:cNvPr id="227" name="矩形: 圆角 226"/>
            <p:cNvSpPr/>
            <p:nvPr/>
          </p:nvSpPr>
          <p:spPr>
            <a:xfrm>
              <a:off x="11259548" y="1894072"/>
              <a:ext cx="547858" cy="242401"/>
            </a:xfrm>
            <a:prstGeom prst="roundRect">
              <a:avLst>
                <a:gd name="adj" fmla="val 33358"/>
              </a:avLst>
            </a:prstGeom>
            <a:noFill/>
            <a:ln>
              <a:solidFill>
                <a:srgbClr val="BCB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8" name="文本框 227"/>
            <p:cNvSpPr txBox="1"/>
            <p:nvPr/>
          </p:nvSpPr>
          <p:spPr>
            <a:xfrm>
              <a:off x="11210511" y="1890674"/>
              <a:ext cx="68430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Expert3</a:t>
              </a:r>
              <a:endParaRPr lang="en-US" altLang="zh-CN" sz="1000" dirty="0">
                <a:solidFill>
                  <a:srgbClr val="BCB3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0" name="连接符: 肘形 229"/>
          <p:cNvCxnSpPr>
            <a:stCxn id="235" idx="0"/>
            <a:endCxn id="192" idx="2"/>
          </p:cNvCxnSpPr>
          <p:nvPr/>
        </p:nvCxnSpPr>
        <p:spPr>
          <a:xfrm rot="16200000" flipV="1">
            <a:off x="9886157" y="1925669"/>
            <a:ext cx="215283" cy="1323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3" name="组合 232"/>
          <p:cNvGrpSpPr/>
          <p:nvPr/>
        </p:nvGrpSpPr>
        <p:grpSpPr>
          <a:xfrm>
            <a:off x="9762780" y="2099510"/>
            <a:ext cx="1452282" cy="362412"/>
            <a:chOff x="8202053" y="3344819"/>
            <a:chExt cx="1452282" cy="362412"/>
          </a:xfrm>
        </p:grpSpPr>
        <p:cxnSp>
          <p:nvCxnSpPr>
            <p:cNvPr id="234" name="直接连接符 233"/>
            <p:cNvCxnSpPr/>
            <p:nvPr/>
          </p:nvCxnSpPr>
          <p:spPr>
            <a:xfrm>
              <a:off x="8202053" y="3707231"/>
              <a:ext cx="145228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矩形 234"/>
            <p:cNvSpPr/>
            <p:nvPr/>
          </p:nvSpPr>
          <p:spPr>
            <a:xfrm>
              <a:off x="8410542" y="3344819"/>
              <a:ext cx="177456" cy="362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235"/>
            <p:cNvSpPr/>
            <p:nvPr/>
          </p:nvSpPr>
          <p:spPr>
            <a:xfrm>
              <a:off x="8724307" y="3506400"/>
              <a:ext cx="177456" cy="2008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/>
            <p:cNvSpPr/>
            <p:nvPr/>
          </p:nvSpPr>
          <p:spPr>
            <a:xfrm>
              <a:off x="9036374" y="3646914"/>
              <a:ext cx="177456" cy="603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矩形 237"/>
            <p:cNvSpPr/>
            <p:nvPr/>
          </p:nvSpPr>
          <p:spPr>
            <a:xfrm>
              <a:off x="9337717" y="3429000"/>
              <a:ext cx="177456" cy="278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4" name="组合 253"/>
          <p:cNvGrpSpPr/>
          <p:nvPr/>
        </p:nvGrpSpPr>
        <p:grpSpPr>
          <a:xfrm rot="2669451">
            <a:off x="10390791" y="1247613"/>
            <a:ext cx="216000" cy="216000"/>
            <a:chOff x="6047417" y="5336099"/>
            <a:chExt cx="288000" cy="288000"/>
          </a:xfrm>
        </p:grpSpPr>
        <p:sp>
          <p:nvSpPr>
            <p:cNvPr id="255" name="椭圆 254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6" name="直接连接符 255"/>
            <p:cNvCxnSpPr>
              <a:stCxn id="255" idx="2"/>
              <a:endCxn id="255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>
              <a:stCxn id="255" idx="0"/>
              <a:endCxn id="255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8" name="连接符: 肘形 257"/>
          <p:cNvCxnSpPr>
            <a:stCxn id="197" idx="0"/>
            <a:endCxn id="255" idx="5"/>
          </p:cNvCxnSpPr>
          <p:nvPr/>
        </p:nvCxnSpPr>
        <p:spPr>
          <a:xfrm rot="5400000" flipH="1" flipV="1">
            <a:off x="10139710" y="1278387"/>
            <a:ext cx="174819" cy="545264"/>
          </a:xfrm>
          <a:prstGeom prst="bentConnector3">
            <a:avLst>
              <a:gd name="adj1" fmla="val 3077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连接符: 肘形 277"/>
          <p:cNvCxnSpPr>
            <a:stCxn id="235" idx="1"/>
          </p:cNvCxnSpPr>
          <p:nvPr/>
        </p:nvCxnSpPr>
        <p:spPr>
          <a:xfrm rot="10800000" flipH="1">
            <a:off x="9971269" y="1362644"/>
            <a:ext cx="407806" cy="918072"/>
          </a:xfrm>
          <a:prstGeom prst="bentConnector4">
            <a:avLst>
              <a:gd name="adj1" fmla="val -88618"/>
              <a:gd name="adj2" fmla="val 99813"/>
            </a:avLst>
          </a:prstGeom>
          <a:ln w="12700">
            <a:solidFill>
              <a:schemeClr val="bg1">
                <a:lumMod val="6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直接箭头连接符 298"/>
          <p:cNvCxnSpPr/>
          <p:nvPr/>
        </p:nvCxnSpPr>
        <p:spPr>
          <a:xfrm flipV="1">
            <a:off x="10504580" y="893904"/>
            <a:ext cx="0" cy="3308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立方体 349"/>
          <p:cNvSpPr/>
          <p:nvPr/>
        </p:nvSpPr>
        <p:spPr>
          <a:xfrm>
            <a:off x="9845744" y="758789"/>
            <a:ext cx="1465793" cy="115547"/>
          </a:xfrm>
          <a:prstGeom prst="cube">
            <a:avLst/>
          </a:prstGeom>
          <a:solidFill>
            <a:srgbClr val="F3FDFF"/>
          </a:solidFill>
          <a:ln>
            <a:solidFill>
              <a:srgbClr val="22A8F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1" name="组合 350"/>
          <p:cNvGrpSpPr/>
          <p:nvPr/>
        </p:nvGrpSpPr>
        <p:grpSpPr>
          <a:xfrm>
            <a:off x="10648304" y="919658"/>
            <a:ext cx="762000" cy="248751"/>
            <a:chOff x="11099800" y="2613334"/>
            <a:chExt cx="762000" cy="248751"/>
          </a:xfrm>
        </p:grpSpPr>
        <p:sp>
          <p:nvSpPr>
            <p:cNvPr id="352" name="矩形: 圆角 351"/>
            <p:cNvSpPr/>
            <p:nvPr/>
          </p:nvSpPr>
          <p:spPr>
            <a:xfrm>
              <a:off x="11118850" y="2613334"/>
              <a:ext cx="733876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353" name="文本框 352"/>
            <p:cNvSpPr txBox="1"/>
            <p:nvPr/>
          </p:nvSpPr>
          <p:spPr>
            <a:xfrm>
              <a:off x="11099800" y="2615864"/>
              <a:ext cx="762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Add &amp; LN</a:t>
              </a:r>
              <a:endParaRPr lang="en-US" altLang="zh-CN" sz="1000" dirty="0">
                <a:solidFill>
                  <a:srgbClr val="00B0F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58" name="连接符: 肘形 357"/>
          <p:cNvCxnSpPr>
            <a:endCxn id="350" idx="5"/>
          </p:cNvCxnSpPr>
          <p:nvPr/>
        </p:nvCxnSpPr>
        <p:spPr>
          <a:xfrm rot="5400000" flipH="1" flipV="1">
            <a:off x="9869934" y="1469824"/>
            <a:ext cx="2109308" cy="773898"/>
          </a:xfrm>
          <a:prstGeom prst="bentConnector4">
            <a:avLst>
              <a:gd name="adj1" fmla="val -163"/>
              <a:gd name="adj2" fmla="val 121720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文本框 369"/>
          <p:cNvSpPr txBox="1"/>
          <p:nvPr/>
        </p:nvSpPr>
        <p:spPr>
          <a:xfrm>
            <a:off x="9558349" y="2648349"/>
            <a:ext cx="8413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latin typeface="Comic Sans MS" panose="030F0702030302020204" pitchFamily="66" charset="0"/>
                <a:cs typeface="Times New Roman" panose="02020603050405020304" pitchFamily="18" charset="0"/>
              </a:rPr>
              <a:t>MoE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Block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71" name="直接箭头连接符 370"/>
          <p:cNvCxnSpPr/>
          <p:nvPr/>
        </p:nvCxnSpPr>
        <p:spPr>
          <a:xfrm flipV="1">
            <a:off x="10509061" y="556335"/>
            <a:ext cx="0" cy="1837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文本框 377"/>
          <p:cNvSpPr txBox="1"/>
          <p:nvPr/>
        </p:nvSpPr>
        <p:spPr>
          <a:xfrm>
            <a:off x="10451731" y="433224"/>
            <a:ext cx="11654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Different Tasks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9" t="27178" r="39745" b="40020"/>
          <a:stretch>
            <a:fillRect/>
          </a:stretch>
        </p:blipFill>
        <p:spPr>
          <a:xfrm>
            <a:off x="829236" y="3644934"/>
            <a:ext cx="965947" cy="5457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矩形: 圆角 16"/>
          <p:cNvSpPr/>
          <p:nvPr/>
        </p:nvSpPr>
        <p:spPr>
          <a:xfrm>
            <a:off x="899395" y="4427113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22520" y="4423293"/>
            <a:ext cx="634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Conv1d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93045" y="4733820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30470" y="4730000"/>
            <a:ext cx="3998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BN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893045" y="5037872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66970" y="5034052"/>
            <a:ext cx="533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ReLU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793377" y="4370292"/>
            <a:ext cx="1035424" cy="954739"/>
          </a:xfrm>
          <a:prstGeom prst="roundRect">
            <a:avLst>
              <a:gd name="adj" fmla="val 12557"/>
            </a:avLst>
          </a:prstGeom>
          <a:noFill/>
          <a:ln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1452349" y="5359399"/>
            <a:ext cx="654419" cy="246221"/>
            <a:chOff x="6949893" y="4830087"/>
            <a:chExt cx="654419" cy="246221"/>
          </a:xfrm>
        </p:grpSpPr>
        <p:sp>
          <p:nvSpPr>
            <p:cNvPr id="45" name="矩形: 圆角 44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8" name="直接箭头连接符 57"/>
          <p:cNvCxnSpPr/>
          <p:nvPr/>
        </p:nvCxnSpPr>
        <p:spPr>
          <a:xfrm>
            <a:off x="1311920" y="5394574"/>
            <a:ext cx="0" cy="20843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立方体 447"/>
          <p:cNvSpPr/>
          <p:nvPr/>
        </p:nvSpPr>
        <p:spPr>
          <a:xfrm>
            <a:off x="573399" y="5649415"/>
            <a:ext cx="1465793" cy="115547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文本框 448"/>
          <p:cNvSpPr txBox="1"/>
          <p:nvPr/>
        </p:nvSpPr>
        <p:spPr>
          <a:xfrm>
            <a:off x="1789501" y="4727157"/>
            <a:ext cx="405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×N</a:t>
            </a:r>
            <a:endParaRPr lang="en-US" altLang="zh-CN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451" name="组合 450"/>
          <p:cNvGrpSpPr/>
          <p:nvPr/>
        </p:nvGrpSpPr>
        <p:grpSpPr>
          <a:xfrm>
            <a:off x="1450110" y="5800913"/>
            <a:ext cx="654419" cy="246221"/>
            <a:chOff x="6949893" y="4830087"/>
            <a:chExt cx="654419" cy="246221"/>
          </a:xfrm>
        </p:grpSpPr>
        <p:sp>
          <p:nvSpPr>
            <p:cNvPr id="454" name="矩形: 圆角 453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55" name="文本框 454"/>
            <p:cNvSpPr txBox="1"/>
            <p:nvPr/>
          </p:nvSpPr>
          <p:spPr>
            <a:xfrm>
              <a:off x="7096928" y="4830087"/>
              <a:ext cx="41319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LN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56" name="直接箭头连接符 455"/>
          <p:cNvCxnSpPr/>
          <p:nvPr/>
        </p:nvCxnSpPr>
        <p:spPr>
          <a:xfrm>
            <a:off x="1309681" y="5822640"/>
            <a:ext cx="0" cy="20843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立方体 485"/>
          <p:cNvSpPr/>
          <p:nvPr/>
        </p:nvSpPr>
        <p:spPr>
          <a:xfrm>
            <a:off x="571160" y="6084205"/>
            <a:ext cx="1465793" cy="115547"/>
          </a:xfrm>
          <a:prstGeom prst="cub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7" name="直接箭头连接符 486"/>
          <p:cNvCxnSpPr/>
          <p:nvPr/>
        </p:nvCxnSpPr>
        <p:spPr>
          <a:xfrm>
            <a:off x="1309678" y="6239432"/>
            <a:ext cx="0" cy="158005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直接箭头连接符 488"/>
          <p:cNvCxnSpPr/>
          <p:nvPr/>
        </p:nvCxnSpPr>
        <p:spPr>
          <a:xfrm>
            <a:off x="1302956" y="4215410"/>
            <a:ext cx="0" cy="137834"/>
          </a:xfrm>
          <a:prstGeom prst="straightConnector1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3" name="图片 49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89" t="27178" r="39745" b="40020"/>
          <a:stretch>
            <a:fillRect/>
          </a:stretch>
        </p:blipFill>
        <p:spPr>
          <a:xfrm>
            <a:off x="2628137" y="3647278"/>
            <a:ext cx="965947" cy="5457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95" name="矩形: 圆角 494"/>
          <p:cNvSpPr/>
          <p:nvPr/>
        </p:nvSpPr>
        <p:spPr>
          <a:xfrm>
            <a:off x="2692168" y="4320235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7" name="文本框 496"/>
          <p:cNvSpPr txBox="1"/>
          <p:nvPr/>
        </p:nvSpPr>
        <p:spPr>
          <a:xfrm>
            <a:off x="2909421" y="4316415"/>
            <a:ext cx="42544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FFT</a:t>
            </a:r>
            <a:endParaRPr lang="en-US" altLang="zh-CN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98" name="矩形: 圆角 497"/>
          <p:cNvSpPr/>
          <p:nvPr/>
        </p:nvSpPr>
        <p:spPr>
          <a:xfrm>
            <a:off x="2692168" y="4692634"/>
            <a:ext cx="846855" cy="24240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2734610" y="4688814"/>
            <a:ext cx="8154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Rfft_freq</a:t>
            </a:r>
            <a:endParaRPr lang="en-US" altLang="zh-CN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98" name="组合 597"/>
          <p:cNvGrpSpPr/>
          <p:nvPr/>
        </p:nvGrpSpPr>
        <p:grpSpPr>
          <a:xfrm>
            <a:off x="2535246" y="5056022"/>
            <a:ext cx="1200112" cy="925827"/>
            <a:chOff x="2535246" y="4898846"/>
            <a:chExt cx="1200112" cy="925827"/>
          </a:xfrm>
        </p:grpSpPr>
        <p:grpSp>
          <p:nvGrpSpPr>
            <p:cNvPr id="167" name="组合 166"/>
            <p:cNvGrpSpPr/>
            <p:nvPr/>
          </p:nvGrpSpPr>
          <p:grpSpPr>
            <a:xfrm>
              <a:off x="2535246" y="4898846"/>
              <a:ext cx="1200112" cy="925827"/>
              <a:chOff x="2582312" y="5006425"/>
              <a:chExt cx="1200112" cy="925827"/>
            </a:xfrm>
          </p:grpSpPr>
          <p:sp>
            <p:nvSpPr>
              <p:cNvPr id="500" name="椭圆 499"/>
              <p:cNvSpPr>
                <a:spLocks noChangeAspect="1"/>
              </p:cNvSpPr>
              <p:nvPr/>
            </p:nvSpPr>
            <p:spPr>
              <a:xfrm>
                <a:off x="3016670" y="5052994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2" name="椭圆 501"/>
              <p:cNvSpPr>
                <a:spLocks noChangeAspect="1"/>
              </p:cNvSpPr>
              <p:nvPr/>
            </p:nvSpPr>
            <p:spPr>
              <a:xfrm>
                <a:off x="3433732" y="5231850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3" name="椭圆 502"/>
              <p:cNvSpPr>
                <a:spLocks noChangeAspect="1"/>
              </p:cNvSpPr>
              <p:nvPr/>
            </p:nvSpPr>
            <p:spPr>
              <a:xfrm>
                <a:off x="2582312" y="5231850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5" name="椭圆 504"/>
              <p:cNvSpPr>
                <a:spLocks noChangeAspect="1"/>
              </p:cNvSpPr>
              <p:nvPr/>
            </p:nvSpPr>
            <p:spPr>
              <a:xfrm>
                <a:off x="3230700" y="5605998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7" name="椭圆 506"/>
              <p:cNvSpPr>
                <a:spLocks noChangeAspect="1"/>
              </p:cNvSpPr>
              <p:nvPr/>
            </p:nvSpPr>
            <p:spPr>
              <a:xfrm>
                <a:off x="2816638" y="5606558"/>
                <a:ext cx="288000" cy="288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8" name="文本框 507"/>
              <p:cNvSpPr txBox="1"/>
              <p:nvPr/>
            </p:nvSpPr>
            <p:spPr>
              <a:xfrm>
                <a:off x="3007706" y="5006425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α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4" name="文本框 523"/>
              <p:cNvSpPr txBox="1"/>
              <p:nvPr/>
            </p:nvSpPr>
            <p:spPr>
              <a:xfrm>
                <a:off x="2586193" y="5195545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β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5" name="文本框 524"/>
              <p:cNvSpPr txBox="1"/>
              <p:nvPr/>
            </p:nvSpPr>
            <p:spPr>
              <a:xfrm>
                <a:off x="3442139" y="5175493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γ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6" name="文本框 525"/>
              <p:cNvSpPr txBox="1"/>
              <p:nvPr/>
            </p:nvSpPr>
            <p:spPr>
              <a:xfrm>
                <a:off x="2806943" y="5593698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δ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7" name="文本框 526"/>
              <p:cNvSpPr txBox="1"/>
              <p:nvPr/>
            </p:nvSpPr>
            <p:spPr>
              <a:xfrm>
                <a:off x="3223249" y="5585584"/>
                <a:ext cx="34028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l-GR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θ</a:t>
                </a:r>
                <a:endParaRPr lang="en-US" altLang="zh-CN" sz="16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37" name="直接连接符 536"/>
              <p:cNvCxnSpPr>
                <a:stCxn id="500" idx="6"/>
                <a:endCxn id="502" idx="1"/>
              </p:cNvCxnSpPr>
              <p:nvPr/>
            </p:nvCxnSpPr>
            <p:spPr>
              <a:xfrm>
                <a:off x="3304670" y="5196994"/>
                <a:ext cx="171239" cy="77033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接连接符 552"/>
              <p:cNvCxnSpPr>
                <a:stCxn id="503" idx="7"/>
                <a:endCxn id="500" idx="2"/>
              </p:cNvCxnSpPr>
              <p:nvPr/>
            </p:nvCxnSpPr>
            <p:spPr>
              <a:xfrm flipV="1">
                <a:off x="2828135" y="5196994"/>
                <a:ext cx="188535" cy="77033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>
                <a:stCxn id="503" idx="4"/>
                <a:endCxn id="507" idx="2"/>
              </p:cNvCxnSpPr>
              <p:nvPr/>
            </p:nvCxnSpPr>
            <p:spPr>
              <a:xfrm>
                <a:off x="2726312" y="5519850"/>
                <a:ext cx="90326" cy="230708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>
                <a:stCxn id="502" idx="4"/>
                <a:endCxn id="505" idx="6"/>
              </p:cNvCxnSpPr>
              <p:nvPr/>
            </p:nvCxnSpPr>
            <p:spPr>
              <a:xfrm flipH="1">
                <a:off x="3518700" y="5519850"/>
                <a:ext cx="59032" cy="230148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>
                <a:stCxn id="507" idx="6"/>
                <a:endCxn id="505" idx="2"/>
              </p:cNvCxnSpPr>
              <p:nvPr/>
            </p:nvCxnSpPr>
            <p:spPr>
              <a:xfrm flipV="1">
                <a:off x="3104638" y="5749998"/>
                <a:ext cx="126062" cy="560"/>
              </a:xfrm>
              <a:prstGeom prst="line">
                <a:avLst/>
              </a:pr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文本框 168"/>
            <p:cNvSpPr txBox="1"/>
            <p:nvPr/>
          </p:nvSpPr>
          <p:spPr>
            <a:xfrm>
              <a:off x="2797219" y="5240796"/>
              <a:ext cx="63387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i="1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Energy</a:t>
              </a:r>
              <a:endParaRPr lang="en-US" altLang="zh-CN" sz="1000" i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7" name="组合 186"/>
          <p:cNvGrpSpPr/>
          <p:nvPr/>
        </p:nvGrpSpPr>
        <p:grpSpPr>
          <a:xfrm>
            <a:off x="3227855" y="6161019"/>
            <a:ext cx="654419" cy="246221"/>
            <a:chOff x="6949893" y="4830087"/>
            <a:chExt cx="654419" cy="246221"/>
          </a:xfrm>
        </p:grpSpPr>
        <p:sp>
          <p:nvSpPr>
            <p:cNvPr id="579" name="矩形: 圆角 578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89" name="文本框 588"/>
            <p:cNvSpPr txBox="1"/>
            <p:nvPr/>
          </p:nvSpPr>
          <p:spPr>
            <a:xfrm>
              <a:off x="7096928" y="4830087"/>
              <a:ext cx="413194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LN</a:t>
              </a:r>
              <a:endPara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91" name="立方体 590"/>
          <p:cNvSpPr/>
          <p:nvPr/>
        </p:nvSpPr>
        <p:spPr>
          <a:xfrm>
            <a:off x="2348905" y="6007720"/>
            <a:ext cx="1465793" cy="115547"/>
          </a:xfrm>
          <a:prstGeom prst="cub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2" name="直接箭头连接符 591"/>
          <p:cNvCxnSpPr/>
          <p:nvPr/>
        </p:nvCxnSpPr>
        <p:spPr>
          <a:xfrm>
            <a:off x="3114319" y="6205812"/>
            <a:ext cx="0" cy="15800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箭头连接符 593"/>
          <p:cNvCxnSpPr/>
          <p:nvPr/>
        </p:nvCxnSpPr>
        <p:spPr>
          <a:xfrm>
            <a:off x="3115269" y="4195731"/>
            <a:ext cx="0" cy="12088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2" name="直接箭头连接符 601"/>
          <p:cNvCxnSpPr/>
          <p:nvPr/>
        </p:nvCxnSpPr>
        <p:spPr>
          <a:xfrm>
            <a:off x="3115269" y="4562437"/>
            <a:ext cx="0" cy="120882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3" name="直接箭头连接符 602"/>
          <p:cNvCxnSpPr/>
          <p:nvPr/>
        </p:nvCxnSpPr>
        <p:spPr>
          <a:xfrm>
            <a:off x="3114319" y="5834487"/>
            <a:ext cx="0" cy="15800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直接箭头连接符 622"/>
          <p:cNvCxnSpPr/>
          <p:nvPr/>
        </p:nvCxnSpPr>
        <p:spPr>
          <a:xfrm>
            <a:off x="3114319" y="4934780"/>
            <a:ext cx="0" cy="158005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48532" y="191074"/>
            <a:ext cx="11181820" cy="6342216"/>
            <a:chOff x="448532" y="191074"/>
            <a:chExt cx="11181820" cy="6342216"/>
          </a:xfrm>
        </p:grpSpPr>
        <p:sp>
          <p:nvSpPr>
            <p:cNvPr id="652" name="矩形: 圆角 651"/>
            <p:cNvSpPr/>
            <p:nvPr/>
          </p:nvSpPr>
          <p:spPr>
            <a:xfrm>
              <a:off x="9515661" y="370915"/>
              <a:ext cx="2017060" cy="6060138"/>
            </a:xfrm>
            <a:custGeom>
              <a:avLst/>
              <a:gdLst>
                <a:gd name="connsiteX0" fmla="*/ 0 w 2017060"/>
                <a:gd name="connsiteY0" fmla="*/ 161970 h 6060138"/>
                <a:gd name="connsiteX1" fmla="*/ 161970 w 2017060"/>
                <a:gd name="connsiteY1" fmla="*/ 0 h 6060138"/>
                <a:gd name="connsiteX2" fmla="*/ 1855090 w 2017060"/>
                <a:gd name="connsiteY2" fmla="*/ 0 h 6060138"/>
                <a:gd name="connsiteX3" fmla="*/ 2017060 w 2017060"/>
                <a:gd name="connsiteY3" fmla="*/ 161970 h 6060138"/>
                <a:gd name="connsiteX4" fmla="*/ 2017060 w 2017060"/>
                <a:gd name="connsiteY4" fmla="*/ 5898168 h 6060138"/>
                <a:gd name="connsiteX5" fmla="*/ 1855090 w 2017060"/>
                <a:gd name="connsiteY5" fmla="*/ 6060138 h 6060138"/>
                <a:gd name="connsiteX6" fmla="*/ 161970 w 2017060"/>
                <a:gd name="connsiteY6" fmla="*/ 6060138 h 6060138"/>
                <a:gd name="connsiteX7" fmla="*/ 0 w 2017060"/>
                <a:gd name="connsiteY7" fmla="*/ 5898168 h 6060138"/>
                <a:gd name="connsiteX8" fmla="*/ 0 w 2017060"/>
                <a:gd name="connsiteY8" fmla="*/ 161970 h 6060138"/>
                <a:gd name="connsiteX0-1" fmla="*/ 1855090 w 2017060"/>
                <a:gd name="connsiteY0-2" fmla="*/ 0 h 6060138"/>
                <a:gd name="connsiteX1-3" fmla="*/ 2017060 w 2017060"/>
                <a:gd name="connsiteY1-4" fmla="*/ 161970 h 6060138"/>
                <a:gd name="connsiteX2-5" fmla="*/ 2017060 w 2017060"/>
                <a:gd name="connsiteY2-6" fmla="*/ 5898168 h 6060138"/>
                <a:gd name="connsiteX3-7" fmla="*/ 1855090 w 2017060"/>
                <a:gd name="connsiteY3-8" fmla="*/ 6060138 h 6060138"/>
                <a:gd name="connsiteX4-9" fmla="*/ 161970 w 2017060"/>
                <a:gd name="connsiteY4-10" fmla="*/ 6060138 h 6060138"/>
                <a:gd name="connsiteX5-11" fmla="*/ 0 w 2017060"/>
                <a:gd name="connsiteY5-12" fmla="*/ 5898168 h 6060138"/>
                <a:gd name="connsiteX6-13" fmla="*/ 0 w 2017060"/>
                <a:gd name="connsiteY6-14" fmla="*/ 161970 h 6060138"/>
                <a:gd name="connsiteX7-15" fmla="*/ 161970 w 2017060"/>
                <a:gd name="connsiteY7-16" fmla="*/ 0 h 6060138"/>
                <a:gd name="connsiteX8-17" fmla="*/ 1946530 w 2017060"/>
                <a:gd name="connsiteY8-18" fmla="*/ 91440 h 6060138"/>
                <a:gd name="connsiteX0-19" fmla="*/ 1855090 w 2017060"/>
                <a:gd name="connsiteY0-20" fmla="*/ 0 h 6060138"/>
                <a:gd name="connsiteX1-21" fmla="*/ 2017060 w 2017060"/>
                <a:gd name="connsiteY1-22" fmla="*/ 161970 h 6060138"/>
                <a:gd name="connsiteX2-23" fmla="*/ 2017060 w 2017060"/>
                <a:gd name="connsiteY2-24" fmla="*/ 5898168 h 6060138"/>
                <a:gd name="connsiteX3-25" fmla="*/ 1855090 w 2017060"/>
                <a:gd name="connsiteY3-26" fmla="*/ 6060138 h 6060138"/>
                <a:gd name="connsiteX4-27" fmla="*/ 161970 w 2017060"/>
                <a:gd name="connsiteY4-28" fmla="*/ 6060138 h 6060138"/>
                <a:gd name="connsiteX5-29" fmla="*/ 0 w 2017060"/>
                <a:gd name="connsiteY5-30" fmla="*/ 5898168 h 6060138"/>
                <a:gd name="connsiteX6-31" fmla="*/ 0 w 2017060"/>
                <a:gd name="connsiteY6-32" fmla="*/ 161970 h 6060138"/>
                <a:gd name="connsiteX7-33" fmla="*/ 161970 w 2017060"/>
                <a:gd name="connsiteY7-34" fmla="*/ 0 h 606013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2017060" h="6060138">
                  <a:moveTo>
                    <a:pt x="1855090" y="0"/>
                  </a:moveTo>
                  <a:cubicBezTo>
                    <a:pt x="1944544" y="0"/>
                    <a:pt x="2017060" y="72516"/>
                    <a:pt x="2017060" y="161970"/>
                  </a:cubicBezTo>
                  <a:lnTo>
                    <a:pt x="2017060" y="5898168"/>
                  </a:lnTo>
                  <a:cubicBezTo>
                    <a:pt x="2017060" y="5987622"/>
                    <a:pt x="1944544" y="6060138"/>
                    <a:pt x="1855090" y="6060138"/>
                  </a:cubicBezTo>
                  <a:lnTo>
                    <a:pt x="161970" y="6060138"/>
                  </a:lnTo>
                  <a:cubicBezTo>
                    <a:pt x="72516" y="6060138"/>
                    <a:pt x="0" y="5987622"/>
                    <a:pt x="0" y="5898168"/>
                  </a:cubicBezTo>
                  <a:lnTo>
                    <a:pt x="0" y="161970"/>
                  </a:lnTo>
                  <a:cubicBezTo>
                    <a:pt x="0" y="72516"/>
                    <a:pt x="72516" y="0"/>
                    <a:pt x="161970" y="0"/>
                  </a:cubicBezTo>
                </a:path>
              </a:pathLst>
            </a:custGeom>
            <a:solidFill>
              <a:srgbClr val="F3FDFF"/>
            </a:solidFill>
            <a:ln>
              <a:solidFill>
                <a:srgbClr val="22A8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0" name="矩形: 圆角 689"/>
            <p:cNvSpPr/>
            <p:nvPr/>
          </p:nvSpPr>
          <p:spPr>
            <a:xfrm>
              <a:off x="9550583" y="1188019"/>
              <a:ext cx="1843186" cy="1686290"/>
            </a:xfrm>
            <a:prstGeom prst="roundRect">
              <a:avLst>
                <a:gd name="adj" fmla="val 10213"/>
              </a:avLst>
            </a:prstGeom>
            <a:solidFill>
              <a:srgbClr val="FFFBFF"/>
            </a:solidFill>
            <a:ln>
              <a:solidFill>
                <a:srgbClr val="FD6BEC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/>
            <p:cNvSpPr/>
            <p:nvPr/>
          </p:nvSpPr>
          <p:spPr>
            <a:xfrm>
              <a:off x="9550583" y="4837579"/>
              <a:ext cx="1955617" cy="394271"/>
            </a:xfrm>
            <a:prstGeom prst="roundRect">
              <a:avLst>
                <a:gd name="adj" fmla="val 7785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70" name="组合 669"/>
            <p:cNvGrpSpPr/>
            <p:nvPr/>
          </p:nvGrpSpPr>
          <p:grpSpPr>
            <a:xfrm>
              <a:off x="10117045" y="6112889"/>
              <a:ext cx="801149" cy="146293"/>
              <a:chOff x="11245215" y="5706489"/>
              <a:chExt cx="801149" cy="146293"/>
            </a:xfrm>
          </p:grpSpPr>
          <p:sp>
            <p:nvSpPr>
              <p:cNvPr id="665" name="矩形 664"/>
              <p:cNvSpPr/>
              <p:nvPr/>
            </p:nvSpPr>
            <p:spPr>
              <a:xfrm>
                <a:off x="11245215" y="5706489"/>
                <a:ext cx="121017" cy="14629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  <a:alpha val="41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6" name="矩形 665"/>
              <p:cNvSpPr/>
              <p:nvPr/>
            </p:nvSpPr>
            <p:spPr>
              <a:xfrm>
                <a:off x="11415248" y="5706489"/>
                <a:ext cx="121017" cy="146293"/>
              </a:xfrm>
              <a:prstGeom prst="rect">
                <a:avLst/>
              </a:prstGeom>
              <a:solidFill>
                <a:srgbClr val="D5F1FF"/>
              </a:solidFill>
              <a:ln>
                <a:solidFill>
                  <a:srgbClr val="7CC8FC">
                    <a:alpha val="41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7" name="矩形 666"/>
              <p:cNvSpPr/>
              <p:nvPr/>
            </p:nvSpPr>
            <p:spPr>
              <a:xfrm>
                <a:off x="11585281" y="5706489"/>
                <a:ext cx="121017" cy="14629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75000"/>
                    <a:alpha val="41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8" name="矩形 667"/>
              <p:cNvSpPr/>
              <p:nvPr/>
            </p:nvSpPr>
            <p:spPr>
              <a:xfrm>
                <a:off x="11758489" y="5706489"/>
                <a:ext cx="121017" cy="146293"/>
              </a:xfrm>
              <a:prstGeom prst="rect">
                <a:avLst/>
              </a:prstGeom>
              <a:solidFill>
                <a:srgbClr val="FEDEEC"/>
              </a:solidFill>
              <a:ln>
                <a:solidFill>
                  <a:srgbClr val="FF8585">
                    <a:alpha val="41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9" name="矩形 668"/>
              <p:cNvSpPr/>
              <p:nvPr/>
            </p:nvSpPr>
            <p:spPr>
              <a:xfrm>
                <a:off x="11925347" y="5706489"/>
                <a:ext cx="121017" cy="146293"/>
              </a:xfrm>
              <a:prstGeom prst="rect">
                <a:avLst/>
              </a:prstGeom>
              <a:solidFill>
                <a:srgbClr val="EAE9E2"/>
              </a:solidFill>
              <a:ln>
                <a:solidFill>
                  <a:schemeClr val="bg1">
                    <a:lumMod val="50000"/>
                    <a:alpha val="41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6" name="矩形: 圆角 595"/>
            <p:cNvSpPr/>
            <p:nvPr/>
          </p:nvSpPr>
          <p:spPr>
            <a:xfrm rot="5400000">
              <a:off x="7114008" y="4189753"/>
              <a:ext cx="3307918" cy="1174681"/>
            </a:xfrm>
            <a:custGeom>
              <a:avLst/>
              <a:gdLst>
                <a:gd name="connsiteX0" fmla="*/ 0 w 3285813"/>
                <a:gd name="connsiteY0" fmla="*/ 186093 h 1116533"/>
                <a:gd name="connsiteX1" fmla="*/ 186093 w 3285813"/>
                <a:gd name="connsiteY1" fmla="*/ 0 h 1116533"/>
                <a:gd name="connsiteX2" fmla="*/ 3099720 w 3285813"/>
                <a:gd name="connsiteY2" fmla="*/ 0 h 1116533"/>
                <a:gd name="connsiteX3" fmla="*/ 3285813 w 3285813"/>
                <a:gd name="connsiteY3" fmla="*/ 186093 h 1116533"/>
                <a:gd name="connsiteX4" fmla="*/ 3285813 w 3285813"/>
                <a:gd name="connsiteY4" fmla="*/ 930440 h 1116533"/>
                <a:gd name="connsiteX5" fmla="*/ 3099720 w 3285813"/>
                <a:gd name="connsiteY5" fmla="*/ 1116533 h 1116533"/>
                <a:gd name="connsiteX6" fmla="*/ 186093 w 3285813"/>
                <a:gd name="connsiteY6" fmla="*/ 1116533 h 1116533"/>
                <a:gd name="connsiteX7" fmla="*/ 0 w 3285813"/>
                <a:gd name="connsiteY7" fmla="*/ 930440 h 1116533"/>
                <a:gd name="connsiteX8" fmla="*/ 0 w 3285813"/>
                <a:gd name="connsiteY8" fmla="*/ 186093 h 1116533"/>
                <a:gd name="connsiteX0-1" fmla="*/ 0 w 3285813"/>
                <a:gd name="connsiteY0-2" fmla="*/ 186093 h 1116533"/>
                <a:gd name="connsiteX1-3" fmla="*/ 186093 w 3285813"/>
                <a:gd name="connsiteY1-4" fmla="*/ 0 h 1116533"/>
                <a:gd name="connsiteX2-5" fmla="*/ 2840126 w 3285813"/>
                <a:gd name="connsiteY2-6" fmla="*/ 3084 h 1116533"/>
                <a:gd name="connsiteX3-7" fmla="*/ 3099720 w 3285813"/>
                <a:gd name="connsiteY3-8" fmla="*/ 0 h 1116533"/>
                <a:gd name="connsiteX4-9" fmla="*/ 3285813 w 3285813"/>
                <a:gd name="connsiteY4-10" fmla="*/ 186093 h 1116533"/>
                <a:gd name="connsiteX5-11" fmla="*/ 3285813 w 3285813"/>
                <a:gd name="connsiteY5-12" fmla="*/ 930440 h 1116533"/>
                <a:gd name="connsiteX6-13" fmla="*/ 3099720 w 3285813"/>
                <a:gd name="connsiteY6-14" fmla="*/ 1116533 h 1116533"/>
                <a:gd name="connsiteX7-15" fmla="*/ 186093 w 3285813"/>
                <a:gd name="connsiteY7-16" fmla="*/ 1116533 h 1116533"/>
                <a:gd name="connsiteX8-17" fmla="*/ 0 w 3285813"/>
                <a:gd name="connsiteY8-18" fmla="*/ 930440 h 1116533"/>
                <a:gd name="connsiteX9" fmla="*/ 0 w 3285813"/>
                <a:gd name="connsiteY9" fmla="*/ 186093 h 1116533"/>
                <a:gd name="connsiteX0-19" fmla="*/ 0 w 3285813"/>
                <a:gd name="connsiteY0-20" fmla="*/ 189359 h 1119799"/>
                <a:gd name="connsiteX1-21" fmla="*/ 186093 w 3285813"/>
                <a:gd name="connsiteY1-22" fmla="*/ 3266 h 1119799"/>
                <a:gd name="connsiteX2-23" fmla="*/ 503326 w 3285813"/>
                <a:gd name="connsiteY2-24" fmla="*/ 0 h 1119799"/>
                <a:gd name="connsiteX3-25" fmla="*/ 2840126 w 3285813"/>
                <a:gd name="connsiteY3-26" fmla="*/ 6350 h 1119799"/>
                <a:gd name="connsiteX4-27" fmla="*/ 3099720 w 3285813"/>
                <a:gd name="connsiteY4-28" fmla="*/ 3266 h 1119799"/>
                <a:gd name="connsiteX5-29" fmla="*/ 3285813 w 3285813"/>
                <a:gd name="connsiteY5-30" fmla="*/ 189359 h 1119799"/>
                <a:gd name="connsiteX6-31" fmla="*/ 3285813 w 3285813"/>
                <a:gd name="connsiteY6-32" fmla="*/ 933706 h 1119799"/>
                <a:gd name="connsiteX7-33" fmla="*/ 3099720 w 3285813"/>
                <a:gd name="connsiteY7-34" fmla="*/ 1119799 h 1119799"/>
                <a:gd name="connsiteX8-35" fmla="*/ 186093 w 3285813"/>
                <a:gd name="connsiteY8-36" fmla="*/ 1119799 h 1119799"/>
                <a:gd name="connsiteX9-37" fmla="*/ 0 w 3285813"/>
                <a:gd name="connsiteY9-38" fmla="*/ 933706 h 1119799"/>
                <a:gd name="connsiteX10" fmla="*/ 0 w 3285813"/>
                <a:gd name="connsiteY10" fmla="*/ 189359 h 1119799"/>
                <a:gd name="connsiteX0-39" fmla="*/ 2840126 w 3285813"/>
                <a:gd name="connsiteY0-40" fmla="*/ 6350 h 1119799"/>
                <a:gd name="connsiteX1-41" fmla="*/ 3099720 w 3285813"/>
                <a:gd name="connsiteY1-42" fmla="*/ 3266 h 1119799"/>
                <a:gd name="connsiteX2-43" fmla="*/ 3285813 w 3285813"/>
                <a:gd name="connsiteY2-44" fmla="*/ 189359 h 1119799"/>
                <a:gd name="connsiteX3-45" fmla="*/ 3285813 w 3285813"/>
                <a:gd name="connsiteY3-46" fmla="*/ 933706 h 1119799"/>
                <a:gd name="connsiteX4-47" fmla="*/ 3099720 w 3285813"/>
                <a:gd name="connsiteY4-48" fmla="*/ 1119799 h 1119799"/>
                <a:gd name="connsiteX5-49" fmla="*/ 186093 w 3285813"/>
                <a:gd name="connsiteY5-50" fmla="*/ 1119799 h 1119799"/>
                <a:gd name="connsiteX6-51" fmla="*/ 0 w 3285813"/>
                <a:gd name="connsiteY6-52" fmla="*/ 933706 h 1119799"/>
                <a:gd name="connsiteX7-53" fmla="*/ 0 w 3285813"/>
                <a:gd name="connsiteY7-54" fmla="*/ 189359 h 1119799"/>
                <a:gd name="connsiteX8-55" fmla="*/ 186093 w 3285813"/>
                <a:gd name="connsiteY8-56" fmla="*/ 3266 h 1119799"/>
                <a:gd name="connsiteX9-57" fmla="*/ 503326 w 3285813"/>
                <a:gd name="connsiteY9-58" fmla="*/ 0 h 1119799"/>
                <a:gd name="connsiteX10-59" fmla="*/ 2931566 w 3285813"/>
                <a:gd name="connsiteY10-60" fmla="*/ 97790 h 1119799"/>
                <a:gd name="connsiteX0-61" fmla="*/ 2840126 w 3285813"/>
                <a:gd name="connsiteY0-62" fmla="*/ 6350 h 1119799"/>
                <a:gd name="connsiteX1-63" fmla="*/ 3099720 w 3285813"/>
                <a:gd name="connsiteY1-64" fmla="*/ 3266 h 1119799"/>
                <a:gd name="connsiteX2-65" fmla="*/ 3285813 w 3285813"/>
                <a:gd name="connsiteY2-66" fmla="*/ 189359 h 1119799"/>
                <a:gd name="connsiteX3-67" fmla="*/ 3285813 w 3285813"/>
                <a:gd name="connsiteY3-68" fmla="*/ 933706 h 1119799"/>
                <a:gd name="connsiteX4-69" fmla="*/ 3099720 w 3285813"/>
                <a:gd name="connsiteY4-70" fmla="*/ 1119799 h 1119799"/>
                <a:gd name="connsiteX5-71" fmla="*/ 186093 w 3285813"/>
                <a:gd name="connsiteY5-72" fmla="*/ 1119799 h 1119799"/>
                <a:gd name="connsiteX6-73" fmla="*/ 0 w 3285813"/>
                <a:gd name="connsiteY6-74" fmla="*/ 933706 h 1119799"/>
                <a:gd name="connsiteX7-75" fmla="*/ 0 w 3285813"/>
                <a:gd name="connsiteY7-76" fmla="*/ 189359 h 1119799"/>
                <a:gd name="connsiteX8-77" fmla="*/ 186093 w 3285813"/>
                <a:gd name="connsiteY8-78" fmla="*/ 3266 h 1119799"/>
                <a:gd name="connsiteX9-79" fmla="*/ 503326 w 3285813"/>
                <a:gd name="connsiteY9-80" fmla="*/ 0 h 111979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3285813" h="1119799">
                  <a:moveTo>
                    <a:pt x="2840126" y="6350"/>
                  </a:moveTo>
                  <a:lnTo>
                    <a:pt x="3099720" y="3266"/>
                  </a:lnTo>
                  <a:cubicBezTo>
                    <a:pt x="3202496" y="3266"/>
                    <a:pt x="3285813" y="86583"/>
                    <a:pt x="3285813" y="189359"/>
                  </a:cubicBezTo>
                  <a:lnTo>
                    <a:pt x="3285813" y="933706"/>
                  </a:lnTo>
                  <a:cubicBezTo>
                    <a:pt x="3285813" y="1036482"/>
                    <a:pt x="3202496" y="1119799"/>
                    <a:pt x="3099720" y="1119799"/>
                  </a:cubicBezTo>
                  <a:lnTo>
                    <a:pt x="186093" y="1119799"/>
                  </a:lnTo>
                  <a:cubicBezTo>
                    <a:pt x="83317" y="1119799"/>
                    <a:pt x="0" y="1036482"/>
                    <a:pt x="0" y="933706"/>
                  </a:cubicBezTo>
                  <a:lnTo>
                    <a:pt x="0" y="189359"/>
                  </a:lnTo>
                  <a:cubicBezTo>
                    <a:pt x="0" y="86583"/>
                    <a:pt x="83317" y="3266"/>
                    <a:pt x="186093" y="3266"/>
                  </a:cubicBezTo>
                  <a:lnTo>
                    <a:pt x="503326" y="0"/>
                  </a:lnTo>
                </a:path>
              </a:pathLst>
            </a:custGeom>
            <a:solidFill>
              <a:srgbClr val="FFF7FE"/>
            </a:solidFill>
            <a:ln>
              <a:solidFill>
                <a:srgbClr val="E08F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2" name="矩形: 圆角 199"/>
            <p:cNvSpPr/>
            <p:nvPr/>
          </p:nvSpPr>
          <p:spPr>
            <a:xfrm flipV="1">
              <a:off x="4042627" y="3126897"/>
              <a:ext cx="4009193" cy="3265654"/>
            </a:xfrm>
            <a:custGeom>
              <a:avLst/>
              <a:gdLst>
                <a:gd name="connsiteX0" fmla="*/ 0 w 5257799"/>
                <a:gd name="connsiteY0" fmla="*/ 183591 h 2898964"/>
                <a:gd name="connsiteX1" fmla="*/ 183591 w 5257799"/>
                <a:gd name="connsiteY1" fmla="*/ 0 h 2898964"/>
                <a:gd name="connsiteX2" fmla="*/ 5074208 w 5257799"/>
                <a:gd name="connsiteY2" fmla="*/ 0 h 2898964"/>
                <a:gd name="connsiteX3" fmla="*/ 5257799 w 5257799"/>
                <a:gd name="connsiteY3" fmla="*/ 183591 h 2898964"/>
                <a:gd name="connsiteX4" fmla="*/ 5257799 w 5257799"/>
                <a:gd name="connsiteY4" fmla="*/ 2715373 h 2898964"/>
                <a:gd name="connsiteX5" fmla="*/ 5074208 w 5257799"/>
                <a:gd name="connsiteY5" fmla="*/ 2898964 h 2898964"/>
                <a:gd name="connsiteX6" fmla="*/ 183591 w 5257799"/>
                <a:gd name="connsiteY6" fmla="*/ 2898964 h 2898964"/>
                <a:gd name="connsiteX7" fmla="*/ 0 w 5257799"/>
                <a:gd name="connsiteY7" fmla="*/ 2715373 h 2898964"/>
                <a:gd name="connsiteX8" fmla="*/ 0 w 5257799"/>
                <a:gd name="connsiteY8" fmla="*/ 183591 h 2898964"/>
                <a:gd name="connsiteX0-1" fmla="*/ 0 w 5257799"/>
                <a:gd name="connsiteY0-2" fmla="*/ 191551 h 2906924"/>
                <a:gd name="connsiteX1-3" fmla="*/ 183591 w 5257799"/>
                <a:gd name="connsiteY1-4" fmla="*/ 7960 h 2906924"/>
                <a:gd name="connsiteX2-5" fmla="*/ 398930 w 5257799"/>
                <a:gd name="connsiteY2-6" fmla="*/ 0 h 2906924"/>
                <a:gd name="connsiteX3-7" fmla="*/ 5074208 w 5257799"/>
                <a:gd name="connsiteY3-8" fmla="*/ 7960 h 2906924"/>
                <a:gd name="connsiteX4-9" fmla="*/ 5257799 w 5257799"/>
                <a:gd name="connsiteY4-10" fmla="*/ 191551 h 2906924"/>
                <a:gd name="connsiteX5-11" fmla="*/ 5257799 w 5257799"/>
                <a:gd name="connsiteY5-12" fmla="*/ 2723333 h 2906924"/>
                <a:gd name="connsiteX6-13" fmla="*/ 5074208 w 5257799"/>
                <a:gd name="connsiteY6-14" fmla="*/ 2906924 h 2906924"/>
                <a:gd name="connsiteX7-15" fmla="*/ 183591 w 5257799"/>
                <a:gd name="connsiteY7-16" fmla="*/ 2906924 h 2906924"/>
                <a:gd name="connsiteX8-17" fmla="*/ 0 w 5257799"/>
                <a:gd name="connsiteY8-18" fmla="*/ 2723333 h 2906924"/>
                <a:gd name="connsiteX9" fmla="*/ 0 w 5257799"/>
                <a:gd name="connsiteY9" fmla="*/ 191551 h 2906924"/>
                <a:gd name="connsiteX0-19" fmla="*/ 0 w 5257799"/>
                <a:gd name="connsiteY0-20" fmla="*/ 191551 h 2906924"/>
                <a:gd name="connsiteX1-21" fmla="*/ 183591 w 5257799"/>
                <a:gd name="connsiteY1-22" fmla="*/ 7960 h 2906924"/>
                <a:gd name="connsiteX2-23" fmla="*/ 398930 w 5257799"/>
                <a:gd name="connsiteY2-24" fmla="*/ 0 h 2906924"/>
                <a:gd name="connsiteX3-25" fmla="*/ 4870077 w 5257799"/>
                <a:gd name="connsiteY3-26" fmla="*/ 6723 h 2906924"/>
                <a:gd name="connsiteX4-27" fmla="*/ 5074208 w 5257799"/>
                <a:gd name="connsiteY4-28" fmla="*/ 7960 h 2906924"/>
                <a:gd name="connsiteX5-29" fmla="*/ 5257799 w 5257799"/>
                <a:gd name="connsiteY5-30" fmla="*/ 191551 h 2906924"/>
                <a:gd name="connsiteX6-31" fmla="*/ 5257799 w 5257799"/>
                <a:gd name="connsiteY6-32" fmla="*/ 2723333 h 2906924"/>
                <a:gd name="connsiteX7-33" fmla="*/ 5074208 w 5257799"/>
                <a:gd name="connsiteY7-34" fmla="*/ 2906924 h 2906924"/>
                <a:gd name="connsiteX8-35" fmla="*/ 183591 w 5257799"/>
                <a:gd name="connsiteY8-36" fmla="*/ 2906924 h 2906924"/>
                <a:gd name="connsiteX9-37" fmla="*/ 0 w 5257799"/>
                <a:gd name="connsiteY9-38" fmla="*/ 2723333 h 2906924"/>
                <a:gd name="connsiteX10" fmla="*/ 0 w 5257799"/>
                <a:gd name="connsiteY10" fmla="*/ 191551 h 2906924"/>
                <a:gd name="connsiteX0-39" fmla="*/ 4870077 w 5257799"/>
                <a:gd name="connsiteY0-40" fmla="*/ 6723 h 2906924"/>
                <a:gd name="connsiteX1-41" fmla="*/ 5074208 w 5257799"/>
                <a:gd name="connsiteY1-42" fmla="*/ 7960 h 2906924"/>
                <a:gd name="connsiteX2-43" fmla="*/ 5257799 w 5257799"/>
                <a:gd name="connsiteY2-44" fmla="*/ 191551 h 2906924"/>
                <a:gd name="connsiteX3-45" fmla="*/ 5257799 w 5257799"/>
                <a:gd name="connsiteY3-46" fmla="*/ 2723333 h 2906924"/>
                <a:gd name="connsiteX4-47" fmla="*/ 5074208 w 5257799"/>
                <a:gd name="connsiteY4-48" fmla="*/ 2906924 h 2906924"/>
                <a:gd name="connsiteX5-49" fmla="*/ 183591 w 5257799"/>
                <a:gd name="connsiteY5-50" fmla="*/ 2906924 h 2906924"/>
                <a:gd name="connsiteX6-51" fmla="*/ 0 w 5257799"/>
                <a:gd name="connsiteY6-52" fmla="*/ 2723333 h 2906924"/>
                <a:gd name="connsiteX7-53" fmla="*/ 0 w 5257799"/>
                <a:gd name="connsiteY7-54" fmla="*/ 191551 h 2906924"/>
                <a:gd name="connsiteX8-55" fmla="*/ 183591 w 5257799"/>
                <a:gd name="connsiteY8-56" fmla="*/ 7960 h 2906924"/>
                <a:gd name="connsiteX9-57" fmla="*/ 398930 w 5257799"/>
                <a:gd name="connsiteY9-58" fmla="*/ 0 h 2906924"/>
                <a:gd name="connsiteX10-59" fmla="*/ 4961517 w 5257799"/>
                <a:gd name="connsiteY10-60" fmla="*/ 98163 h 2906924"/>
                <a:gd name="connsiteX0-61" fmla="*/ 4870077 w 5257799"/>
                <a:gd name="connsiteY0-62" fmla="*/ 6723 h 2906924"/>
                <a:gd name="connsiteX1-63" fmla="*/ 5074208 w 5257799"/>
                <a:gd name="connsiteY1-64" fmla="*/ 7960 h 2906924"/>
                <a:gd name="connsiteX2-65" fmla="*/ 5257799 w 5257799"/>
                <a:gd name="connsiteY2-66" fmla="*/ 191551 h 2906924"/>
                <a:gd name="connsiteX3-67" fmla="*/ 5257799 w 5257799"/>
                <a:gd name="connsiteY3-68" fmla="*/ 2723333 h 2906924"/>
                <a:gd name="connsiteX4-69" fmla="*/ 5074208 w 5257799"/>
                <a:gd name="connsiteY4-70" fmla="*/ 2906924 h 2906924"/>
                <a:gd name="connsiteX5-71" fmla="*/ 183591 w 5257799"/>
                <a:gd name="connsiteY5-72" fmla="*/ 2906924 h 2906924"/>
                <a:gd name="connsiteX6-73" fmla="*/ 0 w 5257799"/>
                <a:gd name="connsiteY6-74" fmla="*/ 2723333 h 2906924"/>
                <a:gd name="connsiteX7-75" fmla="*/ 0 w 5257799"/>
                <a:gd name="connsiteY7-76" fmla="*/ 191551 h 2906924"/>
                <a:gd name="connsiteX8-77" fmla="*/ 183591 w 5257799"/>
                <a:gd name="connsiteY8-78" fmla="*/ 7960 h 2906924"/>
                <a:gd name="connsiteX9-79" fmla="*/ 398930 w 5257799"/>
                <a:gd name="connsiteY9-80" fmla="*/ 0 h 2906924"/>
                <a:gd name="connsiteX0-81" fmla="*/ 4870077 w 5257799"/>
                <a:gd name="connsiteY0-82" fmla="*/ 0 h 2900201"/>
                <a:gd name="connsiteX1-83" fmla="*/ 5074208 w 5257799"/>
                <a:gd name="connsiteY1-84" fmla="*/ 1237 h 2900201"/>
                <a:gd name="connsiteX2-85" fmla="*/ 5257799 w 5257799"/>
                <a:gd name="connsiteY2-86" fmla="*/ 184828 h 2900201"/>
                <a:gd name="connsiteX3-87" fmla="*/ 5257799 w 5257799"/>
                <a:gd name="connsiteY3-88" fmla="*/ 2716610 h 2900201"/>
                <a:gd name="connsiteX4-89" fmla="*/ 5074208 w 5257799"/>
                <a:gd name="connsiteY4-90" fmla="*/ 2900201 h 2900201"/>
                <a:gd name="connsiteX5-91" fmla="*/ 183591 w 5257799"/>
                <a:gd name="connsiteY5-92" fmla="*/ 2900201 h 2900201"/>
                <a:gd name="connsiteX6-93" fmla="*/ 0 w 5257799"/>
                <a:gd name="connsiteY6-94" fmla="*/ 2716610 h 2900201"/>
                <a:gd name="connsiteX7-95" fmla="*/ 0 w 5257799"/>
                <a:gd name="connsiteY7-96" fmla="*/ 184828 h 2900201"/>
                <a:gd name="connsiteX8-97" fmla="*/ 183591 w 5257799"/>
                <a:gd name="connsiteY8-98" fmla="*/ 1237 h 2900201"/>
                <a:gd name="connsiteX0-99" fmla="*/ 5074208 w 5257799"/>
                <a:gd name="connsiteY0-100" fmla="*/ 0 h 2898964"/>
                <a:gd name="connsiteX1-101" fmla="*/ 5257799 w 5257799"/>
                <a:gd name="connsiteY1-102" fmla="*/ 183591 h 2898964"/>
                <a:gd name="connsiteX2-103" fmla="*/ 5257799 w 5257799"/>
                <a:gd name="connsiteY2-104" fmla="*/ 2715373 h 2898964"/>
                <a:gd name="connsiteX3-105" fmla="*/ 5074208 w 5257799"/>
                <a:gd name="connsiteY3-106" fmla="*/ 2898964 h 2898964"/>
                <a:gd name="connsiteX4-107" fmla="*/ 183591 w 5257799"/>
                <a:gd name="connsiteY4-108" fmla="*/ 2898964 h 2898964"/>
                <a:gd name="connsiteX5-109" fmla="*/ 0 w 5257799"/>
                <a:gd name="connsiteY5-110" fmla="*/ 2715373 h 2898964"/>
                <a:gd name="connsiteX6-111" fmla="*/ 0 w 5257799"/>
                <a:gd name="connsiteY6-112" fmla="*/ 183591 h 2898964"/>
                <a:gd name="connsiteX7-113" fmla="*/ 183591 w 5257799"/>
                <a:gd name="connsiteY7-114" fmla="*/ 0 h 289896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5257799" h="2898964">
                  <a:moveTo>
                    <a:pt x="5074208" y="0"/>
                  </a:moveTo>
                  <a:cubicBezTo>
                    <a:pt x="5175603" y="0"/>
                    <a:pt x="5257799" y="82196"/>
                    <a:pt x="5257799" y="183591"/>
                  </a:cubicBezTo>
                  <a:lnTo>
                    <a:pt x="5257799" y="2715373"/>
                  </a:lnTo>
                  <a:cubicBezTo>
                    <a:pt x="5257799" y="2816768"/>
                    <a:pt x="5175603" y="2898964"/>
                    <a:pt x="5074208" y="2898964"/>
                  </a:cubicBezTo>
                  <a:lnTo>
                    <a:pt x="183591" y="2898964"/>
                  </a:lnTo>
                  <a:cubicBezTo>
                    <a:pt x="82196" y="2898964"/>
                    <a:pt x="0" y="2816768"/>
                    <a:pt x="0" y="2715373"/>
                  </a:cubicBezTo>
                  <a:lnTo>
                    <a:pt x="0" y="183591"/>
                  </a:lnTo>
                  <a:cubicBezTo>
                    <a:pt x="0" y="82196"/>
                    <a:pt x="82196" y="0"/>
                    <a:pt x="183591" y="0"/>
                  </a:cubicBezTo>
                </a:path>
              </a:pathLst>
            </a:custGeom>
            <a:solidFill>
              <a:srgbClr val="FFFAEB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/>
            <p:cNvSpPr/>
            <p:nvPr/>
          </p:nvSpPr>
          <p:spPr>
            <a:xfrm>
              <a:off x="4042628" y="361110"/>
              <a:ext cx="5388612" cy="2732112"/>
            </a:xfrm>
            <a:custGeom>
              <a:avLst/>
              <a:gdLst>
                <a:gd name="connsiteX0" fmla="*/ 0 w 5257799"/>
                <a:gd name="connsiteY0" fmla="*/ 183591 h 2898964"/>
                <a:gd name="connsiteX1" fmla="*/ 183591 w 5257799"/>
                <a:gd name="connsiteY1" fmla="*/ 0 h 2898964"/>
                <a:gd name="connsiteX2" fmla="*/ 5074208 w 5257799"/>
                <a:gd name="connsiteY2" fmla="*/ 0 h 2898964"/>
                <a:gd name="connsiteX3" fmla="*/ 5257799 w 5257799"/>
                <a:gd name="connsiteY3" fmla="*/ 183591 h 2898964"/>
                <a:gd name="connsiteX4" fmla="*/ 5257799 w 5257799"/>
                <a:gd name="connsiteY4" fmla="*/ 2715373 h 2898964"/>
                <a:gd name="connsiteX5" fmla="*/ 5074208 w 5257799"/>
                <a:gd name="connsiteY5" fmla="*/ 2898964 h 2898964"/>
                <a:gd name="connsiteX6" fmla="*/ 183591 w 5257799"/>
                <a:gd name="connsiteY6" fmla="*/ 2898964 h 2898964"/>
                <a:gd name="connsiteX7" fmla="*/ 0 w 5257799"/>
                <a:gd name="connsiteY7" fmla="*/ 2715373 h 2898964"/>
                <a:gd name="connsiteX8" fmla="*/ 0 w 5257799"/>
                <a:gd name="connsiteY8" fmla="*/ 183591 h 2898964"/>
                <a:gd name="connsiteX0-1" fmla="*/ 0 w 5257799"/>
                <a:gd name="connsiteY0-2" fmla="*/ 191551 h 2906924"/>
                <a:gd name="connsiteX1-3" fmla="*/ 183591 w 5257799"/>
                <a:gd name="connsiteY1-4" fmla="*/ 7960 h 2906924"/>
                <a:gd name="connsiteX2-5" fmla="*/ 398930 w 5257799"/>
                <a:gd name="connsiteY2-6" fmla="*/ 0 h 2906924"/>
                <a:gd name="connsiteX3-7" fmla="*/ 5074208 w 5257799"/>
                <a:gd name="connsiteY3-8" fmla="*/ 7960 h 2906924"/>
                <a:gd name="connsiteX4-9" fmla="*/ 5257799 w 5257799"/>
                <a:gd name="connsiteY4-10" fmla="*/ 191551 h 2906924"/>
                <a:gd name="connsiteX5-11" fmla="*/ 5257799 w 5257799"/>
                <a:gd name="connsiteY5-12" fmla="*/ 2723333 h 2906924"/>
                <a:gd name="connsiteX6-13" fmla="*/ 5074208 w 5257799"/>
                <a:gd name="connsiteY6-14" fmla="*/ 2906924 h 2906924"/>
                <a:gd name="connsiteX7-15" fmla="*/ 183591 w 5257799"/>
                <a:gd name="connsiteY7-16" fmla="*/ 2906924 h 2906924"/>
                <a:gd name="connsiteX8-17" fmla="*/ 0 w 5257799"/>
                <a:gd name="connsiteY8-18" fmla="*/ 2723333 h 2906924"/>
                <a:gd name="connsiteX9" fmla="*/ 0 w 5257799"/>
                <a:gd name="connsiteY9" fmla="*/ 191551 h 2906924"/>
                <a:gd name="connsiteX0-19" fmla="*/ 0 w 5257799"/>
                <a:gd name="connsiteY0-20" fmla="*/ 191551 h 2906924"/>
                <a:gd name="connsiteX1-21" fmla="*/ 183591 w 5257799"/>
                <a:gd name="connsiteY1-22" fmla="*/ 7960 h 2906924"/>
                <a:gd name="connsiteX2-23" fmla="*/ 398930 w 5257799"/>
                <a:gd name="connsiteY2-24" fmla="*/ 0 h 2906924"/>
                <a:gd name="connsiteX3-25" fmla="*/ 4870077 w 5257799"/>
                <a:gd name="connsiteY3-26" fmla="*/ 6723 h 2906924"/>
                <a:gd name="connsiteX4-27" fmla="*/ 5074208 w 5257799"/>
                <a:gd name="connsiteY4-28" fmla="*/ 7960 h 2906924"/>
                <a:gd name="connsiteX5-29" fmla="*/ 5257799 w 5257799"/>
                <a:gd name="connsiteY5-30" fmla="*/ 191551 h 2906924"/>
                <a:gd name="connsiteX6-31" fmla="*/ 5257799 w 5257799"/>
                <a:gd name="connsiteY6-32" fmla="*/ 2723333 h 2906924"/>
                <a:gd name="connsiteX7-33" fmla="*/ 5074208 w 5257799"/>
                <a:gd name="connsiteY7-34" fmla="*/ 2906924 h 2906924"/>
                <a:gd name="connsiteX8-35" fmla="*/ 183591 w 5257799"/>
                <a:gd name="connsiteY8-36" fmla="*/ 2906924 h 2906924"/>
                <a:gd name="connsiteX9-37" fmla="*/ 0 w 5257799"/>
                <a:gd name="connsiteY9-38" fmla="*/ 2723333 h 2906924"/>
                <a:gd name="connsiteX10" fmla="*/ 0 w 5257799"/>
                <a:gd name="connsiteY10" fmla="*/ 191551 h 2906924"/>
                <a:gd name="connsiteX0-39" fmla="*/ 4870077 w 5257799"/>
                <a:gd name="connsiteY0-40" fmla="*/ 6723 h 2906924"/>
                <a:gd name="connsiteX1-41" fmla="*/ 5074208 w 5257799"/>
                <a:gd name="connsiteY1-42" fmla="*/ 7960 h 2906924"/>
                <a:gd name="connsiteX2-43" fmla="*/ 5257799 w 5257799"/>
                <a:gd name="connsiteY2-44" fmla="*/ 191551 h 2906924"/>
                <a:gd name="connsiteX3-45" fmla="*/ 5257799 w 5257799"/>
                <a:gd name="connsiteY3-46" fmla="*/ 2723333 h 2906924"/>
                <a:gd name="connsiteX4-47" fmla="*/ 5074208 w 5257799"/>
                <a:gd name="connsiteY4-48" fmla="*/ 2906924 h 2906924"/>
                <a:gd name="connsiteX5-49" fmla="*/ 183591 w 5257799"/>
                <a:gd name="connsiteY5-50" fmla="*/ 2906924 h 2906924"/>
                <a:gd name="connsiteX6-51" fmla="*/ 0 w 5257799"/>
                <a:gd name="connsiteY6-52" fmla="*/ 2723333 h 2906924"/>
                <a:gd name="connsiteX7-53" fmla="*/ 0 w 5257799"/>
                <a:gd name="connsiteY7-54" fmla="*/ 191551 h 2906924"/>
                <a:gd name="connsiteX8-55" fmla="*/ 183591 w 5257799"/>
                <a:gd name="connsiteY8-56" fmla="*/ 7960 h 2906924"/>
                <a:gd name="connsiteX9-57" fmla="*/ 398930 w 5257799"/>
                <a:gd name="connsiteY9-58" fmla="*/ 0 h 2906924"/>
                <a:gd name="connsiteX10-59" fmla="*/ 4961517 w 5257799"/>
                <a:gd name="connsiteY10-60" fmla="*/ 98163 h 2906924"/>
                <a:gd name="connsiteX0-61" fmla="*/ 4870077 w 5257799"/>
                <a:gd name="connsiteY0-62" fmla="*/ 6723 h 2906924"/>
                <a:gd name="connsiteX1-63" fmla="*/ 5074208 w 5257799"/>
                <a:gd name="connsiteY1-64" fmla="*/ 7960 h 2906924"/>
                <a:gd name="connsiteX2-65" fmla="*/ 5257799 w 5257799"/>
                <a:gd name="connsiteY2-66" fmla="*/ 191551 h 2906924"/>
                <a:gd name="connsiteX3-67" fmla="*/ 5257799 w 5257799"/>
                <a:gd name="connsiteY3-68" fmla="*/ 2723333 h 2906924"/>
                <a:gd name="connsiteX4-69" fmla="*/ 5074208 w 5257799"/>
                <a:gd name="connsiteY4-70" fmla="*/ 2906924 h 2906924"/>
                <a:gd name="connsiteX5-71" fmla="*/ 183591 w 5257799"/>
                <a:gd name="connsiteY5-72" fmla="*/ 2906924 h 2906924"/>
                <a:gd name="connsiteX6-73" fmla="*/ 0 w 5257799"/>
                <a:gd name="connsiteY6-74" fmla="*/ 2723333 h 2906924"/>
                <a:gd name="connsiteX7-75" fmla="*/ 0 w 5257799"/>
                <a:gd name="connsiteY7-76" fmla="*/ 191551 h 2906924"/>
                <a:gd name="connsiteX8-77" fmla="*/ 183591 w 5257799"/>
                <a:gd name="connsiteY8-78" fmla="*/ 7960 h 2906924"/>
                <a:gd name="connsiteX9-79" fmla="*/ 398930 w 5257799"/>
                <a:gd name="connsiteY9-80" fmla="*/ 0 h 2906924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37" y="connsiteY9-38"/>
                </a:cxn>
              </a:cxnLst>
              <a:rect l="l" t="t" r="r" b="b"/>
              <a:pathLst>
                <a:path w="5257799" h="2906924">
                  <a:moveTo>
                    <a:pt x="4870077" y="6723"/>
                  </a:moveTo>
                  <a:lnTo>
                    <a:pt x="5074208" y="7960"/>
                  </a:lnTo>
                  <a:cubicBezTo>
                    <a:pt x="5175603" y="7960"/>
                    <a:pt x="5257799" y="90156"/>
                    <a:pt x="5257799" y="191551"/>
                  </a:cubicBezTo>
                  <a:lnTo>
                    <a:pt x="5257799" y="2723333"/>
                  </a:lnTo>
                  <a:cubicBezTo>
                    <a:pt x="5257799" y="2824728"/>
                    <a:pt x="5175603" y="2906924"/>
                    <a:pt x="5074208" y="2906924"/>
                  </a:cubicBezTo>
                  <a:lnTo>
                    <a:pt x="183591" y="2906924"/>
                  </a:lnTo>
                  <a:cubicBezTo>
                    <a:pt x="82196" y="2906924"/>
                    <a:pt x="0" y="2824728"/>
                    <a:pt x="0" y="2723333"/>
                  </a:cubicBezTo>
                  <a:lnTo>
                    <a:pt x="0" y="191551"/>
                  </a:lnTo>
                  <a:cubicBezTo>
                    <a:pt x="0" y="90156"/>
                    <a:pt x="82196" y="7960"/>
                    <a:pt x="183591" y="7960"/>
                  </a:cubicBezTo>
                  <a:lnTo>
                    <a:pt x="398930" y="0"/>
                  </a:lnTo>
                </a:path>
              </a:pathLst>
            </a:custGeom>
            <a:solidFill>
              <a:srgbClr val="F5F5F5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: 圆角 90"/>
            <p:cNvSpPr/>
            <p:nvPr/>
          </p:nvSpPr>
          <p:spPr>
            <a:xfrm>
              <a:off x="4096419" y="543190"/>
              <a:ext cx="1958797" cy="2477284"/>
            </a:xfrm>
            <a:prstGeom prst="roundRect">
              <a:avLst>
                <a:gd name="adj" fmla="val 10356"/>
              </a:avLst>
            </a:prstGeom>
            <a:solidFill>
              <a:srgbClr val="FDF0E7"/>
            </a:solidFill>
            <a:ln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箭头: 下 184"/>
            <p:cNvSpPr/>
            <p:nvPr/>
          </p:nvSpPr>
          <p:spPr>
            <a:xfrm rot="16200000">
              <a:off x="1981735" y="1772970"/>
              <a:ext cx="383417" cy="133350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4" name="矩形: 圆角 433"/>
            <p:cNvSpPr/>
            <p:nvPr/>
          </p:nvSpPr>
          <p:spPr>
            <a:xfrm>
              <a:off x="4480235" y="4718565"/>
              <a:ext cx="1521014" cy="795482"/>
            </a:xfrm>
            <a:prstGeom prst="round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矩形 283"/>
            <p:cNvSpPr/>
            <p:nvPr/>
          </p:nvSpPr>
          <p:spPr>
            <a:xfrm>
              <a:off x="4268968" y="3511207"/>
              <a:ext cx="177456" cy="40533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5" name="矩形 284"/>
            <p:cNvSpPr/>
            <p:nvPr/>
          </p:nvSpPr>
          <p:spPr>
            <a:xfrm>
              <a:off x="6187695" y="3400980"/>
              <a:ext cx="177455" cy="66686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4199152" y="875329"/>
              <a:ext cx="1080034" cy="1096386"/>
              <a:chOff x="5765298" y="3550278"/>
              <a:chExt cx="1339878" cy="1363847"/>
            </a:xfrm>
          </p:grpSpPr>
          <p:sp>
            <p:nvSpPr>
              <p:cNvPr id="166" name="矩形 165"/>
              <p:cNvSpPr/>
              <p:nvPr/>
            </p:nvSpPr>
            <p:spPr>
              <a:xfrm>
                <a:off x="6162650" y="3985849"/>
                <a:ext cx="522593" cy="48855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3" name="图片 2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602" t="28572" r="20146" b="42262"/>
              <a:stretch>
                <a:fillRect/>
              </a:stretch>
            </p:blipFill>
            <p:spPr>
              <a:xfrm>
                <a:off x="5765569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5" name="图片 4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87" t="28191" r="32239" b="45649"/>
              <a:stretch>
                <a:fillRect/>
              </a:stretch>
            </p:blipFill>
            <p:spPr>
              <a:xfrm>
                <a:off x="5765298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" name="图片 5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563" t="29521" r="25459" b="40431"/>
              <a:stretch>
                <a:fillRect/>
              </a:stretch>
            </p:blipFill>
            <p:spPr>
              <a:xfrm>
                <a:off x="6250552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" name="图片 6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998" t="28665" r="69741" b="38857"/>
              <a:stretch>
                <a:fillRect/>
              </a:stretch>
            </p:blipFill>
            <p:spPr>
              <a:xfrm>
                <a:off x="6736227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8" name="图片 7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768" t="27403" r="4602" b="43730"/>
              <a:stretch>
                <a:fillRect/>
              </a:stretch>
            </p:blipFill>
            <p:spPr>
              <a:xfrm>
                <a:off x="6736227" y="404769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9" name="图片 8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39" t="29519" r="66370" b="41172"/>
              <a:stretch>
                <a:fillRect/>
              </a:stretch>
            </p:blipFill>
            <p:spPr>
              <a:xfrm>
                <a:off x="6250552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0" name="图片 9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00" t="61235" r="68243" b="9028"/>
              <a:stretch>
                <a:fillRect/>
              </a:stretch>
            </p:blipFill>
            <p:spPr>
              <a:xfrm>
                <a:off x="6251875" y="455412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1" name="图片 10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194" t="59259" r="46871" b="13418"/>
              <a:stretch>
                <a:fillRect/>
              </a:stretch>
            </p:blipFill>
            <p:spPr>
              <a:xfrm>
                <a:off x="5765298" y="455025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" name="图片 11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803" t="62724" r="32301" b="8946"/>
              <a:stretch>
                <a:fillRect/>
              </a:stretch>
            </p:blipFill>
            <p:spPr>
              <a:xfrm>
                <a:off x="6745176" y="4545112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cxnSp>
          <p:nvCxnSpPr>
            <p:cNvPr id="175" name="直接连接符 174"/>
            <p:cNvCxnSpPr/>
            <p:nvPr/>
          </p:nvCxnSpPr>
          <p:spPr>
            <a:xfrm>
              <a:off x="4947332" y="1615712"/>
              <a:ext cx="1049099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4181100" y="714711"/>
              <a:ext cx="446008" cy="2243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/>
          </p:nvSpPr>
          <p:spPr>
            <a:xfrm>
              <a:off x="4572828" y="556336"/>
              <a:ext cx="12092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 Path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4693582" y="191074"/>
              <a:ext cx="4510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(b) Heterogeneous Feature Projection Module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>
            <a:xfrm>
              <a:off x="5601664" y="710225"/>
              <a:ext cx="446008" cy="2243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矩形: 圆角 88"/>
            <p:cNvSpPr/>
            <p:nvPr/>
          </p:nvSpPr>
          <p:spPr>
            <a:xfrm>
              <a:off x="6093023" y="543191"/>
              <a:ext cx="1958797" cy="2477283"/>
            </a:xfrm>
            <a:prstGeom prst="roundRect">
              <a:avLst>
                <a:gd name="adj" fmla="val 10356"/>
              </a:avLst>
            </a:prstGeom>
            <a:solidFill>
              <a:srgbClr val="F2F8EE"/>
            </a:solidFill>
            <a:ln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矩形: 圆角 89"/>
            <p:cNvSpPr/>
            <p:nvPr/>
          </p:nvSpPr>
          <p:spPr>
            <a:xfrm>
              <a:off x="8093506" y="543192"/>
              <a:ext cx="1261807" cy="2477282"/>
            </a:xfrm>
            <a:prstGeom prst="roundRect">
              <a:avLst>
                <a:gd name="adj" fmla="val 10356"/>
              </a:avLst>
            </a:prstGeom>
            <a:solidFill>
              <a:srgbClr val="EFF5FB"/>
            </a:solidFill>
            <a:ln>
              <a:solidFill>
                <a:schemeClr val="accent5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2" name="直接连接符 91"/>
            <p:cNvCxnSpPr/>
            <p:nvPr/>
          </p:nvCxnSpPr>
          <p:spPr>
            <a:xfrm>
              <a:off x="6156178" y="714573"/>
              <a:ext cx="27130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本框 92"/>
            <p:cNvSpPr txBox="1"/>
            <p:nvPr/>
          </p:nvSpPr>
          <p:spPr>
            <a:xfrm>
              <a:off x="6350473" y="556335"/>
              <a:ext cx="16488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Frequence Path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8" name="直接连接符 97"/>
            <p:cNvCxnSpPr/>
            <p:nvPr/>
          </p:nvCxnSpPr>
          <p:spPr>
            <a:xfrm>
              <a:off x="7737935" y="716954"/>
              <a:ext cx="27130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8248890" y="556335"/>
              <a:ext cx="12092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Raw Path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4" name="直接连接符 103"/>
            <p:cNvCxnSpPr/>
            <p:nvPr/>
          </p:nvCxnSpPr>
          <p:spPr>
            <a:xfrm>
              <a:off x="8145715" y="716573"/>
              <a:ext cx="12707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/>
          </p:nvCxnSpPr>
          <p:spPr>
            <a:xfrm>
              <a:off x="9119174" y="716573"/>
              <a:ext cx="127079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组合 211"/>
            <p:cNvGrpSpPr/>
            <p:nvPr/>
          </p:nvGrpSpPr>
          <p:grpSpPr>
            <a:xfrm>
              <a:off x="4419275" y="2064146"/>
              <a:ext cx="790462" cy="717196"/>
              <a:chOff x="745382" y="1937274"/>
              <a:chExt cx="790462" cy="717196"/>
            </a:xfrm>
          </p:grpSpPr>
          <p:sp>
            <p:nvSpPr>
              <p:cNvPr id="109" name="立方体 108"/>
              <p:cNvSpPr/>
              <p:nvPr/>
            </p:nvSpPr>
            <p:spPr>
              <a:xfrm>
                <a:off x="74807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立方体 125"/>
              <p:cNvSpPr/>
              <p:nvPr/>
            </p:nvSpPr>
            <p:spPr>
              <a:xfrm>
                <a:off x="908123" y="19372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7" name="立方体 126"/>
              <p:cNvSpPr/>
              <p:nvPr/>
            </p:nvSpPr>
            <p:spPr>
              <a:xfrm>
                <a:off x="1077983" y="19372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立方体 127"/>
              <p:cNvSpPr/>
              <p:nvPr/>
            </p:nvSpPr>
            <p:spPr>
              <a:xfrm>
                <a:off x="124784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立方体 128"/>
              <p:cNvSpPr/>
              <p:nvPr/>
            </p:nvSpPr>
            <p:spPr>
              <a:xfrm>
                <a:off x="1407893" y="19372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立方体 129"/>
              <p:cNvSpPr/>
              <p:nvPr/>
            </p:nvSpPr>
            <p:spPr>
              <a:xfrm>
                <a:off x="74807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立方体 130"/>
              <p:cNvSpPr/>
              <p:nvPr/>
            </p:nvSpPr>
            <p:spPr>
              <a:xfrm>
                <a:off x="908123" y="208738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立方体 131"/>
              <p:cNvSpPr/>
              <p:nvPr/>
            </p:nvSpPr>
            <p:spPr>
              <a:xfrm>
                <a:off x="1077983" y="208738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立方体 132"/>
              <p:cNvSpPr/>
              <p:nvPr/>
            </p:nvSpPr>
            <p:spPr>
              <a:xfrm>
                <a:off x="124784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立方体 133"/>
              <p:cNvSpPr/>
              <p:nvPr/>
            </p:nvSpPr>
            <p:spPr>
              <a:xfrm>
                <a:off x="1407893" y="20873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立方体 134"/>
              <p:cNvSpPr/>
              <p:nvPr/>
            </p:nvSpPr>
            <p:spPr>
              <a:xfrm>
                <a:off x="74807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立方体 135"/>
              <p:cNvSpPr/>
              <p:nvPr/>
            </p:nvSpPr>
            <p:spPr>
              <a:xfrm>
                <a:off x="908123" y="223147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立方体 136"/>
              <p:cNvSpPr/>
              <p:nvPr/>
            </p:nvSpPr>
            <p:spPr>
              <a:xfrm>
                <a:off x="1077983" y="223147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立方体 137"/>
              <p:cNvSpPr/>
              <p:nvPr/>
            </p:nvSpPr>
            <p:spPr>
              <a:xfrm>
                <a:off x="124784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立方体 138"/>
              <p:cNvSpPr/>
              <p:nvPr/>
            </p:nvSpPr>
            <p:spPr>
              <a:xfrm>
                <a:off x="1407893" y="223147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立方体 139"/>
              <p:cNvSpPr/>
              <p:nvPr/>
            </p:nvSpPr>
            <p:spPr>
              <a:xfrm>
                <a:off x="745382" y="238285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立方体 140"/>
              <p:cNvSpPr/>
              <p:nvPr/>
            </p:nvSpPr>
            <p:spPr>
              <a:xfrm>
                <a:off x="908123" y="238467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立方体 141"/>
              <p:cNvSpPr/>
              <p:nvPr/>
            </p:nvSpPr>
            <p:spPr>
              <a:xfrm>
                <a:off x="1077983" y="23846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立方体 142"/>
              <p:cNvSpPr/>
              <p:nvPr/>
            </p:nvSpPr>
            <p:spPr>
              <a:xfrm>
                <a:off x="124784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立方体 143"/>
              <p:cNvSpPr/>
              <p:nvPr/>
            </p:nvSpPr>
            <p:spPr>
              <a:xfrm>
                <a:off x="1407893" y="23846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立方体 144"/>
              <p:cNvSpPr/>
              <p:nvPr/>
            </p:nvSpPr>
            <p:spPr>
              <a:xfrm>
                <a:off x="74807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/>
              <p:cNvSpPr/>
              <p:nvPr/>
            </p:nvSpPr>
            <p:spPr>
              <a:xfrm>
                <a:off x="908123" y="252805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立方体 146"/>
              <p:cNvSpPr/>
              <p:nvPr/>
            </p:nvSpPr>
            <p:spPr>
              <a:xfrm>
                <a:off x="1077983" y="252805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立方体 147"/>
              <p:cNvSpPr/>
              <p:nvPr/>
            </p:nvSpPr>
            <p:spPr>
              <a:xfrm>
                <a:off x="124784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立方体 148"/>
              <p:cNvSpPr/>
              <p:nvPr/>
            </p:nvSpPr>
            <p:spPr>
              <a:xfrm>
                <a:off x="1407893" y="252805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1" name="文本框 150"/>
            <p:cNvSpPr txBox="1"/>
            <p:nvPr/>
          </p:nvSpPr>
          <p:spPr>
            <a:xfrm>
              <a:off x="4531926" y="2801764"/>
              <a:ext cx="9833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Time Patches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立方体 164"/>
            <p:cNvSpPr/>
            <p:nvPr/>
          </p:nvSpPr>
          <p:spPr>
            <a:xfrm flipH="1">
              <a:off x="5382156" y="1156557"/>
              <a:ext cx="733781" cy="678292"/>
            </a:xfrm>
            <a:prstGeom prst="cube">
              <a:avLst>
                <a:gd name="adj" fmla="val 12145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77" name="直接连接符 176"/>
            <p:cNvCxnSpPr/>
            <p:nvPr/>
          </p:nvCxnSpPr>
          <p:spPr>
            <a:xfrm>
              <a:off x="4531926" y="1228209"/>
              <a:ext cx="968977" cy="14956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flipV="1">
              <a:off x="4947332" y="1108159"/>
              <a:ext cx="1014876" cy="116582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文本框 183"/>
            <p:cNvSpPr txBox="1"/>
            <p:nvPr/>
          </p:nvSpPr>
          <p:spPr>
            <a:xfrm>
              <a:off x="5462448" y="1353354"/>
              <a:ext cx="6507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 Encoder</a:t>
              </a:r>
              <a:endParaRPr lang="zh-CN" altLang="en-US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0" name="直接连接符 169"/>
            <p:cNvCxnSpPr/>
            <p:nvPr/>
          </p:nvCxnSpPr>
          <p:spPr>
            <a:xfrm>
              <a:off x="4515189" y="1620568"/>
              <a:ext cx="983367" cy="242916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箭头: 右弧形 201"/>
            <p:cNvSpPr/>
            <p:nvPr/>
          </p:nvSpPr>
          <p:spPr>
            <a:xfrm rot="1856806">
              <a:off x="5501707" y="1874843"/>
              <a:ext cx="379756" cy="845722"/>
            </a:xfrm>
            <a:prstGeom prst="curvedLeftArrow">
              <a:avLst>
                <a:gd name="adj1" fmla="val 25000"/>
                <a:gd name="adj2" fmla="val 58041"/>
                <a:gd name="adj3" fmla="val 5409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5177451" y="2551396"/>
              <a:ext cx="956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Tokenization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02" name="组合 101"/>
            <p:cNvGrpSpPr/>
            <p:nvPr/>
          </p:nvGrpSpPr>
          <p:grpSpPr>
            <a:xfrm>
              <a:off x="6380584" y="2066973"/>
              <a:ext cx="787771" cy="730644"/>
              <a:chOff x="2362609" y="5155034"/>
              <a:chExt cx="787771" cy="730644"/>
            </a:xfrm>
          </p:grpSpPr>
          <p:sp>
            <p:nvSpPr>
              <p:cNvPr id="24" name="立方体 23"/>
              <p:cNvSpPr/>
              <p:nvPr/>
            </p:nvSpPr>
            <p:spPr>
              <a:xfrm>
                <a:off x="2362609" y="515503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立方体 24"/>
              <p:cNvSpPr/>
              <p:nvPr/>
            </p:nvSpPr>
            <p:spPr>
              <a:xfrm>
                <a:off x="2522659" y="515503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立方体 25"/>
              <p:cNvSpPr/>
              <p:nvPr/>
            </p:nvSpPr>
            <p:spPr>
              <a:xfrm>
                <a:off x="2692519" y="515503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立方体 27"/>
              <p:cNvSpPr/>
              <p:nvPr/>
            </p:nvSpPr>
            <p:spPr>
              <a:xfrm>
                <a:off x="2862379" y="51550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立方体 29"/>
              <p:cNvSpPr/>
              <p:nvPr/>
            </p:nvSpPr>
            <p:spPr>
              <a:xfrm>
                <a:off x="3022429" y="51550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立方体 31"/>
              <p:cNvSpPr/>
              <p:nvPr/>
            </p:nvSpPr>
            <p:spPr>
              <a:xfrm>
                <a:off x="2362609" y="53118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立方体 35"/>
              <p:cNvSpPr/>
              <p:nvPr/>
            </p:nvSpPr>
            <p:spPr>
              <a:xfrm>
                <a:off x="2522659" y="531186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立方体 36"/>
              <p:cNvSpPr/>
              <p:nvPr/>
            </p:nvSpPr>
            <p:spPr>
              <a:xfrm>
                <a:off x="2692519" y="531186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立方体 37"/>
              <p:cNvSpPr/>
              <p:nvPr/>
            </p:nvSpPr>
            <p:spPr>
              <a:xfrm>
                <a:off x="2862379" y="531186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立方体 38"/>
              <p:cNvSpPr/>
              <p:nvPr/>
            </p:nvSpPr>
            <p:spPr>
              <a:xfrm>
                <a:off x="3022429" y="531186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立方体 41"/>
              <p:cNvSpPr/>
              <p:nvPr/>
            </p:nvSpPr>
            <p:spPr>
              <a:xfrm>
                <a:off x="2362609" y="54626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立方体 42"/>
              <p:cNvSpPr/>
              <p:nvPr/>
            </p:nvSpPr>
            <p:spPr>
              <a:xfrm>
                <a:off x="2522659" y="546268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立方体 43"/>
              <p:cNvSpPr/>
              <p:nvPr/>
            </p:nvSpPr>
            <p:spPr>
              <a:xfrm>
                <a:off x="2692519" y="546268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立方体 45"/>
              <p:cNvSpPr/>
              <p:nvPr/>
            </p:nvSpPr>
            <p:spPr>
              <a:xfrm>
                <a:off x="2862379" y="546268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立方体 46"/>
              <p:cNvSpPr/>
              <p:nvPr/>
            </p:nvSpPr>
            <p:spPr>
              <a:xfrm>
                <a:off x="3022429" y="546268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立方体 47"/>
              <p:cNvSpPr/>
              <p:nvPr/>
            </p:nvSpPr>
            <p:spPr>
              <a:xfrm>
                <a:off x="2362609" y="561587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立方体 49"/>
              <p:cNvSpPr/>
              <p:nvPr/>
            </p:nvSpPr>
            <p:spPr>
              <a:xfrm>
                <a:off x="2522659" y="561587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立方体 51"/>
              <p:cNvSpPr/>
              <p:nvPr/>
            </p:nvSpPr>
            <p:spPr>
              <a:xfrm>
                <a:off x="2692519" y="561587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立方体 53"/>
              <p:cNvSpPr/>
              <p:nvPr/>
            </p:nvSpPr>
            <p:spPr>
              <a:xfrm>
                <a:off x="2862379" y="56158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立方体 54"/>
              <p:cNvSpPr/>
              <p:nvPr/>
            </p:nvSpPr>
            <p:spPr>
              <a:xfrm>
                <a:off x="3022429" y="561587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立方体 55"/>
              <p:cNvSpPr/>
              <p:nvPr/>
            </p:nvSpPr>
            <p:spPr>
              <a:xfrm>
                <a:off x="2362609" y="575926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立方体 56"/>
              <p:cNvSpPr/>
              <p:nvPr/>
            </p:nvSpPr>
            <p:spPr>
              <a:xfrm>
                <a:off x="2522659" y="575926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立方体 60"/>
              <p:cNvSpPr/>
              <p:nvPr/>
            </p:nvSpPr>
            <p:spPr>
              <a:xfrm>
                <a:off x="2692519" y="575926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立方体 61"/>
              <p:cNvSpPr/>
              <p:nvPr/>
            </p:nvSpPr>
            <p:spPr>
              <a:xfrm>
                <a:off x="2862379" y="575926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立方体 62"/>
              <p:cNvSpPr/>
              <p:nvPr/>
            </p:nvSpPr>
            <p:spPr>
              <a:xfrm>
                <a:off x="3022429" y="575926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202435" y="864112"/>
              <a:ext cx="1080034" cy="1096386"/>
              <a:chOff x="5765298" y="3550278"/>
              <a:chExt cx="1339878" cy="1363847"/>
            </a:xfrm>
          </p:grpSpPr>
          <p:sp>
            <p:nvSpPr>
              <p:cNvPr id="65" name="矩形 64"/>
              <p:cNvSpPr/>
              <p:nvPr/>
            </p:nvSpPr>
            <p:spPr>
              <a:xfrm>
                <a:off x="6162650" y="3985849"/>
                <a:ext cx="522593" cy="48855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66" name="图片 65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602" t="28572" r="20146" b="42262"/>
              <a:stretch>
                <a:fillRect/>
              </a:stretch>
            </p:blipFill>
            <p:spPr>
              <a:xfrm>
                <a:off x="5765569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7" name="图片 66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87" t="28191" r="32239" b="45649"/>
              <a:stretch>
                <a:fillRect/>
              </a:stretch>
            </p:blipFill>
            <p:spPr>
              <a:xfrm>
                <a:off x="5765298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69" name="图片 68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563" t="29521" r="25459" b="40431"/>
              <a:stretch>
                <a:fillRect/>
              </a:stretch>
            </p:blipFill>
            <p:spPr>
              <a:xfrm>
                <a:off x="6250552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0" name="图片 69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998" t="28665" r="69741" b="38857"/>
              <a:stretch>
                <a:fillRect/>
              </a:stretch>
            </p:blipFill>
            <p:spPr>
              <a:xfrm>
                <a:off x="6736227" y="355027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1" name="图片 70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4768" t="27403" r="4602" b="43730"/>
              <a:stretch>
                <a:fillRect/>
              </a:stretch>
            </p:blipFill>
            <p:spPr>
              <a:xfrm>
                <a:off x="6736227" y="404769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3" name="图片 72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39" t="29519" r="66370" b="41172"/>
              <a:stretch>
                <a:fillRect/>
              </a:stretch>
            </p:blipFill>
            <p:spPr>
              <a:xfrm>
                <a:off x="6250552" y="405026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5" name="图片 74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00" t="61235" r="68243" b="9028"/>
              <a:stretch>
                <a:fillRect/>
              </a:stretch>
            </p:blipFill>
            <p:spPr>
              <a:xfrm>
                <a:off x="6251875" y="4554125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79" name="图片 78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194" t="59259" r="46871" b="13418"/>
              <a:stretch>
                <a:fillRect/>
              </a:stretch>
            </p:blipFill>
            <p:spPr>
              <a:xfrm>
                <a:off x="5765298" y="4550258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80" name="图片 79"/>
              <p:cNvPicPr/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8803" t="62724" r="32301" b="8946"/>
              <a:stretch>
                <a:fillRect/>
              </a:stretch>
            </p:blipFill>
            <p:spPr>
              <a:xfrm>
                <a:off x="6745176" y="4545112"/>
                <a:ext cx="360000" cy="36000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grpSp>
          <p:nvGrpSpPr>
            <p:cNvPr id="159" name="组合 158"/>
            <p:cNvGrpSpPr/>
            <p:nvPr/>
          </p:nvGrpSpPr>
          <p:grpSpPr>
            <a:xfrm>
              <a:off x="8582508" y="1605187"/>
              <a:ext cx="654419" cy="246221"/>
              <a:chOff x="7037301" y="4830087"/>
              <a:chExt cx="654419" cy="246221"/>
            </a:xfrm>
          </p:grpSpPr>
          <p:sp>
            <p:nvSpPr>
              <p:cNvPr id="81" name="矩形: 圆角 80"/>
              <p:cNvSpPr/>
              <p:nvPr/>
            </p:nvSpPr>
            <p:spPr>
              <a:xfrm>
                <a:off x="7037301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7096926" y="4830087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5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Linear</a:t>
                </a:r>
                <a:endParaRPr lang="en-US" altLang="zh-CN" sz="10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5" name="直接箭头连接符 84"/>
            <p:cNvCxnSpPr/>
            <p:nvPr/>
          </p:nvCxnSpPr>
          <p:spPr>
            <a:xfrm>
              <a:off x="8425046" y="1631846"/>
              <a:ext cx="0" cy="208434"/>
            </a:xfrm>
            <a:prstGeom prst="straightConnector1">
              <a:avLst/>
            </a:prstGeom>
            <a:ln w="222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连接符 104"/>
            <p:cNvCxnSpPr/>
            <p:nvPr/>
          </p:nvCxnSpPr>
          <p:spPr>
            <a:xfrm>
              <a:off x="6941232" y="1609231"/>
              <a:ext cx="1049099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立方体 105"/>
            <p:cNvSpPr/>
            <p:nvPr/>
          </p:nvSpPr>
          <p:spPr>
            <a:xfrm flipH="1">
              <a:off x="7376056" y="1150076"/>
              <a:ext cx="733781" cy="678292"/>
            </a:xfrm>
            <a:prstGeom prst="cube">
              <a:avLst>
                <a:gd name="adj" fmla="val 12145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isometricRightU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8" name="直接连接符 107"/>
            <p:cNvCxnSpPr/>
            <p:nvPr/>
          </p:nvCxnSpPr>
          <p:spPr>
            <a:xfrm>
              <a:off x="6525826" y="1221728"/>
              <a:ext cx="968977" cy="14956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V="1">
              <a:off x="6941232" y="1101678"/>
              <a:ext cx="1014876" cy="116582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>
              <a:off x="6509089" y="1614087"/>
              <a:ext cx="983367" cy="242916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文本框 111"/>
            <p:cNvSpPr txBox="1"/>
            <p:nvPr/>
          </p:nvSpPr>
          <p:spPr>
            <a:xfrm>
              <a:off x="7431946" y="1337461"/>
              <a:ext cx="7034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b="1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Freq. Encoder</a:t>
              </a:r>
              <a:endParaRPr lang="zh-CN" altLang="en-US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箭头: 右弧形 113"/>
            <p:cNvSpPr/>
            <p:nvPr/>
          </p:nvSpPr>
          <p:spPr>
            <a:xfrm rot="1856806">
              <a:off x="7484091" y="1884622"/>
              <a:ext cx="379756" cy="845722"/>
            </a:xfrm>
            <a:prstGeom prst="curvedLeftArrow">
              <a:avLst>
                <a:gd name="adj1" fmla="val 25000"/>
                <a:gd name="adj2" fmla="val 58041"/>
                <a:gd name="adj3" fmla="val 5409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7159835" y="2561175"/>
              <a:ext cx="956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Tokenization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6459821" y="2807396"/>
              <a:ext cx="138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Frequence Patches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2" name="组合 161"/>
            <p:cNvGrpSpPr/>
            <p:nvPr/>
          </p:nvGrpSpPr>
          <p:grpSpPr>
            <a:xfrm>
              <a:off x="8361599" y="809787"/>
              <a:ext cx="738728" cy="759181"/>
              <a:chOff x="4397416" y="3897848"/>
              <a:chExt cx="738728" cy="759181"/>
            </a:xfrm>
          </p:grpSpPr>
          <p:sp>
            <p:nvSpPr>
              <p:cNvPr id="154" name="矩形 153"/>
              <p:cNvSpPr/>
              <p:nvPr/>
            </p:nvSpPr>
            <p:spPr>
              <a:xfrm>
                <a:off x="4397416" y="3897848"/>
                <a:ext cx="738728" cy="75918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pic>
            <p:nvPicPr>
              <p:cNvPr id="119" name="图片 118"/>
              <p:cNvPicPr/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602" t="28572" r="20146" b="42262"/>
              <a:stretch>
                <a:fillRect/>
              </a:stretch>
            </p:blipFill>
            <p:spPr>
              <a:xfrm>
                <a:off x="4451310" y="3957541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0" name="图片 119"/>
              <p:cNvPicPr/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9487" t="28191" r="32239" b="45649"/>
              <a:stretch>
                <a:fillRect/>
              </a:stretch>
            </p:blipFill>
            <p:spPr>
              <a:xfrm>
                <a:off x="4451092" y="4305687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1" name="图片 120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563" t="29521" r="25459" b="40431"/>
              <a:stretch>
                <a:fillRect/>
              </a:stretch>
            </p:blipFill>
            <p:spPr>
              <a:xfrm>
                <a:off x="4788448" y="3957541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pic>
            <p:nvPicPr>
              <p:cNvPr id="124" name="图片 123"/>
              <p:cNvPicPr/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239" t="29519" r="66370" b="41172"/>
              <a:stretch>
                <a:fillRect/>
              </a:stretch>
            </p:blipFill>
            <p:spPr>
              <a:xfrm>
                <a:off x="4788448" y="4305687"/>
                <a:ext cx="290185" cy="28940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</p:grpSp>
        <p:sp>
          <p:nvSpPr>
            <p:cNvPr id="157" name="立方体 156"/>
            <p:cNvSpPr/>
            <p:nvPr/>
          </p:nvSpPr>
          <p:spPr>
            <a:xfrm>
              <a:off x="8191461" y="1894307"/>
              <a:ext cx="1086364" cy="127747"/>
            </a:xfrm>
            <a:prstGeom prst="cub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箭头: 右弧形 159"/>
            <p:cNvSpPr/>
            <p:nvPr/>
          </p:nvSpPr>
          <p:spPr>
            <a:xfrm rot="21121899" flipH="1">
              <a:off x="8145125" y="2078681"/>
              <a:ext cx="193710" cy="504014"/>
            </a:xfrm>
            <a:prstGeom prst="curvedLeftArrow">
              <a:avLst>
                <a:gd name="adj1" fmla="val 25000"/>
                <a:gd name="adj2" fmla="val 97417"/>
                <a:gd name="adj3" fmla="val 54098"/>
              </a:avLst>
            </a:prstGeom>
            <a:solidFill>
              <a:schemeClr val="bg1">
                <a:lumMod val="8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8336251" y="2044124"/>
              <a:ext cx="9569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Tokenization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98" name="组合 197"/>
            <p:cNvGrpSpPr/>
            <p:nvPr/>
          </p:nvGrpSpPr>
          <p:grpSpPr>
            <a:xfrm>
              <a:off x="8451109" y="2277810"/>
              <a:ext cx="627721" cy="573811"/>
              <a:chOff x="7127350" y="4511418"/>
              <a:chExt cx="627721" cy="573811"/>
            </a:xfrm>
          </p:grpSpPr>
          <p:sp>
            <p:nvSpPr>
              <p:cNvPr id="173" name="立方体 172"/>
              <p:cNvSpPr/>
              <p:nvPr/>
            </p:nvSpPr>
            <p:spPr>
              <a:xfrm>
                <a:off x="7127350" y="451142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立方体 173"/>
              <p:cNvSpPr/>
              <p:nvPr/>
            </p:nvSpPr>
            <p:spPr>
              <a:xfrm>
                <a:off x="7287400" y="451142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立方体 175"/>
              <p:cNvSpPr/>
              <p:nvPr/>
            </p:nvSpPr>
            <p:spPr>
              <a:xfrm>
                <a:off x="7457260" y="45114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立方体 177"/>
              <p:cNvSpPr/>
              <p:nvPr/>
            </p:nvSpPr>
            <p:spPr>
              <a:xfrm>
                <a:off x="7627120" y="451141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立方体 179"/>
              <p:cNvSpPr/>
              <p:nvPr/>
            </p:nvSpPr>
            <p:spPr>
              <a:xfrm>
                <a:off x="7127350" y="46622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立方体 180"/>
              <p:cNvSpPr/>
              <p:nvPr/>
            </p:nvSpPr>
            <p:spPr>
              <a:xfrm>
                <a:off x="7287400" y="466223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立方体 182"/>
              <p:cNvSpPr/>
              <p:nvPr/>
            </p:nvSpPr>
            <p:spPr>
              <a:xfrm>
                <a:off x="7457260" y="466223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立方体 185"/>
              <p:cNvSpPr/>
              <p:nvPr/>
            </p:nvSpPr>
            <p:spPr>
              <a:xfrm>
                <a:off x="7627120" y="466223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立方体 187"/>
              <p:cNvSpPr/>
              <p:nvPr/>
            </p:nvSpPr>
            <p:spPr>
              <a:xfrm>
                <a:off x="7127350" y="481542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立方体 188"/>
              <p:cNvSpPr/>
              <p:nvPr/>
            </p:nvSpPr>
            <p:spPr>
              <a:xfrm>
                <a:off x="7287400" y="481542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立方体 189"/>
              <p:cNvSpPr/>
              <p:nvPr/>
            </p:nvSpPr>
            <p:spPr>
              <a:xfrm>
                <a:off x="7457260" y="481542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立方体 190"/>
              <p:cNvSpPr/>
              <p:nvPr/>
            </p:nvSpPr>
            <p:spPr>
              <a:xfrm>
                <a:off x="7627120" y="481542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立方体 192"/>
              <p:cNvSpPr/>
              <p:nvPr/>
            </p:nvSpPr>
            <p:spPr>
              <a:xfrm>
                <a:off x="7127350" y="495881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立方体 193"/>
              <p:cNvSpPr/>
              <p:nvPr/>
            </p:nvSpPr>
            <p:spPr>
              <a:xfrm>
                <a:off x="7287400" y="495881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立方体 194"/>
              <p:cNvSpPr/>
              <p:nvPr/>
            </p:nvSpPr>
            <p:spPr>
              <a:xfrm>
                <a:off x="7457260" y="495881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立方体 195"/>
              <p:cNvSpPr/>
              <p:nvPr/>
            </p:nvSpPr>
            <p:spPr>
              <a:xfrm>
                <a:off x="7627120" y="495881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9" name="文本框 198"/>
            <p:cNvSpPr txBox="1"/>
            <p:nvPr/>
          </p:nvSpPr>
          <p:spPr>
            <a:xfrm>
              <a:off x="8296430" y="2807396"/>
              <a:ext cx="9429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Raw Patches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1" name="直接箭头连接符 200"/>
            <p:cNvCxnSpPr/>
            <p:nvPr/>
          </p:nvCxnSpPr>
          <p:spPr>
            <a:xfrm>
              <a:off x="4328175" y="3020474"/>
              <a:ext cx="0" cy="374033"/>
            </a:xfrm>
            <a:prstGeom prst="straightConnector1">
              <a:avLst/>
            </a:prstGeom>
            <a:ln w="2222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箭头连接符 204"/>
            <p:cNvCxnSpPr/>
            <p:nvPr/>
          </p:nvCxnSpPr>
          <p:spPr>
            <a:xfrm>
              <a:off x="5782074" y="3020474"/>
              <a:ext cx="0" cy="374033"/>
            </a:xfrm>
            <a:prstGeom prst="straightConnector1">
              <a:avLst/>
            </a:prstGeom>
            <a:ln w="22225">
              <a:solidFill>
                <a:schemeClr val="accent2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箭头连接符 205"/>
            <p:cNvCxnSpPr/>
            <p:nvPr/>
          </p:nvCxnSpPr>
          <p:spPr>
            <a:xfrm>
              <a:off x="6459821" y="3020474"/>
              <a:ext cx="0" cy="374033"/>
            </a:xfrm>
            <a:prstGeom prst="straightConnector1">
              <a:avLst/>
            </a:prstGeom>
            <a:ln w="2222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箭头连接符 206"/>
            <p:cNvCxnSpPr/>
            <p:nvPr/>
          </p:nvCxnSpPr>
          <p:spPr>
            <a:xfrm>
              <a:off x="7779753" y="3020474"/>
              <a:ext cx="0" cy="374033"/>
            </a:xfrm>
            <a:prstGeom prst="straightConnector1">
              <a:avLst/>
            </a:prstGeom>
            <a:ln w="22225">
              <a:solidFill>
                <a:schemeClr val="accent6">
                  <a:lumMod val="60000"/>
                  <a:lumOff val="40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文本框 207"/>
            <p:cNvSpPr txBox="1"/>
            <p:nvPr/>
          </p:nvSpPr>
          <p:spPr>
            <a:xfrm>
              <a:off x="4263288" y="3102628"/>
              <a:ext cx="7997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Query</a:t>
              </a:r>
              <a:endParaRPr lang="zh-CN" altLang="en-US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文本框 208"/>
            <p:cNvSpPr txBox="1"/>
            <p:nvPr/>
          </p:nvSpPr>
          <p:spPr>
            <a:xfrm>
              <a:off x="7252659" y="3109359"/>
              <a:ext cx="79978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Query</a:t>
              </a:r>
              <a:endParaRPr lang="zh-CN" alt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文本框 209"/>
            <p:cNvSpPr txBox="1"/>
            <p:nvPr/>
          </p:nvSpPr>
          <p:spPr>
            <a:xfrm>
              <a:off x="6405234" y="3106366"/>
              <a:ext cx="9020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Key &amp; Value</a:t>
              </a:r>
              <a:endParaRPr lang="zh-CN" altLang="en-US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文本框 210"/>
            <p:cNvSpPr txBox="1"/>
            <p:nvPr/>
          </p:nvSpPr>
          <p:spPr>
            <a:xfrm>
              <a:off x="4953900" y="3102627"/>
              <a:ext cx="9020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Key &amp; Value</a:t>
              </a:r>
              <a:endParaRPr lang="zh-CN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39" name="组合 238"/>
            <p:cNvGrpSpPr/>
            <p:nvPr/>
          </p:nvGrpSpPr>
          <p:grpSpPr>
            <a:xfrm>
              <a:off x="4299692" y="3581745"/>
              <a:ext cx="787771" cy="126417"/>
              <a:chOff x="368276" y="3330446"/>
              <a:chExt cx="787771" cy="126417"/>
            </a:xfrm>
          </p:grpSpPr>
          <p:sp>
            <p:nvSpPr>
              <p:cNvPr id="214" name="立方体 213"/>
              <p:cNvSpPr/>
              <p:nvPr/>
            </p:nvSpPr>
            <p:spPr>
              <a:xfrm>
                <a:off x="36827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立方体 214"/>
              <p:cNvSpPr/>
              <p:nvPr/>
            </p:nvSpPr>
            <p:spPr>
              <a:xfrm>
                <a:off x="52832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6" name="立方体 215"/>
              <p:cNvSpPr/>
              <p:nvPr/>
            </p:nvSpPr>
            <p:spPr>
              <a:xfrm>
                <a:off x="698186" y="33304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立方体 216"/>
              <p:cNvSpPr/>
              <p:nvPr/>
            </p:nvSpPr>
            <p:spPr>
              <a:xfrm>
                <a:off x="86804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立方体 217"/>
              <p:cNvSpPr/>
              <p:nvPr/>
            </p:nvSpPr>
            <p:spPr>
              <a:xfrm>
                <a:off x="102809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6" name="组合 265"/>
            <p:cNvGrpSpPr/>
            <p:nvPr/>
          </p:nvGrpSpPr>
          <p:grpSpPr>
            <a:xfrm>
              <a:off x="6218719" y="3440180"/>
              <a:ext cx="787771" cy="126417"/>
              <a:chOff x="2996246" y="3916743"/>
              <a:chExt cx="787771" cy="126417"/>
            </a:xfrm>
          </p:grpSpPr>
          <p:sp>
            <p:nvSpPr>
              <p:cNvPr id="241" name="立方体 240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立方体 241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立方体 242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立方体 243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立方体 244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7" name="组合 266"/>
            <p:cNvGrpSpPr/>
            <p:nvPr/>
          </p:nvGrpSpPr>
          <p:grpSpPr>
            <a:xfrm>
              <a:off x="6218719" y="3751665"/>
              <a:ext cx="787771" cy="126417"/>
              <a:chOff x="2996246" y="4147540"/>
              <a:chExt cx="787771" cy="126417"/>
            </a:xfrm>
          </p:grpSpPr>
          <p:sp>
            <p:nvSpPr>
              <p:cNvPr id="246" name="立方体 245"/>
              <p:cNvSpPr/>
              <p:nvPr/>
            </p:nvSpPr>
            <p:spPr>
              <a:xfrm>
                <a:off x="2996246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立方体 246"/>
              <p:cNvSpPr/>
              <p:nvPr/>
            </p:nvSpPr>
            <p:spPr>
              <a:xfrm>
                <a:off x="3163020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立方体 247"/>
              <p:cNvSpPr/>
              <p:nvPr/>
            </p:nvSpPr>
            <p:spPr>
              <a:xfrm>
                <a:off x="3326156" y="41475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立方体 248"/>
              <p:cNvSpPr/>
              <p:nvPr/>
            </p:nvSpPr>
            <p:spPr>
              <a:xfrm>
                <a:off x="349601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立方体 249"/>
              <p:cNvSpPr/>
              <p:nvPr/>
            </p:nvSpPr>
            <p:spPr>
              <a:xfrm>
                <a:off x="365606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68" name="文本框 267"/>
            <p:cNvSpPr txBox="1"/>
            <p:nvPr/>
          </p:nvSpPr>
          <p:spPr>
            <a:xfrm>
              <a:off x="4204365" y="3695651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Q1</a:t>
              </a:r>
              <a:endParaRPr lang="zh-CN" altLang="en-US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文本框 268"/>
            <p:cNvSpPr txBox="1"/>
            <p:nvPr/>
          </p:nvSpPr>
          <p:spPr>
            <a:xfrm>
              <a:off x="4853855" y="3695651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Qn</a:t>
              </a:r>
              <a:endParaRPr lang="zh-CN" altLang="en-US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文本框 269"/>
            <p:cNvSpPr txBox="1"/>
            <p:nvPr/>
          </p:nvSpPr>
          <p:spPr>
            <a:xfrm>
              <a:off x="6123089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K1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文本框 270"/>
            <p:cNvSpPr txBox="1"/>
            <p:nvPr/>
          </p:nvSpPr>
          <p:spPr>
            <a:xfrm>
              <a:off x="6797982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Kn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文本框 271"/>
            <p:cNvSpPr txBox="1"/>
            <p:nvPr/>
          </p:nvSpPr>
          <p:spPr>
            <a:xfrm>
              <a:off x="6123089" y="3864893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V1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文本框 272"/>
            <p:cNvSpPr txBox="1"/>
            <p:nvPr/>
          </p:nvSpPr>
          <p:spPr>
            <a:xfrm>
              <a:off x="6797983" y="3883211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Vn</a:t>
              </a:r>
              <a:endParaRPr lang="zh-CN" altLang="en-US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80" name="文本框 279"/>
            <p:cNvSpPr txBox="1"/>
            <p:nvPr/>
          </p:nvSpPr>
          <p:spPr>
            <a:xfrm>
              <a:off x="4497758" y="3595482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6401429" y="3446671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文本框 281"/>
            <p:cNvSpPr txBox="1"/>
            <p:nvPr/>
          </p:nvSpPr>
          <p:spPr>
            <a:xfrm>
              <a:off x="6397432" y="3777058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2" name="直接箭头连接符 301"/>
            <p:cNvCxnSpPr/>
            <p:nvPr/>
          </p:nvCxnSpPr>
          <p:spPr>
            <a:xfrm>
              <a:off x="5264674" y="4150345"/>
              <a:ext cx="0" cy="180975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3" name="组合 302"/>
            <p:cNvGrpSpPr/>
            <p:nvPr/>
          </p:nvGrpSpPr>
          <p:grpSpPr>
            <a:xfrm>
              <a:off x="4866026" y="4380951"/>
              <a:ext cx="787771" cy="126417"/>
              <a:chOff x="2996246" y="3916743"/>
              <a:chExt cx="787771" cy="126417"/>
            </a:xfrm>
          </p:grpSpPr>
          <p:sp>
            <p:nvSpPr>
              <p:cNvPr id="304" name="立方体 303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5" name="立方体 304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6" name="立方体 305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7" name="立方体 306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8" name="立方体 307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09" name="矩形 308"/>
            <p:cNvSpPr/>
            <p:nvPr/>
          </p:nvSpPr>
          <p:spPr>
            <a:xfrm>
              <a:off x="7744712" y="3525322"/>
              <a:ext cx="177456" cy="405337"/>
            </a:xfrm>
            <a:prstGeom prst="rect">
              <a:avLst/>
            </a:prstGeom>
            <a:solidFill>
              <a:srgbClr val="FCEBE0"/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10" name="组合 309"/>
            <p:cNvGrpSpPr/>
            <p:nvPr/>
          </p:nvGrpSpPr>
          <p:grpSpPr>
            <a:xfrm>
              <a:off x="7108676" y="3595860"/>
              <a:ext cx="787771" cy="126417"/>
              <a:chOff x="368276" y="3330446"/>
              <a:chExt cx="787771" cy="126417"/>
            </a:xfrm>
          </p:grpSpPr>
          <p:sp>
            <p:nvSpPr>
              <p:cNvPr id="311" name="立方体 310"/>
              <p:cNvSpPr/>
              <p:nvPr/>
            </p:nvSpPr>
            <p:spPr>
              <a:xfrm>
                <a:off x="36827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2" name="立方体 311"/>
              <p:cNvSpPr/>
              <p:nvPr/>
            </p:nvSpPr>
            <p:spPr>
              <a:xfrm>
                <a:off x="528326" y="3330448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3" name="立方体 312"/>
              <p:cNvSpPr/>
              <p:nvPr/>
            </p:nvSpPr>
            <p:spPr>
              <a:xfrm>
                <a:off x="698186" y="33304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4" name="立方体 313"/>
              <p:cNvSpPr/>
              <p:nvPr/>
            </p:nvSpPr>
            <p:spPr>
              <a:xfrm>
                <a:off x="86804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5" name="立方体 314"/>
              <p:cNvSpPr/>
              <p:nvPr/>
            </p:nvSpPr>
            <p:spPr>
              <a:xfrm>
                <a:off x="1028096" y="333044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8F3E1"/>
              </a:solidFill>
              <a:ln w="9525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6" name="文本框 315"/>
            <p:cNvSpPr txBox="1"/>
            <p:nvPr/>
          </p:nvSpPr>
          <p:spPr>
            <a:xfrm>
              <a:off x="7019699" y="3709766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Q1</a:t>
              </a:r>
              <a:endParaRPr lang="zh-CN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7677738" y="3704719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Qn</a:t>
              </a:r>
              <a:endParaRPr lang="zh-CN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18" name="文本框 317"/>
            <p:cNvSpPr txBox="1"/>
            <p:nvPr/>
          </p:nvSpPr>
          <p:spPr>
            <a:xfrm>
              <a:off x="7274456" y="3585337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20" name="矩形 319"/>
            <p:cNvSpPr/>
            <p:nvPr/>
          </p:nvSpPr>
          <p:spPr>
            <a:xfrm>
              <a:off x="5838988" y="3400980"/>
              <a:ext cx="177455" cy="666861"/>
            </a:xfrm>
            <a:prstGeom prst="rect">
              <a:avLst/>
            </a:prstGeom>
            <a:solidFill>
              <a:srgbClr val="E8F3E1"/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321" name="组合 320"/>
            <p:cNvGrpSpPr/>
            <p:nvPr/>
          </p:nvGrpSpPr>
          <p:grpSpPr>
            <a:xfrm>
              <a:off x="5208015" y="3440180"/>
              <a:ext cx="787771" cy="126417"/>
              <a:chOff x="2996246" y="3916743"/>
              <a:chExt cx="787771" cy="126417"/>
            </a:xfrm>
          </p:grpSpPr>
          <p:sp>
            <p:nvSpPr>
              <p:cNvPr id="322" name="立方体 321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" name="立方体 322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4" name="立方体 323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5" name="立方体 324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6" name="立方体 325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7" name="组合 326"/>
            <p:cNvGrpSpPr/>
            <p:nvPr/>
          </p:nvGrpSpPr>
          <p:grpSpPr>
            <a:xfrm>
              <a:off x="5208015" y="3751665"/>
              <a:ext cx="787771" cy="126417"/>
              <a:chOff x="2996246" y="4147540"/>
              <a:chExt cx="787771" cy="126417"/>
            </a:xfrm>
          </p:grpSpPr>
          <p:sp>
            <p:nvSpPr>
              <p:cNvPr id="328" name="立方体 327"/>
              <p:cNvSpPr/>
              <p:nvPr/>
            </p:nvSpPr>
            <p:spPr>
              <a:xfrm>
                <a:off x="2996246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9" name="立方体 328"/>
              <p:cNvSpPr/>
              <p:nvPr/>
            </p:nvSpPr>
            <p:spPr>
              <a:xfrm>
                <a:off x="3163020" y="414754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0" name="立方体 329"/>
              <p:cNvSpPr/>
              <p:nvPr/>
            </p:nvSpPr>
            <p:spPr>
              <a:xfrm>
                <a:off x="3326156" y="41475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1" name="立方体 330"/>
              <p:cNvSpPr/>
              <p:nvPr/>
            </p:nvSpPr>
            <p:spPr>
              <a:xfrm>
                <a:off x="349601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2" name="立方体 331"/>
              <p:cNvSpPr/>
              <p:nvPr/>
            </p:nvSpPr>
            <p:spPr>
              <a:xfrm>
                <a:off x="3656066" y="4147540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CEBE0"/>
              </a:solidFill>
              <a:ln w="9525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3" name="文本框 332"/>
            <p:cNvSpPr txBox="1"/>
            <p:nvPr/>
          </p:nvSpPr>
          <p:spPr>
            <a:xfrm>
              <a:off x="5112385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K1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文本框 333"/>
            <p:cNvSpPr txBox="1"/>
            <p:nvPr/>
          </p:nvSpPr>
          <p:spPr>
            <a:xfrm>
              <a:off x="5787278" y="3555005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Kn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5" name="文本框 334"/>
            <p:cNvSpPr txBox="1"/>
            <p:nvPr/>
          </p:nvSpPr>
          <p:spPr>
            <a:xfrm>
              <a:off x="5112385" y="3864893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V1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文本框 335"/>
            <p:cNvSpPr txBox="1"/>
            <p:nvPr/>
          </p:nvSpPr>
          <p:spPr>
            <a:xfrm>
              <a:off x="5789158" y="3858284"/>
              <a:ext cx="40328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Vn</a:t>
              </a:r>
              <a:endParaRPr lang="zh-CN" altLang="en-US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7" name="文本框 336"/>
            <p:cNvSpPr txBox="1"/>
            <p:nvPr/>
          </p:nvSpPr>
          <p:spPr>
            <a:xfrm>
              <a:off x="5390725" y="3760999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38" name="文本框 337"/>
            <p:cNvSpPr txBox="1"/>
            <p:nvPr/>
          </p:nvSpPr>
          <p:spPr>
            <a:xfrm>
              <a:off x="5386728" y="3448451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340" name="文本框 339"/>
            <p:cNvSpPr txBox="1"/>
            <p:nvPr/>
          </p:nvSpPr>
          <p:spPr>
            <a:xfrm>
              <a:off x="4406223" y="4126950"/>
              <a:ext cx="82797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Time2Freq.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41" name="组合 340"/>
            <p:cNvGrpSpPr/>
            <p:nvPr/>
          </p:nvGrpSpPr>
          <p:grpSpPr>
            <a:xfrm>
              <a:off x="6628478" y="4367015"/>
              <a:ext cx="787771" cy="126417"/>
              <a:chOff x="2996246" y="3916743"/>
              <a:chExt cx="787771" cy="126417"/>
            </a:xfrm>
          </p:grpSpPr>
          <p:sp>
            <p:nvSpPr>
              <p:cNvPr id="342" name="立方体 341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立方体 342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4" name="立方体 343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立方体 344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6" name="立方体 345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7" name="文本框 346"/>
            <p:cNvSpPr txBox="1"/>
            <p:nvPr/>
          </p:nvSpPr>
          <p:spPr>
            <a:xfrm>
              <a:off x="7023540" y="4141045"/>
              <a:ext cx="89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Freq.2Time</a:t>
              </a:r>
              <a:endParaRPr lang="zh-CN" altLang="en-US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8" name="连接符: 肘形 347"/>
            <p:cNvCxnSpPr>
              <a:stCxn id="320" idx="2"/>
              <a:endCxn id="309" idx="2"/>
            </p:cNvCxnSpPr>
            <p:nvPr/>
          </p:nvCxnSpPr>
          <p:spPr>
            <a:xfrm rot="5400000" flipH="1" flipV="1">
              <a:off x="6811987" y="3046388"/>
              <a:ext cx="137182" cy="1905724"/>
            </a:xfrm>
            <a:prstGeom prst="bentConnector3">
              <a:avLst>
                <a:gd name="adj1" fmla="val -79618"/>
              </a:avLst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连接符: 肘形 290"/>
            <p:cNvCxnSpPr>
              <a:stCxn id="284" idx="2"/>
              <a:endCxn id="285" idx="2"/>
            </p:cNvCxnSpPr>
            <p:nvPr/>
          </p:nvCxnSpPr>
          <p:spPr>
            <a:xfrm rot="16200000" flipH="1">
              <a:off x="5241411" y="3032828"/>
              <a:ext cx="151297" cy="1918727"/>
            </a:xfrm>
            <a:prstGeom prst="bentConnector3">
              <a:avLst>
                <a:gd name="adj1" fmla="val 150365"/>
              </a:avLst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直接箭头连接符 353"/>
            <p:cNvCxnSpPr/>
            <p:nvPr/>
          </p:nvCxnSpPr>
          <p:spPr>
            <a:xfrm>
              <a:off x="7019081" y="4181215"/>
              <a:ext cx="0" cy="162925"/>
            </a:xfrm>
            <a:prstGeom prst="straightConnector1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6" name="组合 435"/>
            <p:cNvGrpSpPr/>
            <p:nvPr/>
          </p:nvGrpSpPr>
          <p:grpSpPr>
            <a:xfrm>
              <a:off x="4602907" y="4793270"/>
              <a:ext cx="1324873" cy="588194"/>
              <a:chOff x="1537322" y="4909634"/>
              <a:chExt cx="1324873" cy="588194"/>
            </a:xfrm>
          </p:grpSpPr>
          <p:sp>
            <p:nvSpPr>
              <p:cNvPr id="357" name="椭圆 356"/>
              <p:cNvSpPr/>
              <p:nvPr/>
            </p:nvSpPr>
            <p:spPr>
              <a:xfrm>
                <a:off x="1537322" y="4914354"/>
                <a:ext cx="144000" cy="144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5" name="椭圆 364"/>
              <p:cNvSpPr/>
              <p:nvPr/>
            </p:nvSpPr>
            <p:spPr>
              <a:xfrm>
                <a:off x="1929524" y="4911994"/>
                <a:ext cx="144000" cy="144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6" name="椭圆 365"/>
              <p:cNvSpPr/>
              <p:nvPr/>
            </p:nvSpPr>
            <p:spPr>
              <a:xfrm>
                <a:off x="2321726" y="4909634"/>
                <a:ext cx="144000" cy="14400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7" name="椭圆 366"/>
              <p:cNvSpPr/>
              <p:nvPr/>
            </p:nvSpPr>
            <p:spPr>
              <a:xfrm>
                <a:off x="2713928" y="491671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2" name="椭圆 371"/>
              <p:cNvSpPr/>
              <p:nvPr/>
            </p:nvSpPr>
            <p:spPr>
              <a:xfrm>
                <a:off x="1541589" y="5351469"/>
                <a:ext cx="144000" cy="14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3" name="椭圆 372"/>
              <p:cNvSpPr/>
              <p:nvPr/>
            </p:nvSpPr>
            <p:spPr>
              <a:xfrm>
                <a:off x="1933791" y="5349109"/>
                <a:ext cx="144000" cy="144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4" name="椭圆 373"/>
              <p:cNvSpPr/>
              <p:nvPr/>
            </p:nvSpPr>
            <p:spPr>
              <a:xfrm>
                <a:off x="2325993" y="5346749"/>
                <a:ext cx="144000" cy="144000"/>
              </a:xfrm>
              <a:prstGeom prst="ellipse">
                <a:avLst/>
              </a:prstGeom>
              <a:solidFill>
                <a:srgbClr val="FEE2F5"/>
              </a:solidFill>
              <a:ln>
                <a:solidFill>
                  <a:srgbClr val="F7B5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5" name="椭圆 374"/>
              <p:cNvSpPr/>
              <p:nvPr/>
            </p:nvSpPr>
            <p:spPr>
              <a:xfrm>
                <a:off x="2718195" y="5353828"/>
                <a:ext cx="144000" cy="144000"/>
              </a:xfrm>
              <a:prstGeom prst="ellipse">
                <a:avLst/>
              </a:prstGeom>
              <a:solidFill>
                <a:srgbClr val="DBD9F9"/>
              </a:solidFill>
              <a:ln>
                <a:solidFill>
                  <a:srgbClr val="AE8A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76" name="直接箭头连接符 375"/>
              <p:cNvCxnSpPr>
                <a:stCxn id="357" idx="4"/>
                <a:endCxn id="372" idx="0"/>
              </p:cNvCxnSpPr>
              <p:nvPr/>
            </p:nvCxnSpPr>
            <p:spPr>
              <a:xfrm>
                <a:off x="1609322" y="505835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箭头连接符 378"/>
              <p:cNvCxnSpPr>
                <a:stCxn id="357" idx="4"/>
                <a:endCxn id="373" idx="0"/>
              </p:cNvCxnSpPr>
              <p:nvPr/>
            </p:nvCxnSpPr>
            <p:spPr>
              <a:xfrm>
                <a:off x="1609322" y="505835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箭头连接符 381"/>
              <p:cNvCxnSpPr>
                <a:stCxn id="357" idx="4"/>
                <a:endCxn id="374" idx="0"/>
              </p:cNvCxnSpPr>
              <p:nvPr/>
            </p:nvCxnSpPr>
            <p:spPr>
              <a:xfrm>
                <a:off x="1609322" y="5058354"/>
                <a:ext cx="788671" cy="28839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箭头连接符 385"/>
              <p:cNvCxnSpPr>
                <a:stCxn id="357" idx="4"/>
                <a:endCxn id="375" idx="0"/>
              </p:cNvCxnSpPr>
              <p:nvPr/>
            </p:nvCxnSpPr>
            <p:spPr>
              <a:xfrm>
                <a:off x="1609322" y="5058354"/>
                <a:ext cx="1180873" cy="29547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箭头连接符 388"/>
              <p:cNvCxnSpPr>
                <a:stCxn id="365" idx="4"/>
                <a:endCxn id="372" idx="0"/>
              </p:cNvCxnSpPr>
              <p:nvPr/>
            </p:nvCxnSpPr>
            <p:spPr>
              <a:xfrm flipH="1">
                <a:off x="1613589" y="505599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接箭头连接符 391"/>
              <p:cNvCxnSpPr>
                <a:stCxn id="365" idx="4"/>
                <a:endCxn id="373" idx="0"/>
              </p:cNvCxnSpPr>
              <p:nvPr/>
            </p:nvCxnSpPr>
            <p:spPr>
              <a:xfrm>
                <a:off x="2001524" y="505599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箭头连接符 394"/>
              <p:cNvCxnSpPr>
                <a:stCxn id="365" idx="4"/>
                <a:endCxn id="374" idx="0"/>
              </p:cNvCxnSpPr>
              <p:nvPr/>
            </p:nvCxnSpPr>
            <p:spPr>
              <a:xfrm>
                <a:off x="2001524" y="505599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接箭头连接符 397"/>
              <p:cNvCxnSpPr>
                <a:stCxn id="365" idx="4"/>
                <a:endCxn id="375" idx="0"/>
              </p:cNvCxnSpPr>
              <p:nvPr/>
            </p:nvCxnSpPr>
            <p:spPr>
              <a:xfrm>
                <a:off x="2001524" y="5055994"/>
                <a:ext cx="788671" cy="29783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直接箭头连接符 408"/>
              <p:cNvCxnSpPr>
                <a:stCxn id="366" idx="4"/>
                <a:endCxn id="372" idx="0"/>
              </p:cNvCxnSpPr>
              <p:nvPr/>
            </p:nvCxnSpPr>
            <p:spPr>
              <a:xfrm flipH="1">
                <a:off x="1613589" y="5053634"/>
                <a:ext cx="780137" cy="29783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直接箭头连接符 411"/>
              <p:cNvCxnSpPr>
                <a:stCxn id="366" idx="4"/>
                <a:endCxn id="373" idx="0"/>
              </p:cNvCxnSpPr>
              <p:nvPr/>
            </p:nvCxnSpPr>
            <p:spPr>
              <a:xfrm flipH="1">
                <a:off x="2005791" y="505363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接箭头连接符 414"/>
              <p:cNvCxnSpPr>
                <a:stCxn id="366" idx="4"/>
                <a:endCxn id="374" idx="0"/>
              </p:cNvCxnSpPr>
              <p:nvPr/>
            </p:nvCxnSpPr>
            <p:spPr>
              <a:xfrm>
                <a:off x="2393726" y="505363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接箭头连接符 417"/>
              <p:cNvCxnSpPr>
                <a:stCxn id="366" idx="4"/>
                <a:endCxn id="375" idx="0"/>
              </p:cNvCxnSpPr>
              <p:nvPr/>
            </p:nvCxnSpPr>
            <p:spPr>
              <a:xfrm>
                <a:off x="2393726" y="5053634"/>
                <a:ext cx="396469" cy="30019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接箭头连接符 420"/>
              <p:cNvCxnSpPr>
                <a:stCxn id="367" idx="4"/>
                <a:endCxn id="372" idx="0"/>
              </p:cNvCxnSpPr>
              <p:nvPr/>
            </p:nvCxnSpPr>
            <p:spPr>
              <a:xfrm flipH="1">
                <a:off x="1613589" y="5060713"/>
                <a:ext cx="1172339" cy="29075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直接箭头连接符 423"/>
              <p:cNvCxnSpPr>
                <a:stCxn id="367" idx="4"/>
                <a:endCxn id="373" idx="0"/>
              </p:cNvCxnSpPr>
              <p:nvPr/>
            </p:nvCxnSpPr>
            <p:spPr>
              <a:xfrm flipH="1">
                <a:off x="2005791" y="5060713"/>
                <a:ext cx="780137" cy="28839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接箭头连接符 426"/>
              <p:cNvCxnSpPr>
                <a:stCxn id="367" idx="4"/>
                <a:endCxn id="374" idx="0"/>
              </p:cNvCxnSpPr>
              <p:nvPr/>
            </p:nvCxnSpPr>
            <p:spPr>
              <a:xfrm flipH="1">
                <a:off x="2397993" y="5060713"/>
                <a:ext cx="387935" cy="28603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接箭头连接符 429"/>
              <p:cNvCxnSpPr>
                <a:stCxn id="367" idx="4"/>
                <a:endCxn id="375" idx="0"/>
              </p:cNvCxnSpPr>
              <p:nvPr/>
            </p:nvCxnSpPr>
            <p:spPr>
              <a:xfrm>
                <a:off x="2785928" y="5060713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5" name="文本框 434"/>
            <p:cNvSpPr txBox="1"/>
            <p:nvPr/>
          </p:nvSpPr>
          <p:spPr>
            <a:xfrm>
              <a:off x="5050380" y="5316436"/>
              <a:ext cx="47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FFN</a:t>
              </a:r>
              <a:endParaRPr lang="zh-CN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0" name="连接符: 肘形 449"/>
            <p:cNvCxnSpPr>
              <a:endCxn id="434" idx="1"/>
            </p:cNvCxnSpPr>
            <p:nvPr/>
          </p:nvCxnSpPr>
          <p:spPr>
            <a:xfrm rot="16200000" flipH="1">
              <a:off x="3283306" y="3919376"/>
              <a:ext cx="2111661" cy="282198"/>
            </a:xfrm>
            <a:prstGeom prst="bentConnector2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2" name="文本框 451"/>
            <p:cNvSpPr txBox="1"/>
            <p:nvPr/>
          </p:nvSpPr>
          <p:spPr>
            <a:xfrm>
              <a:off x="4115220" y="4874060"/>
              <a:ext cx="4576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Res</a:t>
              </a:r>
              <a:endParaRPr lang="zh-CN" altLang="en-US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3" name="直接箭头连接符 452"/>
            <p:cNvCxnSpPr/>
            <p:nvPr/>
          </p:nvCxnSpPr>
          <p:spPr>
            <a:xfrm>
              <a:off x="5264674" y="4541565"/>
              <a:ext cx="0" cy="180975"/>
            </a:xfrm>
            <a:prstGeom prst="straightConnector1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矩形: 圆角 456"/>
            <p:cNvSpPr/>
            <p:nvPr/>
          </p:nvSpPr>
          <p:spPr>
            <a:xfrm>
              <a:off x="6230959" y="4722540"/>
              <a:ext cx="1521014" cy="795482"/>
            </a:xfrm>
            <a:prstGeom prst="round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8" name="组合 457"/>
            <p:cNvGrpSpPr/>
            <p:nvPr/>
          </p:nvGrpSpPr>
          <p:grpSpPr>
            <a:xfrm>
              <a:off x="6366356" y="4793270"/>
              <a:ext cx="1324873" cy="588194"/>
              <a:chOff x="1537322" y="4909634"/>
              <a:chExt cx="1324873" cy="588194"/>
            </a:xfrm>
          </p:grpSpPr>
          <p:sp>
            <p:nvSpPr>
              <p:cNvPr id="459" name="椭圆 458"/>
              <p:cNvSpPr/>
              <p:nvPr/>
            </p:nvSpPr>
            <p:spPr>
              <a:xfrm>
                <a:off x="1537322" y="4914354"/>
                <a:ext cx="144000" cy="144000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0" name="椭圆 459"/>
              <p:cNvSpPr/>
              <p:nvPr/>
            </p:nvSpPr>
            <p:spPr>
              <a:xfrm>
                <a:off x="1929524" y="4911994"/>
                <a:ext cx="144000" cy="144000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1" name="椭圆 460"/>
              <p:cNvSpPr/>
              <p:nvPr/>
            </p:nvSpPr>
            <p:spPr>
              <a:xfrm>
                <a:off x="2321726" y="4909634"/>
                <a:ext cx="144000" cy="14400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2" name="椭圆 461"/>
              <p:cNvSpPr/>
              <p:nvPr/>
            </p:nvSpPr>
            <p:spPr>
              <a:xfrm>
                <a:off x="2713928" y="4916713"/>
                <a:ext cx="144000" cy="144000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3" name="椭圆 462"/>
              <p:cNvSpPr/>
              <p:nvPr/>
            </p:nvSpPr>
            <p:spPr>
              <a:xfrm>
                <a:off x="1541589" y="5351469"/>
                <a:ext cx="144000" cy="1440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4" name="椭圆 463"/>
              <p:cNvSpPr/>
              <p:nvPr/>
            </p:nvSpPr>
            <p:spPr>
              <a:xfrm>
                <a:off x="1933791" y="5349109"/>
                <a:ext cx="144000" cy="144000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5" name="椭圆 464"/>
              <p:cNvSpPr/>
              <p:nvPr/>
            </p:nvSpPr>
            <p:spPr>
              <a:xfrm>
                <a:off x="2325993" y="5346749"/>
                <a:ext cx="144000" cy="144000"/>
              </a:xfrm>
              <a:prstGeom prst="ellipse">
                <a:avLst/>
              </a:prstGeom>
              <a:solidFill>
                <a:srgbClr val="FEE2F5"/>
              </a:solidFill>
              <a:ln>
                <a:solidFill>
                  <a:srgbClr val="F7B5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6" name="椭圆 465"/>
              <p:cNvSpPr/>
              <p:nvPr/>
            </p:nvSpPr>
            <p:spPr>
              <a:xfrm>
                <a:off x="2718195" y="5353828"/>
                <a:ext cx="144000" cy="144000"/>
              </a:xfrm>
              <a:prstGeom prst="ellipse">
                <a:avLst/>
              </a:prstGeom>
              <a:solidFill>
                <a:srgbClr val="DBD9F9"/>
              </a:solidFill>
              <a:ln>
                <a:solidFill>
                  <a:srgbClr val="AE8AE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7" name="直接箭头连接符 466"/>
              <p:cNvCxnSpPr>
                <a:stCxn id="459" idx="4"/>
                <a:endCxn id="463" idx="0"/>
              </p:cNvCxnSpPr>
              <p:nvPr/>
            </p:nvCxnSpPr>
            <p:spPr>
              <a:xfrm>
                <a:off x="1609322" y="505835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直接箭头连接符 467"/>
              <p:cNvCxnSpPr>
                <a:stCxn id="459" idx="4"/>
                <a:endCxn id="464" idx="0"/>
              </p:cNvCxnSpPr>
              <p:nvPr/>
            </p:nvCxnSpPr>
            <p:spPr>
              <a:xfrm>
                <a:off x="1609322" y="505835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箭头连接符 468"/>
              <p:cNvCxnSpPr>
                <a:stCxn id="459" idx="4"/>
                <a:endCxn id="465" idx="0"/>
              </p:cNvCxnSpPr>
              <p:nvPr/>
            </p:nvCxnSpPr>
            <p:spPr>
              <a:xfrm>
                <a:off x="1609322" y="5058354"/>
                <a:ext cx="788671" cy="28839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接箭头连接符 469"/>
              <p:cNvCxnSpPr>
                <a:stCxn id="459" idx="4"/>
                <a:endCxn id="466" idx="0"/>
              </p:cNvCxnSpPr>
              <p:nvPr/>
            </p:nvCxnSpPr>
            <p:spPr>
              <a:xfrm>
                <a:off x="1609322" y="5058354"/>
                <a:ext cx="1180873" cy="29547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接箭头连接符 470"/>
              <p:cNvCxnSpPr>
                <a:stCxn id="460" idx="4"/>
                <a:endCxn id="463" idx="0"/>
              </p:cNvCxnSpPr>
              <p:nvPr/>
            </p:nvCxnSpPr>
            <p:spPr>
              <a:xfrm flipH="1">
                <a:off x="1613589" y="505599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箭头连接符 471"/>
              <p:cNvCxnSpPr>
                <a:stCxn id="460" idx="4"/>
                <a:endCxn id="464" idx="0"/>
              </p:cNvCxnSpPr>
              <p:nvPr/>
            </p:nvCxnSpPr>
            <p:spPr>
              <a:xfrm>
                <a:off x="2001524" y="505599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接箭头连接符 472"/>
              <p:cNvCxnSpPr>
                <a:stCxn id="460" idx="4"/>
                <a:endCxn id="465" idx="0"/>
              </p:cNvCxnSpPr>
              <p:nvPr/>
            </p:nvCxnSpPr>
            <p:spPr>
              <a:xfrm>
                <a:off x="2001524" y="5055994"/>
                <a:ext cx="396469" cy="29075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接箭头连接符 473"/>
              <p:cNvCxnSpPr>
                <a:stCxn id="460" idx="4"/>
                <a:endCxn id="466" idx="0"/>
              </p:cNvCxnSpPr>
              <p:nvPr/>
            </p:nvCxnSpPr>
            <p:spPr>
              <a:xfrm>
                <a:off x="2001524" y="5055994"/>
                <a:ext cx="788671" cy="29783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接箭头连接符 474"/>
              <p:cNvCxnSpPr>
                <a:stCxn id="461" idx="4"/>
                <a:endCxn id="463" idx="0"/>
              </p:cNvCxnSpPr>
              <p:nvPr/>
            </p:nvCxnSpPr>
            <p:spPr>
              <a:xfrm flipH="1">
                <a:off x="1613589" y="5053634"/>
                <a:ext cx="780137" cy="29783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直接箭头连接符 475"/>
              <p:cNvCxnSpPr>
                <a:stCxn id="461" idx="4"/>
                <a:endCxn id="464" idx="0"/>
              </p:cNvCxnSpPr>
              <p:nvPr/>
            </p:nvCxnSpPr>
            <p:spPr>
              <a:xfrm flipH="1">
                <a:off x="2005791" y="5053634"/>
                <a:ext cx="387935" cy="29547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接箭头连接符 476"/>
              <p:cNvCxnSpPr>
                <a:stCxn id="461" idx="4"/>
                <a:endCxn id="465" idx="0"/>
              </p:cNvCxnSpPr>
              <p:nvPr/>
            </p:nvCxnSpPr>
            <p:spPr>
              <a:xfrm>
                <a:off x="2393726" y="5053634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箭头连接符 477"/>
              <p:cNvCxnSpPr>
                <a:stCxn id="461" idx="4"/>
                <a:endCxn id="466" idx="0"/>
              </p:cNvCxnSpPr>
              <p:nvPr/>
            </p:nvCxnSpPr>
            <p:spPr>
              <a:xfrm>
                <a:off x="2393726" y="5053634"/>
                <a:ext cx="396469" cy="300194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接箭头连接符 478"/>
              <p:cNvCxnSpPr>
                <a:stCxn id="462" idx="4"/>
                <a:endCxn id="463" idx="0"/>
              </p:cNvCxnSpPr>
              <p:nvPr/>
            </p:nvCxnSpPr>
            <p:spPr>
              <a:xfrm flipH="1">
                <a:off x="1613589" y="5060713"/>
                <a:ext cx="1172339" cy="29075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接箭头连接符 479"/>
              <p:cNvCxnSpPr>
                <a:stCxn id="462" idx="4"/>
                <a:endCxn id="464" idx="0"/>
              </p:cNvCxnSpPr>
              <p:nvPr/>
            </p:nvCxnSpPr>
            <p:spPr>
              <a:xfrm flipH="1">
                <a:off x="2005791" y="5060713"/>
                <a:ext cx="780137" cy="28839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接箭头连接符 480"/>
              <p:cNvCxnSpPr>
                <a:stCxn id="462" idx="4"/>
                <a:endCxn id="465" idx="0"/>
              </p:cNvCxnSpPr>
              <p:nvPr/>
            </p:nvCxnSpPr>
            <p:spPr>
              <a:xfrm flipH="1">
                <a:off x="2397993" y="5060713"/>
                <a:ext cx="387935" cy="286036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直接箭头连接符 481"/>
              <p:cNvCxnSpPr>
                <a:stCxn id="462" idx="4"/>
                <a:endCxn id="466" idx="0"/>
              </p:cNvCxnSpPr>
              <p:nvPr/>
            </p:nvCxnSpPr>
            <p:spPr>
              <a:xfrm>
                <a:off x="2785928" y="5060713"/>
                <a:ext cx="4267" cy="293115"/>
              </a:xfrm>
              <a:prstGeom prst="straightConnector1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  <a:tailEnd type="triangle" w="sm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3" name="文本框 482"/>
            <p:cNvSpPr txBox="1"/>
            <p:nvPr/>
          </p:nvSpPr>
          <p:spPr>
            <a:xfrm>
              <a:off x="6813829" y="5322152"/>
              <a:ext cx="47524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FFN</a:t>
              </a:r>
              <a:endParaRPr lang="zh-CN" altLang="en-US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84" name="直接箭头连接符 483"/>
            <p:cNvCxnSpPr/>
            <p:nvPr/>
          </p:nvCxnSpPr>
          <p:spPr>
            <a:xfrm>
              <a:off x="7020503" y="4541565"/>
              <a:ext cx="0" cy="180975"/>
            </a:xfrm>
            <a:prstGeom prst="straightConnector1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连接符: 肘形 484"/>
            <p:cNvCxnSpPr>
              <a:endCxn id="457" idx="3"/>
            </p:cNvCxnSpPr>
            <p:nvPr/>
          </p:nvCxnSpPr>
          <p:spPr>
            <a:xfrm rot="5400000">
              <a:off x="6815940" y="3926983"/>
              <a:ext cx="2129331" cy="257264"/>
            </a:xfrm>
            <a:prstGeom prst="bentConnector2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文本框 487"/>
            <p:cNvSpPr txBox="1"/>
            <p:nvPr/>
          </p:nvSpPr>
          <p:spPr>
            <a:xfrm>
              <a:off x="7676703" y="4874060"/>
              <a:ext cx="45760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Res</a:t>
              </a:r>
              <a:endParaRPr lang="zh-CN" altLang="en-US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04" name="组合 503"/>
            <p:cNvGrpSpPr/>
            <p:nvPr/>
          </p:nvGrpSpPr>
          <p:grpSpPr>
            <a:xfrm>
              <a:off x="6001949" y="5614390"/>
              <a:ext cx="216000" cy="216000"/>
              <a:chOff x="6047417" y="5336099"/>
              <a:chExt cx="288000" cy="288000"/>
            </a:xfrm>
          </p:grpSpPr>
          <p:sp>
            <p:nvSpPr>
              <p:cNvPr id="494" name="椭圆 493"/>
              <p:cNvSpPr/>
              <p:nvPr/>
            </p:nvSpPr>
            <p:spPr>
              <a:xfrm>
                <a:off x="6047417" y="5336099"/>
                <a:ext cx="288000" cy="28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6" name="直接连接符 495"/>
              <p:cNvCxnSpPr>
                <a:stCxn id="494" idx="2"/>
                <a:endCxn id="494" idx="6"/>
              </p:cNvCxnSpPr>
              <p:nvPr/>
            </p:nvCxnSpPr>
            <p:spPr>
              <a:xfrm>
                <a:off x="6047417" y="5480099"/>
                <a:ext cx="2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直接连接符 500"/>
              <p:cNvCxnSpPr>
                <a:stCxn id="494" idx="0"/>
                <a:endCxn id="494" idx="4"/>
              </p:cNvCxnSpPr>
              <p:nvPr/>
            </p:nvCxnSpPr>
            <p:spPr>
              <a:xfrm>
                <a:off x="6191417" y="533609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6" name="连接符: 肘形 505"/>
            <p:cNvCxnSpPr>
              <a:stCxn id="434" idx="2"/>
              <a:endCxn id="494" idx="2"/>
            </p:cNvCxnSpPr>
            <p:nvPr/>
          </p:nvCxnSpPr>
          <p:spPr>
            <a:xfrm rot="16200000" flipH="1">
              <a:off x="5517174" y="5237614"/>
              <a:ext cx="208343" cy="761207"/>
            </a:xfrm>
            <a:prstGeom prst="bentConnector2">
              <a:avLst/>
            </a:prstGeom>
            <a:ln w="127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连接符: 肘形 509"/>
            <p:cNvCxnSpPr>
              <a:stCxn id="457" idx="2"/>
              <a:endCxn id="494" idx="6"/>
            </p:cNvCxnSpPr>
            <p:nvPr/>
          </p:nvCxnSpPr>
          <p:spPr>
            <a:xfrm rot="5400000">
              <a:off x="6502524" y="5233448"/>
              <a:ext cx="204368" cy="773517"/>
            </a:xfrm>
            <a:prstGeom prst="bentConnector2">
              <a:avLst/>
            </a:prstGeom>
            <a:ln w="1270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5" name="组合 514"/>
            <p:cNvGrpSpPr/>
            <p:nvPr/>
          </p:nvGrpSpPr>
          <p:grpSpPr>
            <a:xfrm>
              <a:off x="6252445" y="5825825"/>
              <a:ext cx="654419" cy="246221"/>
              <a:chOff x="6949893" y="4830087"/>
              <a:chExt cx="654419" cy="246221"/>
            </a:xfrm>
          </p:grpSpPr>
          <p:sp>
            <p:nvSpPr>
              <p:cNvPr id="516" name="矩形: 圆角 515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F6D6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17" name="文本框 516"/>
              <p:cNvSpPr txBox="1"/>
              <p:nvPr/>
            </p:nvSpPr>
            <p:spPr>
              <a:xfrm>
                <a:off x="7009518" y="4830087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FF6D6D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Linear</a:t>
                </a:r>
                <a:endParaRPr lang="en-US" altLang="zh-CN" sz="1000" dirty="0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18" name="直接箭头连接符 517"/>
            <p:cNvCxnSpPr/>
            <p:nvPr/>
          </p:nvCxnSpPr>
          <p:spPr>
            <a:xfrm>
              <a:off x="6112016" y="5867724"/>
              <a:ext cx="0" cy="208434"/>
            </a:xfrm>
            <a:prstGeom prst="straightConnector1">
              <a:avLst/>
            </a:prstGeom>
            <a:ln w="12700">
              <a:solidFill>
                <a:srgbClr val="FF6D6D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9" name="立方体 518"/>
            <p:cNvSpPr/>
            <p:nvPr/>
          </p:nvSpPr>
          <p:spPr>
            <a:xfrm>
              <a:off x="5373495" y="6122565"/>
              <a:ext cx="1465793" cy="115547"/>
            </a:xfrm>
            <a:prstGeom prst="cube">
              <a:avLst/>
            </a:prstGeom>
            <a:solidFill>
              <a:srgbClr val="FFE1E1"/>
            </a:solidFill>
            <a:ln>
              <a:solidFill>
                <a:srgbClr val="FF6D6D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3" name="文本框 522"/>
            <p:cNvSpPr txBox="1"/>
            <p:nvPr/>
          </p:nvSpPr>
          <p:spPr>
            <a:xfrm>
              <a:off x="4306054" y="6225513"/>
              <a:ext cx="36882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(c) Dual-domain Cross-attention Module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35" name="文本框 534"/>
            <p:cNvSpPr txBox="1"/>
            <p:nvPr/>
          </p:nvSpPr>
          <p:spPr>
            <a:xfrm>
              <a:off x="8579541" y="3337470"/>
              <a:ext cx="9205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Fused Features</a:t>
              </a:r>
              <a:endPara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38" name="组合 537"/>
            <p:cNvGrpSpPr/>
            <p:nvPr/>
          </p:nvGrpSpPr>
          <p:grpSpPr>
            <a:xfrm>
              <a:off x="8570693" y="3216730"/>
              <a:ext cx="216000" cy="216000"/>
              <a:chOff x="6047417" y="5336099"/>
              <a:chExt cx="288000" cy="288000"/>
            </a:xfrm>
          </p:grpSpPr>
          <p:sp>
            <p:nvSpPr>
              <p:cNvPr id="539" name="椭圆 538"/>
              <p:cNvSpPr/>
              <p:nvPr/>
            </p:nvSpPr>
            <p:spPr>
              <a:xfrm>
                <a:off x="6047417" y="5336099"/>
                <a:ext cx="288000" cy="28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0" name="直接连接符 539"/>
              <p:cNvCxnSpPr>
                <a:stCxn id="539" idx="2"/>
                <a:endCxn id="539" idx="6"/>
              </p:cNvCxnSpPr>
              <p:nvPr/>
            </p:nvCxnSpPr>
            <p:spPr>
              <a:xfrm>
                <a:off x="6047417" y="5480099"/>
                <a:ext cx="2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/>
              <p:cNvCxnSpPr>
                <a:stCxn id="539" idx="0"/>
                <a:endCxn id="539" idx="4"/>
              </p:cNvCxnSpPr>
              <p:nvPr/>
            </p:nvCxnSpPr>
            <p:spPr>
              <a:xfrm>
                <a:off x="6191417" y="533609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1" name="直接箭头连接符 570"/>
            <p:cNvCxnSpPr/>
            <p:nvPr/>
          </p:nvCxnSpPr>
          <p:spPr>
            <a:xfrm>
              <a:off x="8678592" y="3024035"/>
              <a:ext cx="0" cy="208434"/>
            </a:xfrm>
            <a:prstGeom prst="straightConnector1">
              <a:avLst/>
            </a:prstGeom>
            <a:ln w="22225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连接符: 肘形 577"/>
            <p:cNvCxnSpPr>
              <a:stCxn id="519" idx="5"/>
              <a:endCxn id="539" idx="2"/>
            </p:cNvCxnSpPr>
            <p:nvPr/>
          </p:nvCxnSpPr>
          <p:spPr>
            <a:xfrm flipV="1">
              <a:off x="6839288" y="3324730"/>
              <a:ext cx="1731405" cy="2841165"/>
            </a:xfrm>
            <a:prstGeom prst="bentConnector3">
              <a:avLst>
                <a:gd name="adj1" fmla="val 73839"/>
              </a:avLst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接箭头连接符 580"/>
            <p:cNvCxnSpPr/>
            <p:nvPr/>
          </p:nvCxnSpPr>
          <p:spPr>
            <a:xfrm>
              <a:off x="8679034" y="3467816"/>
              <a:ext cx="0" cy="22783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3" name="组合 582"/>
            <p:cNvGrpSpPr/>
            <p:nvPr/>
          </p:nvGrpSpPr>
          <p:grpSpPr>
            <a:xfrm>
              <a:off x="8358604" y="3739918"/>
              <a:ext cx="787771" cy="126417"/>
              <a:chOff x="2996246" y="3916743"/>
              <a:chExt cx="787771" cy="126417"/>
            </a:xfrm>
          </p:grpSpPr>
          <p:sp>
            <p:nvSpPr>
              <p:cNvPr id="584" name="立方体 583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5" name="立方体 584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6" name="立方体 585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7" name="立方体 586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EE2F5"/>
              </a:solidFill>
              <a:ln w="9525">
                <a:solidFill>
                  <a:srgbClr val="F97B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立方体 587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93" name="文本框 592"/>
            <p:cNvSpPr txBox="1"/>
            <p:nvPr/>
          </p:nvSpPr>
          <p:spPr>
            <a:xfrm rot="5400000">
              <a:off x="8177842" y="4620202"/>
              <a:ext cx="23572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(d) Topological Embedding</a:t>
              </a:r>
              <a:endParaRPr lang="en-US" altLang="zh-CN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04" name="图片 60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29095" y="3839454"/>
              <a:ext cx="346570" cy="346570"/>
            </a:xfrm>
            <a:prstGeom prst="rect">
              <a:avLst/>
            </a:prstGeom>
          </p:spPr>
        </p:pic>
        <p:sp>
          <p:nvSpPr>
            <p:cNvPr id="607" name="文本框 606"/>
            <p:cNvSpPr txBox="1"/>
            <p:nvPr/>
          </p:nvSpPr>
          <p:spPr>
            <a:xfrm>
              <a:off x="8343241" y="3903218"/>
              <a:ext cx="12640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00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Embedding_1</a:t>
              </a:r>
              <a:endPara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08" name="图片 60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5445" y="4673174"/>
              <a:ext cx="346570" cy="346570"/>
            </a:xfrm>
            <a:prstGeom prst="rect">
              <a:avLst/>
            </a:prstGeom>
          </p:spPr>
        </p:pic>
        <p:sp>
          <p:nvSpPr>
            <p:cNvPr id="609" name="文本框 608"/>
            <p:cNvSpPr txBox="1"/>
            <p:nvPr/>
          </p:nvSpPr>
          <p:spPr>
            <a:xfrm>
              <a:off x="8349591" y="4736938"/>
              <a:ext cx="126409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00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Embedding_2</a:t>
              </a:r>
              <a:endPara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10" name="图片 60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5445" y="5524004"/>
              <a:ext cx="346570" cy="346570"/>
            </a:xfrm>
            <a:prstGeom prst="rect">
              <a:avLst/>
            </a:prstGeom>
          </p:spPr>
        </p:pic>
        <p:sp>
          <p:nvSpPr>
            <p:cNvPr id="611" name="文本框 610"/>
            <p:cNvSpPr txBox="1"/>
            <p:nvPr/>
          </p:nvSpPr>
          <p:spPr>
            <a:xfrm>
              <a:off x="8349591" y="5587768"/>
              <a:ext cx="10057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F00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Embedding_3</a:t>
              </a:r>
              <a:endPara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3" name="矩形 612"/>
            <p:cNvSpPr/>
            <p:nvPr/>
          </p:nvSpPr>
          <p:spPr>
            <a:xfrm>
              <a:off x="8377983" y="4265637"/>
              <a:ext cx="121017" cy="146293"/>
            </a:xfrm>
            <a:prstGeom prst="rect">
              <a:avLst/>
            </a:prstGeom>
            <a:solidFill>
              <a:srgbClr val="D5F1FF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4" name="矩形 613"/>
            <p:cNvSpPr/>
            <p:nvPr/>
          </p:nvSpPr>
          <p:spPr>
            <a:xfrm>
              <a:off x="8372842" y="4477955"/>
              <a:ext cx="121017" cy="146293"/>
            </a:xfrm>
            <a:prstGeom prst="rect">
              <a:avLst/>
            </a:prstGeom>
            <a:solidFill>
              <a:srgbClr val="FEDEEC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5" name="文本框 614"/>
            <p:cNvSpPr txBox="1"/>
            <p:nvPr/>
          </p:nvSpPr>
          <p:spPr>
            <a:xfrm>
              <a:off x="8539597" y="4231827"/>
              <a:ext cx="6930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9DC3E6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Frontal</a:t>
              </a:r>
              <a:endParaRPr lang="zh-CN" altLang="en-US" sz="1000" dirty="0">
                <a:solidFill>
                  <a:srgbClr val="9DC3E6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6" name="文本框 615"/>
            <p:cNvSpPr txBox="1"/>
            <p:nvPr/>
          </p:nvSpPr>
          <p:spPr>
            <a:xfrm>
              <a:off x="8526273" y="4429092"/>
              <a:ext cx="6930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7B5F9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Parietal</a:t>
              </a:r>
              <a:endParaRPr lang="zh-CN" altLang="en-US" sz="1000" dirty="0">
                <a:solidFill>
                  <a:srgbClr val="F7B5F9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7" name="文本框 616"/>
            <p:cNvSpPr txBox="1"/>
            <p:nvPr/>
          </p:nvSpPr>
          <p:spPr>
            <a:xfrm>
              <a:off x="8571398" y="4469146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18" name="矩形 617"/>
            <p:cNvSpPr/>
            <p:nvPr/>
          </p:nvSpPr>
          <p:spPr>
            <a:xfrm>
              <a:off x="8264064" y="5089269"/>
              <a:ext cx="121017" cy="1462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9" name="矩形 618"/>
            <p:cNvSpPr/>
            <p:nvPr/>
          </p:nvSpPr>
          <p:spPr>
            <a:xfrm>
              <a:off x="8258923" y="5301587"/>
              <a:ext cx="121017" cy="1462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0" name="文本框 619"/>
            <p:cNvSpPr txBox="1"/>
            <p:nvPr/>
          </p:nvSpPr>
          <p:spPr>
            <a:xfrm>
              <a:off x="8425678" y="5055459"/>
              <a:ext cx="89798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4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(Frontal) Fz</a:t>
              </a:r>
              <a:endParaRPr lang="zh-CN" altLang="en-US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1" name="文本框 620"/>
            <p:cNvSpPr txBox="1"/>
            <p:nvPr/>
          </p:nvSpPr>
          <p:spPr>
            <a:xfrm>
              <a:off x="8412353" y="5252724"/>
              <a:ext cx="94295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(Parietal) </a:t>
              </a:r>
              <a:r>
                <a:rPr lang="en-US" altLang="zh-CN" sz="1000" dirty="0" err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Pz</a:t>
              </a:r>
              <a:endParaRPr lang="zh-CN" alt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2" name="文本框 621"/>
            <p:cNvSpPr txBox="1"/>
            <p:nvPr/>
          </p:nvSpPr>
          <p:spPr>
            <a:xfrm>
              <a:off x="8585231" y="5292778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4" name="文本框 623"/>
            <p:cNvSpPr txBox="1"/>
            <p:nvPr/>
          </p:nvSpPr>
          <p:spPr>
            <a:xfrm>
              <a:off x="8255428" y="4057579"/>
              <a:ext cx="111773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region_ embedding</a:t>
              </a:r>
              <a:endParaRPr lang="zh-CN" altLang="en-US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5" name="文本框 624"/>
            <p:cNvSpPr txBox="1"/>
            <p:nvPr/>
          </p:nvSpPr>
          <p:spPr>
            <a:xfrm>
              <a:off x="8200743" y="4899740"/>
              <a:ext cx="113429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 err="1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reg_pos_embedding</a:t>
              </a:r>
              <a:endParaRPr lang="zh-CN" altLang="en-US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7" name="文本框 626"/>
            <p:cNvSpPr txBox="1"/>
            <p:nvPr/>
          </p:nvSpPr>
          <p:spPr>
            <a:xfrm>
              <a:off x="8177302" y="5742261"/>
              <a:ext cx="125393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 err="1">
                  <a:solidFill>
                    <a:schemeClr val="bg1">
                      <a:lumMod val="50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positional_embedding</a:t>
              </a:r>
              <a:endParaRPr lang="zh-CN" altLang="en-US" sz="800" dirty="0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28" name="矩形 627"/>
            <p:cNvSpPr/>
            <p:nvPr/>
          </p:nvSpPr>
          <p:spPr>
            <a:xfrm>
              <a:off x="8486822" y="5935690"/>
              <a:ext cx="121017" cy="146293"/>
            </a:xfrm>
            <a:prstGeom prst="rect">
              <a:avLst/>
            </a:prstGeom>
            <a:solidFill>
              <a:srgbClr val="EAE9E2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9" name="矩形 628"/>
            <p:cNvSpPr/>
            <p:nvPr/>
          </p:nvSpPr>
          <p:spPr>
            <a:xfrm>
              <a:off x="8488405" y="6148008"/>
              <a:ext cx="121017" cy="146293"/>
            </a:xfrm>
            <a:prstGeom prst="rect">
              <a:avLst/>
            </a:prstGeom>
            <a:solidFill>
              <a:srgbClr val="E1B4FA"/>
            </a:solidFill>
            <a:ln>
              <a:solidFill>
                <a:srgbClr val="B174F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0" name="文本框 629"/>
            <p:cNvSpPr txBox="1"/>
            <p:nvPr/>
          </p:nvSpPr>
          <p:spPr>
            <a:xfrm>
              <a:off x="8648436" y="5901880"/>
              <a:ext cx="5271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Fz: 0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31" name="文本框 630"/>
            <p:cNvSpPr txBox="1"/>
            <p:nvPr/>
          </p:nvSpPr>
          <p:spPr>
            <a:xfrm>
              <a:off x="8662007" y="6099145"/>
              <a:ext cx="4597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rgbClr val="B174F4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Pz</a:t>
              </a:r>
              <a:r>
                <a:rPr lang="en-US" altLang="zh-CN" sz="1000" dirty="0">
                  <a:solidFill>
                    <a:srgbClr val="B174F4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: 1</a:t>
              </a:r>
              <a:endParaRPr lang="zh-CN" altLang="en-US" sz="1000" dirty="0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32" name="文本框 631"/>
            <p:cNvSpPr txBox="1"/>
            <p:nvPr/>
          </p:nvSpPr>
          <p:spPr>
            <a:xfrm>
              <a:off x="8599556" y="6145923"/>
              <a:ext cx="5104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261080" y="199653"/>
              <a:ext cx="16505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(a) Augmentation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428799" y="3008801"/>
              <a:ext cx="14291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Add Gaussian Noise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2520542" y="2144494"/>
              <a:ext cx="12092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Channel Dropout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2470725" y="1234332"/>
              <a:ext cx="142911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Random Time Shift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68" name="图片 6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0606" y="554301"/>
              <a:ext cx="1297176" cy="720000"/>
            </a:xfrm>
            <a:prstGeom prst="rect">
              <a:avLst/>
            </a:prstGeom>
          </p:spPr>
        </p:pic>
        <p:pic>
          <p:nvPicPr>
            <p:cNvPr id="72" name="图片 7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0606" y="1459696"/>
              <a:ext cx="1295339" cy="720000"/>
            </a:xfrm>
            <a:prstGeom prst="rect">
              <a:avLst/>
            </a:prstGeom>
          </p:spPr>
        </p:pic>
        <p:pic>
          <p:nvPicPr>
            <p:cNvPr id="74" name="图片 7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0606" y="2335471"/>
              <a:ext cx="1295340" cy="720000"/>
            </a:xfrm>
            <a:prstGeom prst="rect">
              <a:avLst/>
            </a:prstGeom>
          </p:spPr>
        </p:pic>
        <p:sp>
          <p:nvSpPr>
            <p:cNvPr id="636" name="矩形: 圆角 635"/>
            <p:cNvSpPr/>
            <p:nvPr/>
          </p:nvSpPr>
          <p:spPr>
            <a:xfrm>
              <a:off x="2259534" y="367715"/>
              <a:ext cx="1599417" cy="2887307"/>
            </a:xfrm>
            <a:custGeom>
              <a:avLst/>
              <a:gdLst>
                <a:gd name="connsiteX0" fmla="*/ 0 w 1898866"/>
                <a:gd name="connsiteY0" fmla="*/ 110818 h 3587576"/>
                <a:gd name="connsiteX1" fmla="*/ 110818 w 1898866"/>
                <a:gd name="connsiteY1" fmla="*/ 0 h 3587576"/>
                <a:gd name="connsiteX2" fmla="*/ 1788048 w 1898866"/>
                <a:gd name="connsiteY2" fmla="*/ 0 h 3587576"/>
                <a:gd name="connsiteX3" fmla="*/ 1898866 w 1898866"/>
                <a:gd name="connsiteY3" fmla="*/ 110818 h 3587576"/>
                <a:gd name="connsiteX4" fmla="*/ 1898866 w 1898866"/>
                <a:gd name="connsiteY4" fmla="*/ 3476758 h 3587576"/>
                <a:gd name="connsiteX5" fmla="*/ 1788048 w 1898866"/>
                <a:gd name="connsiteY5" fmla="*/ 3587576 h 3587576"/>
                <a:gd name="connsiteX6" fmla="*/ 110818 w 1898866"/>
                <a:gd name="connsiteY6" fmla="*/ 3587576 h 3587576"/>
                <a:gd name="connsiteX7" fmla="*/ 0 w 1898866"/>
                <a:gd name="connsiteY7" fmla="*/ 3476758 h 3587576"/>
                <a:gd name="connsiteX8" fmla="*/ 0 w 1898866"/>
                <a:gd name="connsiteY8" fmla="*/ 110818 h 3587576"/>
                <a:gd name="connsiteX0-1" fmla="*/ 0 w 1898866"/>
                <a:gd name="connsiteY0-2" fmla="*/ 110818 h 3587576"/>
                <a:gd name="connsiteX1-3" fmla="*/ 110818 w 1898866"/>
                <a:gd name="connsiteY1-4" fmla="*/ 0 h 3587576"/>
                <a:gd name="connsiteX2-5" fmla="*/ 240265 w 1898866"/>
                <a:gd name="connsiteY2-6" fmla="*/ 703 h 3587576"/>
                <a:gd name="connsiteX3-7" fmla="*/ 1788048 w 1898866"/>
                <a:gd name="connsiteY3-8" fmla="*/ 0 h 3587576"/>
                <a:gd name="connsiteX4-9" fmla="*/ 1898866 w 1898866"/>
                <a:gd name="connsiteY4-10" fmla="*/ 110818 h 3587576"/>
                <a:gd name="connsiteX5-11" fmla="*/ 1898866 w 1898866"/>
                <a:gd name="connsiteY5-12" fmla="*/ 3476758 h 3587576"/>
                <a:gd name="connsiteX6-13" fmla="*/ 1788048 w 1898866"/>
                <a:gd name="connsiteY6-14" fmla="*/ 3587576 h 3587576"/>
                <a:gd name="connsiteX7-15" fmla="*/ 110818 w 1898866"/>
                <a:gd name="connsiteY7-16" fmla="*/ 3587576 h 3587576"/>
                <a:gd name="connsiteX8-17" fmla="*/ 0 w 1898866"/>
                <a:gd name="connsiteY8-18" fmla="*/ 3476758 h 3587576"/>
                <a:gd name="connsiteX9" fmla="*/ 0 w 1898866"/>
                <a:gd name="connsiteY9" fmla="*/ 110818 h 3587576"/>
                <a:gd name="connsiteX0-19" fmla="*/ 0 w 1898866"/>
                <a:gd name="connsiteY0-20" fmla="*/ 112496 h 3589254"/>
                <a:gd name="connsiteX1-21" fmla="*/ 110818 w 1898866"/>
                <a:gd name="connsiteY1-22" fmla="*/ 1678 h 3589254"/>
                <a:gd name="connsiteX2-23" fmla="*/ 240265 w 1898866"/>
                <a:gd name="connsiteY2-24" fmla="*/ 2381 h 3589254"/>
                <a:gd name="connsiteX3-25" fmla="*/ 1678540 w 1898866"/>
                <a:gd name="connsiteY3-26" fmla="*/ 0 h 3589254"/>
                <a:gd name="connsiteX4-27" fmla="*/ 1788048 w 1898866"/>
                <a:gd name="connsiteY4-28" fmla="*/ 1678 h 3589254"/>
                <a:gd name="connsiteX5-29" fmla="*/ 1898866 w 1898866"/>
                <a:gd name="connsiteY5-30" fmla="*/ 112496 h 3589254"/>
                <a:gd name="connsiteX6-31" fmla="*/ 1898866 w 1898866"/>
                <a:gd name="connsiteY6-32" fmla="*/ 3478436 h 3589254"/>
                <a:gd name="connsiteX7-33" fmla="*/ 1788048 w 1898866"/>
                <a:gd name="connsiteY7-34" fmla="*/ 3589254 h 3589254"/>
                <a:gd name="connsiteX8-35" fmla="*/ 110818 w 1898866"/>
                <a:gd name="connsiteY8-36" fmla="*/ 3589254 h 3589254"/>
                <a:gd name="connsiteX9-37" fmla="*/ 0 w 1898866"/>
                <a:gd name="connsiteY9-38" fmla="*/ 3478436 h 3589254"/>
                <a:gd name="connsiteX10" fmla="*/ 0 w 1898866"/>
                <a:gd name="connsiteY10" fmla="*/ 112496 h 3589254"/>
                <a:gd name="connsiteX0-39" fmla="*/ 1678540 w 1898866"/>
                <a:gd name="connsiteY0-40" fmla="*/ 0 h 3589254"/>
                <a:gd name="connsiteX1-41" fmla="*/ 1788048 w 1898866"/>
                <a:gd name="connsiteY1-42" fmla="*/ 1678 h 3589254"/>
                <a:gd name="connsiteX2-43" fmla="*/ 1898866 w 1898866"/>
                <a:gd name="connsiteY2-44" fmla="*/ 112496 h 3589254"/>
                <a:gd name="connsiteX3-45" fmla="*/ 1898866 w 1898866"/>
                <a:gd name="connsiteY3-46" fmla="*/ 3478436 h 3589254"/>
                <a:gd name="connsiteX4-47" fmla="*/ 1788048 w 1898866"/>
                <a:gd name="connsiteY4-48" fmla="*/ 3589254 h 3589254"/>
                <a:gd name="connsiteX5-49" fmla="*/ 110818 w 1898866"/>
                <a:gd name="connsiteY5-50" fmla="*/ 3589254 h 3589254"/>
                <a:gd name="connsiteX6-51" fmla="*/ 0 w 1898866"/>
                <a:gd name="connsiteY6-52" fmla="*/ 3478436 h 3589254"/>
                <a:gd name="connsiteX7-53" fmla="*/ 0 w 1898866"/>
                <a:gd name="connsiteY7-54" fmla="*/ 112496 h 3589254"/>
                <a:gd name="connsiteX8-55" fmla="*/ 110818 w 1898866"/>
                <a:gd name="connsiteY8-56" fmla="*/ 1678 h 3589254"/>
                <a:gd name="connsiteX9-57" fmla="*/ 240265 w 1898866"/>
                <a:gd name="connsiteY9-58" fmla="*/ 2381 h 3589254"/>
                <a:gd name="connsiteX10-59" fmla="*/ 1769980 w 1898866"/>
                <a:gd name="connsiteY10-60" fmla="*/ 91440 h 3589254"/>
                <a:gd name="connsiteX0-61" fmla="*/ 1678540 w 1898866"/>
                <a:gd name="connsiteY0-62" fmla="*/ 0 h 3589254"/>
                <a:gd name="connsiteX1-63" fmla="*/ 1788048 w 1898866"/>
                <a:gd name="connsiteY1-64" fmla="*/ 1678 h 3589254"/>
                <a:gd name="connsiteX2-65" fmla="*/ 1898866 w 1898866"/>
                <a:gd name="connsiteY2-66" fmla="*/ 112496 h 3589254"/>
                <a:gd name="connsiteX3-67" fmla="*/ 1898866 w 1898866"/>
                <a:gd name="connsiteY3-68" fmla="*/ 3478436 h 3589254"/>
                <a:gd name="connsiteX4-69" fmla="*/ 1788048 w 1898866"/>
                <a:gd name="connsiteY4-70" fmla="*/ 3589254 h 3589254"/>
                <a:gd name="connsiteX5-71" fmla="*/ 110818 w 1898866"/>
                <a:gd name="connsiteY5-72" fmla="*/ 3589254 h 3589254"/>
                <a:gd name="connsiteX6-73" fmla="*/ 0 w 1898866"/>
                <a:gd name="connsiteY6-74" fmla="*/ 3478436 h 3589254"/>
                <a:gd name="connsiteX7-75" fmla="*/ 0 w 1898866"/>
                <a:gd name="connsiteY7-76" fmla="*/ 112496 h 3589254"/>
                <a:gd name="connsiteX8-77" fmla="*/ 110818 w 1898866"/>
                <a:gd name="connsiteY8-78" fmla="*/ 1678 h 3589254"/>
                <a:gd name="connsiteX9-79" fmla="*/ 240265 w 1898866"/>
                <a:gd name="connsiteY9-80" fmla="*/ 2381 h 3589254"/>
                <a:gd name="connsiteX0-81" fmla="*/ 1678540 w 1898866"/>
                <a:gd name="connsiteY0-82" fmla="*/ 0 h 3589254"/>
                <a:gd name="connsiteX1-83" fmla="*/ 1788048 w 1898866"/>
                <a:gd name="connsiteY1-84" fmla="*/ 1678 h 3589254"/>
                <a:gd name="connsiteX2-85" fmla="*/ 1898866 w 1898866"/>
                <a:gd name="connsiteY2-86" fmla="*/ 112496 h 3589254"/>
                <a:gd name="connsiteX3-87" fmla="*/ 1898866 w 1898866"/>
                <a:gd name="connsiteY3-88" fmla="*/ 3478436 h 3589254"/>
                <a:gd name="connsiteX4-89" fmla="*/ 1788048 w 1898866"/>
                <a:gd name="connsiteY4-90" fmla="*/ 3589254 h 3589254"/>
                <a:gd name="connsiteX5-91" fmla="*/ 110818 w 1898866"/>
                <a:gd name="connsiteY5-92" fmla="*/ 3589254 h 3589254"/>
                <a:gd name="connsiteX6-93" fmla="*/ 0 w 1898866"/>
                <a:gd name="connsiteY6-94" fmla="*/ 3478436 h 3589254"/>
                <a:gd name="connsiteX7-95" fmla="*/ 0 w 1898866"/>
                <a:gd name="connsiteY7-96" fmla="*/ 112496 h 3589254"/>
                <a:gd name="connsiteX8-97" fmla="*/ 110818 w 1898866"/>
                <a:gd name="connsiteY8-98" fmla="*/ 1678 h 3589254"/>
                <a:gd name="connsiteX0-99" fmla="*/ 1788048 w 1898866"/>
                <a:gd name="connsiteY0-100" fmla="*/ 0 h 3587576"/>
                <a:gd name="connsiteX1-101" fmla="*/ 1898866 w 1898866"/>
                <a:gd name="connsiteY1-102" fmla="*/ 110818 h 3587576"/>
                <a:gd name="connsiteX2-103" fmla="*/ 1898866 w 1898866"/>
                <a:gd name="connsiteY2-104" fmla="*/ 3476758 h 3587576"/>
                <a:gd name="connsiteX3-105" fmla="*/ 1788048 w 1898866"/>
                <a:gd name="connsiteY3-106" fmla="*/ 3587576 h 3587576"/>
                <a:gd name="connsiteX4-107" fmla="*/ 110818 w 1898866"/>
                <a:gd name="connsiteY4-108" fmla="*/ 3587576 h 3587576"/>
                <a:gd name="connsiteX5-109" fmla="*/ 0 w 1898866"/>
                <a:gd name="connsiteY5-110" fmla="*/ 3476758 h 3587576"/>
                <a:gd name="connsiteX6-111" fmla="*/ 0 w 1898866"/>
                <a:gd name="connsiteY6-112" fmla="*/ 110818 h 3587576"/>
                <a:gd name="connsiteX7-113" fmla="*/ 110818 w 1898866"/>
                <a:gd name="connsiteY7-114" fmla="*/ 0 h 358757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898866" h="3587576">
                  <a:moveTo>
                    <a:pt x="1788048" y="0"/>
                  </a:moveTo>
                  <a:cubicBezTo>
                    <a:pt x="1849251" y="0"/>
                    <a:pt x="1898866" y="49615"/>
                    <a:pt x="1898866" y="110818"/>
                  </a:cubicBezTo>
                  <a:lnTo>
                    <a:pt x="1898866" y="3476758"/>
                  </a:lnTo>
                  <a:cubicBezTo>
                    <a:pt x="1898866" y="3537961"/>
                    <a:pt x="1849251" y="3587576"/>
                    <a:pt x="1788048" y="3587576"/>
                  </a:cubicBezTo>
                  <a:lnTo>
                    <a:pt x="110818" y="3587576"/>
                  </a:lnTo>
                  <a:cubicBezTo>
                    <a:pt x="49615" y="3587576"/>
                    <a:pt x="0" y="3537961"/>
                    <a:pt x="0" y="3476758"/>
                  </a:cubicBezTo>
                  <a:lnTo>
                    <a:pt x="0" y="110818"/>
                  </a:lnTo>
                  <a:cubicBezTo>
                    <a:pt x="0" y="49615"/>
                    <a:pt x="49615" y="0"/>
                    <a:pt x="110818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1" name="箭头: 下 640"/>
            <p:cNvSpPr/>
            <p:nvPr/>
          </p:nvSpPr>
          <p:spPr>
            <a:xfrm rot="16200000">
              <a:off x="3764036" y="1772970"/>
              <a:ext cx="383417" cy="133350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2" name="矩形: 圆角 641"/>
            <p:cNvSpPr/>
            <p:nvPr/>
          </p:nvSpPr>
          <p:spPr>
            <a:xfrm>
              <a:off x="2263218" y="3358404"/>
              <a:ext cx="1685871" cy="3072652"/>
            </a:xfrm>
            <a:prstGeom prst="roundRect">
              <a:avLst>
                <a:gd name="adj" fmla="val 8030"/>
              </a:avLst>
            </a:prstGeom>
            <a:solidFill>
              <a:srgbClr val="F2F8EE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3" name="矩形: 圆角 642"/>
            <p:cNvSpPr/>
            <p:nvPr/>
          </p:nvSpPr>
          <p:spPr>
            <a:xfrm>
              <a:off x="479167" y="3358402"/>
              <a:ext cx="1685871" cy="3072651"/>
            </a:xfrm>
            <a:prstGeom prst="roundRect">
              <a:avLst>
                <a:gd name="adj" fmla="val 8030"/>
              </a:avLst>
            </a:prstGeom>
            <a:solidFill>
              <a:srgbClr val="FDF0E7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5" name="文本框 644"/>
            <p:cNvSpPr txBox="1"/>
            <p:nvPr/>
          </p:nvSpPr>
          <p:spPr>
            <a:xfrm>
              <a:off x="448532" y="3314831"/>
              <a:ext cx="17362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Time Encoder</a:t>
              </a:r>
              <a:endParaRPr lang="zh-CN" altLang="en-US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47" name="文本框 646"/>
            <p:cNvSpPr txBox="1"/>
            <p:nvPr/>
          </p:nvSpPr>
          <p:spPr>
            <a:xfrm>
              <a:off x="2233919" y="3321555"/>
              <a:ext cx="18188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Freq. Encoder</a:t>
              </a:r>
              <a:endParaRPr lang="zh-CN" altLang="en-US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35" name="矩形: 圆角 634"/>
            <p:cNvSpPr/>
            <p:nvPr/>
          </p:nvSpPr>
          <p:spPr>
            <a:xfrm>
              <a:off x="479167" y="368867"/>
              <a:ext cx="1599418" cy="2886155"/>
            </a:xfrm>
            <a:custGeom>
              <a:avLst/>
              <a:gdLst>
                <a:gd name="connsiteX0" fmla="*/ 0 w 1898866"/>
                <a:gd name="connsiteY0" fmla="*/ 125116 h 3587576"/>
                <a:gd name="connsiteX1" fmla="*/ 125116 w 1898866"/>
                <a:gd name="connsiteY1" fmla="*/ 0 h 3587576"/>
                <a:gd name="connsiteX2" fmla="*/ 1773750 w 1898866"/>
                <a:gd name="connsiteY2" fmla="*/ 0 h 3587576"/>
                <a:gd name="connsiteX3" fmla="*/ 1898866 w 1898866"/>
                <a:gd name="connsiteY3" fmla="*/ 125116 h 3587576"/>
                <a:gd name="connsiteX4" fmla="*/ 1898866 w 1898866"/>
                <a:gd name="connsiteY4" fmla="*/ 3462460 h 3587576"/>
                <a:gd name="connsiteX5" fmla="*/ 1773750 w 1898866"/>
                <a:gd name="connsiteY5" fmla="*/ 3587576 h 3587576"/>
                <a:gd name="connsiteX6" fmla="*/ 125116 w 1898866"/>
                <a:gd name="connsiteY6" fmla="*/ 3587576 h 3587576"/>
                <a:gd name="connsiteX7" fmla="*/ 0 w 1898866"/>
                <a:gd name="connsiteY7" fmla="*/ 3462460 h 3587576"/>
                <a:gd name="connsiteX8" fmla="*/ 0 w 1898866"/>
                <a:gd name="connsiteY8" fmla="*/ 125116 h 3587576"/>
                <a:gd name="connsiteX0-1" fmla="*/ 0 w 1898866"/>
                <a:gd name="connsiteY0-2" fmla="*/ 127214 h 3589674"/>
                <a:gd name="connsiteX1-3" fmla="*/ 125116 w 1898866"/>
                <a:gd name="connsiteY1-4" fmla="*/ 2098 h 3589674"/>
                <a:gd name="connsiteX2-5" fmla="*/ 239979 w 1898866"/>
                <a:gd name="connsiteY2-6" fmla="*/ 0 h 3589674"/>
                <a:gd name="connsiteX3-7" fmla="*/ 1773750 w 1898866"/>
                <a:gd name="connsiteY3-8" fmla="*/ 2098 h 3589674"/>
                <a:gd name="connsiteX4-9" fmla="*/ 1898866 w 1898866"/>
                <a:gd name="connsiteY4-10" fmla="*/ 127214 h 3589674"/>
                <a:gd name="connsiteX5-11" fmla="*/ 1898866 w 1898866"/>
                <a:gd name="connsiteY5-12" fmla="*/ 3464558 h 3589674"/>
                <a:gd name="connsiteX6-13" fmla="*/ 1773750 w 1898866"/>
                <a:gd name="connsiteY6-14" fmla="*/ 3589674 h 3589674"/>
                <a:gd name="connsiteX7-15" fmla="*/ 125116 w 1898866"/>
                <a:gd name="connsiteY7-16" fmla="*/ 3589674 h 3589674"/>
                <a:gd name="connsiteX8-17" fmla="*/ 0 w 1898866"/>
                <a:gd name="connsiteY8-18" fmla="*/ 3464558 h 3589674"/>
                <a:gd name="connsiteX9" fmla="*/ 0 w 1898866"/>
                <a:gd name="connsiteY9" fmla="*/ 127214 h 3589674"/>
                <a:gd name="connsiteX0-19" fmla="*/ 0 w 1898866"/>
                <a:gd name="connsiteY0-20" fmla="*/ 127214 h 3589674"/>
                <a:gd name="connsiteX1-21" fmla="*/ 125116 w 1898866"/>
                <a:gd name="connsiteY1-22" fmla="*/ 2098 h 3589674"/>
                <a:gd name="connsiteX2-23" fmla="*/ 239979 w 1898866"/>
                <a:gd name="connsiteY2-24" fmla="*/ 0 h 3589674"/>
                <a:gd name="connsiteX3-25" fmla="*/ 1694923 w 1898866"/>
                <a:gd name="connsiteY3-26" fmla="*/ 0 h 3589674"/>
                <a:gd name="connsiteX4-27" fmla="*/ 1773750 w 1898866"/>
                <a:gd name="connsiteY4-28" fmla="*/ 2098 h 3589674"/>
                <a:gd name="connsiteX5-29" fmla="*/ 1898866 w 1898866"/>
                <a:gd name="connsiteY5-30" fmla="*/ 127214 h 3589674"/>
                <a:gd name="connsiteX6-31" fmla="*/ 1898866 w 1898866"/>
                <a:gd name="connsiteY6-32" fmla="*/ 3464558 h 3589674"/>
                <a:gd name="connsiteX7-33" fmla="*/ 1773750 w 1898866"/>
                <a:gd name="connsiteY7-34" fmla="*/ 3589674 h 3589674"/>
                <a:gd name="connsiteX8-35" fmla="*/ 125116 w 1898866"/>
                <a:gd name="connsiteY8-36" fmla="*/ 3589674 h 3589674"/>
                <a:gd name="connsiteX9-37" fmla="*/ 0 w 1898866"/>
                <a:gd name="connsiteY9-38" fmla="*/ 3464558 h 3589674"/>
                <a:gd name="connsiteX10" fmla="*/ 0 w 1898866"/>
                <a:gd name="connsiteY10" fmla="*/ 127214 h 3589674"/>
                <a:gd name="connsiteX0-39" fmla="*/ 1694923 w 1898866"/>
                <a:gd name="connsiteY0-40" fmla="*/ 0 h 3589674"/>
                <a:gd name="connsiteX1-41" fmla="*/ 1773750 w 1898866"/>
                <a:gd name="connsiteY1-42" fmla="*/ 2098 h 3589674"/>
                <a:gd name="connsiteX2-43" fmla="*/ 1898866 w 1898866"/>
                <a:gd name="connsiteY2-44" fmla="*/ 127214 h 3589674"/>
                <a:gd name="connsiteX3-45" fmla="*/ 1898866 w 1898866"/>
                <a:gd name="connsiteY3-46" fmla="*/ 3464558 h 3589674"/>
                <a:gd name="connsiteX4-47" fmla="*/ 1773750 w 1898866"/>
                <a:gd name="connsiteY4-48" fmla="*/ 3589674 h 3589674"/>
                <a:gd name="connsiteX5-49" fmla="*/ 125116 w 1898866"/>
                <a:gd name="connsiteY5-50" fmla="*/ 3589674 h 3589674"/>
                <a:gd name="connsiteX6-51" fmla="*/ 0 w 1898866"/>
                <a:gd name="connsiteY6-52" fmla="*/ 3464558 h 3589674"/>
                <a:gd name="connsiteX7-53" fmla="*/ 0 w 1898866"/>
                <a:gd name="connsiteY7-54" fmla="*/ 127214 h 3589674"/>
                <a:gd name="connsiteX8-55" fmla="*/ 125116 w 1898866"/>
                <a:gd name="connsiteY8-56" fmla="*/ 2098 h 3589674"/>
                <a:gd name="connsiteX9-57" fmla="*/ 239979 w 1898866"/>
                <a:gd name="connsiteY9-58" fmla="*/ 0 h 3589674"/>
                <a:gd name="connsiteX10-59" fmla="*/ 1786363 w 1898866"/>
                <a:gd name="connsiteY10-60" fmla="*/ 91440 h 3589674"/>
                <a:gd name="connsiteX0-61" fmla="*/ 1694923 w 1898866"/>
                <a:gd name="connsiteY0-62" fmla="*/ 0 h 3589674"/>
                <a:gd name="connsiteX1-63" fmla="*/ 1773750 w 1898866"/>
                <a:gd name="connsiteY1-64" fmla="*/ 2098 h 3589674"/>
                <a:gd name="connsiteX2-65" fmla="*/ 1898866 w 1898866"/>
                <a:gd name="connsiteY2-66" fmla="*/ 127214 h 3589674"/>
                <a:gd name="connsiteX3-67" fmla="*/ 1898866 w 1898866"/>
                <a:gd name="connsiteY3-68" fmla="*/ 3464558 h 3589674"/>
                <a:gd name="connsiteX4-69" fmla="*/ 1773750 w 1898866"/>
                <a:gd name="connsiteY4-70" fmla="*/ 3589674 h 3589674"/>
                <a:gd name="connsiteX5-71" fmla="*/ 125116 w 1898866"/>
                <a:gd name="connsiteY5-72" fmla="*/ 3589674 h 3589674"/>
                <a:gd name="connsiteX6-73" fmla="*/ 0 w 1898866"/>
                <a:gd name="connsiteY6-74" fmla="*/ 3464558 h 3589674"/>
                <a:gd name="connsiteX7-75" fmla="*/ 0 w 1898866"/>
                <a:gd name="connsiteY7-76" fmla="*/ 127214 h 3589674"/>
                <a:gd name="connsiteX8-77" fmla="*/ 125116 w 1898866"/>
                <a:gd name="connsiteY8-78" fmla="*/ 2098 h 3589674"/>
                <a:gd name="connsiteX9-79" fmla="*/ 239979 w 1898866"/>
                <a:gd name="connsiteY9-80" fmla="*/ 0 h 3589674"/>
                <a:gd name="connsiteX0-81" fmla="*/ 1694923 w 1898866"/>
                <a:gd name="connsiteY0-82" fmla="*/ 0 h 3589674"/>
                <a:gd name="connsiteX1-83" fmla="*/ 1773750 w 1898866"/>
                <a:gd name="connsiteY1-84" fmla="*/ 2098 h 3589674"/>
                <a:gd name="connsiteX2-85" fmla="*/ 1898866 w 1898866"/>
                <a:gd name="connsiteY2-86" fmla="*/ 127214 h 3589674"/>
                <a:gd name="connsiteX3-87" fmla="*/ 1898866 w 1898866"/>
                <a:gd name="connsiteY3-88" fmla="*/ 3464558 h 3589674"/>
                <a:gd name="connsiteX4-89" fmla="*/ 1773750 w 1898866"/>
                <a:gd name="connsiteY4-90" fmla="*/ 3589674 h 3589674"/>
                <a:gd name="connsiteX5-91" fmla="*/ 125116 w 1898866"/>
                <a:gd name="connsiteY5-92" fmla="*/ 3589674 h 3589674"/>
                <a:gd name="connsiteX6-93" fmla="*/ 0 w 1898866"/>
                <a:gd name="connsiteY6-94" fmla="*/ 3464558 h 3589674"/>
                <a:gd name="connsiteX7-95" fmla="*/ 0 w 1898866"/>
                <a:gd name="connsiteY7-96" fmla="*/ 127214 h 3589674"/>
                <a:gd name="connsiteX8-97" fmla="*/ 125116 w 1898866"/>
                <a:gd name="connsiteY8-98" fmla="*/ 2098 h 3589674"/>
                <a:gd name="connsiteX0-99" fmla="*/ 1773750 w 1898866"/>
                <a:gd name="connsiteY0-100" fmla="*/ 0 h 3587576"/>
                <a:gd name="connsiteX1-101" fmla="*/ 1898866 w 1898866"/>
                <a:gd name="connsiteY1-102" fmla="*/ 125116 h 3587576"/>
                <a:gd name="connsiteX2-103" fmla="*/ 1898866 w 1898866"/>
                <a:gd name="connsiteY2-104" fmla="*/ 3462460 h 3587576"/>
                <a:gd name="connsiteX3-105" fmla="*/ 1773750 w 1898866"/>
                <a:gd name="connsiteY3-106" fmla="*/ 3587576 h 3587576"/>
                <a:gd name="connsiteX4-107" fmla="*/ 125116 w 1898866"/>
                <a:gd name="connsiteY4-108" fmla="*/ 3587576 h 3587576"/>
                <a:gd name="connsiteX5-109" fmla="*/ 0 w 1898866"/>
                <a:gd name="connsiteY5-110" fmla="*/ 3462460 h 3587576"/>
                <a:gd name="connsiteX6-111" fmla="*/ 0 w 1898866"/>
                <a:gd name="connsiteY6-112" fmla="*/ 125116 h 3587576"/>
                <a:gd name="connsiteX7-113" fmla="*/ 125116 w 1898866"/>
                <a:gd name="connsiteY7-114" fmla="*/ 0 h 358757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</a:cxnLst>
              <a:rect l="l" t="t" r="r" b="b"/>
              <a:pathLst>
                <a:path w="1898866" h="3587576">
                  <a:moveTo>
                    <a:pt x="1773750" y="0"/>
                  </a:moveTo>
                  <a:cubicBezTo>
                    <a:pt x="1842850" y="0"/>
                    <a:pt x="1898866" y="56016"/>
                    <a:pt x="1898866" y="125116"/>
                  </a:cubicBezTo>
                  <a:lnTo>
                    <a:pt x="1898866" y="3462460"/>
                  </a:lnTo>
                  <a:cubicBezTo>
                    <a:pt x="1898866" y="3531560"/>
                    <a:pt x="1842850" y="3587576"/>
                    <a:pt x="1773750" y="3587576"/>
                  </a:cubicBezTo>
                  <a:lnTo>
                    <a:pt x="125116" y="3587576"/>
                  </a:lnTo>
                  <a:cubicBezTo>
                    <a:pt x="56016" y="3587576"/>
                    <a:pt x="0" y="3531560"/>
                    <a:pt x="0" y="3462460"/>
                  </a:cubicBezTo>
                  <a:lnTo>
                    <a:pt x="0" y="125116"/>
                  </a:lnTo>
                  <a:cubicBezTo>
                    <a:pt x="0" y="56016"/>
                    <a:pt x="56016" y="0"/>
                    <a:pt x="125116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039" y="2307943"/>
              <a:ext cx="1296000" cy="756000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285" y="1430105"/>
              <a:ext cx="1296000" cy="756000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039" y="521720"/>
              <a:ext cx="1296000" cy="756000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/>
          </p:nvSpPr>
          <p:spPr>
            <a:xfrm>
              <a:off x="595299" y="203361"/>
              <a:ext cx="15396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Raw EEG Data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017345" y="1074246"/>
              <a:ext cx="5487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91286" y="3051359"/>
              <a:ext cx="14291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Contains 84 channels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48" name="文本框 647"/>
            <p:cNvSpPr txBox="1"/>
            <p:nvPr/>
          </p:nvSpPr>
          <p:spPr>
            <a:xfrm>
              <a:off x="1004441" y="1979641"/>
              <a:ext cx="5487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49" name="文本框 648"/>
            <p:cNvSpPr txBox="1"/>
            <p:nvPr/>
          </p:nvSpPr>
          <p:spPr>
            <a:xfrm>
              <a:off x="1004440" y="2785671"/>
              <a:ext cx="5487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……</a:t>
              </a:r>
              <a:endParaRPr lang="zh-CN" altLang="en-US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53" name="文本框 652"/>
            <p:cNvSpPr txBox="1"/>
            <p:nvPr/>
          </p:nvSpPr>
          <p:spPr>
            <a:xfrm>
              <a:off x="9568254" y="195288"/>
              <a:ext cx="19569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(e) </a:t>
              </a:r>
              <a:r>
                <a:rPr lang="en-US" altLang="zh-CN" sz="1400" dirty="0" err="1">
                  <a:latin typeface="Comic Sans MS" panose="030F0702030302020204" pitchFamily="66" charset="0"/>
                  <a:cs typeface="Times New Roman" panose="02020603050405020304" pitchFamily="18" charset="0"/>
                </a:rPr>
                <a:t>MoE</a:t>
              </a:r>
              <a:r>
                <a:rPr lang="en-US" altLang="zh-CN" sz="14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-Trans. Block</a:t>
              </a:r>
              <a:endParaRPr lang="zh-CN" altLang="en-US" sz="14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654" name="立方体 653"/>
            <p:cNvSpPr/>
            <p:nvPr/>
          </p:nvSpPr>
          <p:spPr>
            <a:xfrm>
              <a:off x="9787727" y="5564847"/>
              <a:ext cx="1465793" cy="115547"/>
            </a:xfrm>
            <a:prstGeom prst="cube">
              <a:avLst/>
            </a:prstGeom>
            <a:solidFill>
              <a:srgbClr val="F3FDFF"/>
            </a:solidFill>
            <a:ln>
              <a:solidFill>
                <a:srgbClr val="22A8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0491313" y="5740395"/>
              <a:ext cx="430688" cy="246221"/>
              <a:chOff x="9809629" y="5556245"/>
              <a:chExt cx="654419" cy="246221"/>
            </a:xfrm>
          </p:grpSpPr>
          <p:sp>
            <p:nvSpPr>
              <p:cNvPr id="655" name="矩形: 圆角 654"/>
              <p:cNvSpPr/>
              <p:nvPr/>
            </p:nvSpPr>
            <p:spPr>
              <a:xfrm>
                <a:off x="9809629" y="5558904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22A8F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56" name="文本框 655"/>
              <p:cNvSpPr txBox="1"/>
              <p:nvPr/>
            </p:nvSpPr>
            <p:spPr>
              <a:xfrm>
                <a:off x="9872687" y="5556245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22A8FA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LN</a:t>
                </a:r>
                <a:endParaRPr lang="en-US" altLang="zh-CN" sz="1000" dirty="0">
                  <a:solidFill>
                    <a:srgbClr val="22A8FA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57" name="箭头: 下 656"/>
            <p:cNvSpPr/>
            <p:nvPr/>
          </p:nvSpPr>
          <p:spPr>
            <a:xfrm rot="16200000">
              <a:off x="9562194" y="5915517"/>
              <a:ext cx="219203" cy="481108"/>
            </a:xfrm>
            <a:prstGeom prst="downArrow">
              <a:avLst>
                <a:gd name="adj1" fmla="val 38672"/>
                <a:gd name="adj2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8" name="文本框 657"/>
            <p:cNvSpPr txBox="1"/>
            <p:nvPr/>
          </p:nvSpPr>
          <p:spPr>
            <a:xfrm>
              <a:off x="9904090" y="6215312"/>
              <a:ext cx="13644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Semantic Features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59" name="组合 658"/>
            <p:cNvGrpSpPr/>
            <p:nvPr/>
          </p:nvGrpSpPr>
          <p:grpSpPr>
            <a:xfrm>
              <a:off x="10063629" y="6080976"/>
              <a:ext cx="787771" cy="126417"/>
              <a:chOff x="2996246" y="3916743"/>
              <a:chExt cx="787771" cy="126417"/>
            </a:xfrm>
          </p:grpSpPr>
          <p:sp>
            <p:nvSpPr>
              <p:cNvPr id="660" name="立方体 659"/>
              <p:cNvSpPr/>
              <p:nvPr/>
            </p:nvSpPr>
            <p:spPr>
              <a:xfrm>
                <a:off x="2996246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1" name="立方体 660"/>
              <p:cNvSpPr/>
              <p:nvPr/>
            </p:nvSpPr>
            <p:spPr>
              <a:xfrm>
                <a:off x="3163020" y="3916745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 w="9525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2" name="立方体 661"/>
              <p:cNvSpPr/>
              <p:nvPr/>
            </p:nvSpPr>
            <p:spPr>
              <a:xfrm>
                <a:off x="3326156" y="391674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3" name="立方体 662"/>
              <p:cNvSpPr/>
              <p:nvPr/>
            </p:nvSpPr>
            <p:spPr>
              <a:xfrm>
                <a:off x="349601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EE2F5"/>
              </a:solidFill>
              <a:ln w="9525">
                <a:solidFill>
                  <a:srgbClr val="F97BF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4" name="立方体 663"/>
              <p:cNvSpPr/>
              <p:nvPr/>
            </p:nvSpPr>
            <p:spPr>
              <a:xfrm>
                <a:off x="3656066" y="3916743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72" name="文本框 671"/>
            <p:cNvSpPr txBox="1"/>
            <p:nvPr/>
          </p:nvSpPr>
          <p:spPr>
            <a:xfrm>
              <a:off x="10883529" y="6021769"/>
              <a:ext cx="7336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dirty="0" err="1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Topologicalembedding</a:t>
              </a:r>
              <a:endParaRPr lang="zh-CN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>
            <a:xfrm flipV="1">
              <a:off x="10309366" y="5719556"/>
              <a:ext cx="0" cy="290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连接符: 肘形 491"/>
            <p:cNvCxnSpPr/>
            <p:nvPr/>
          </p:nvCxnSpPr>
          <p:spPr>
            <a:xfrm rot="16200000" flipH="1">
              <a:off x="10511656" y="4503502"/>
              <a:ext cx="12700" cy="1460558"/>
            </a:xfrm>
            <a:prstGeom prst="bentConnector3">
              <a:avLst>
                <a:gd name="adj1" fmla="val 1250000"/>
              </a:avLst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1" name="组合 520"/>
            <p:cNvGrpSpPr/>
            <p:nvPr/>
          </p:nvGrpSpPr>
          <p:grpSpPr>
            <a:xfrm>
              <a:off x="9585142" y="4884640"/>
              <a:ext cx="537527" cy="290540"/>
              <a:chOff x="11229792" y="5161341"/>
              <a:chExt cx="537527" cy="290540"/>
            </a:xfrm>
          </p:grpSpPr>
          <p:sp>
            <p:nvSpPr>
              <p:cNvPr id="509" name="立方体 508"/>
              <p:cNvSpPr/>
              <p:nvPr/>
            </p:nvSpPr>
            <p:spPr>
              <a:xfrm>
                <a:off x="11229792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1" name="立方体 510"/>
              <p:cNvSpPr/>
              <p:nvPr/>
            </p:nvSpPr>
            <p:spPr>
              <a:xfrm>
                <a:off x="11434580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2" name="立方体 511"/>
              <p:cNvSpPr/>
              <p:nvPr/>
            </p:nvSpPr>
            <p:spPr>
              <a:xfrm>
                <a:off x="11639368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3" name="立方体 512"/>
              <p:cNvSpPr/>
              <p:nvPr/>
            </p:nvSpPr>
            <p:spPr>
              <a:xfrm>
                <a:off x="11229792" y="532546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4" name="立方体 513"/>
              <p:cNvSpPr/>
              <p:nvPr/>
            </p:nvSpPr>
            <p:spPr>
              <a:xfrm>
                <a:off x="11434580" y="532546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0" name="立方体 519"/>
              <p:cNvSpPr/>
              <p:nvPr/>
            </p:nvSpPr>
            <p:spPr>
              <a:xfrm>
                <a:off x="11639368" y="532546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4E8E0"/>
              </a:solidFill>
              <a:ln w="9525">
                <a:solidFill>
                  <a:srgbClr val="9BBA8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34" name="组合 533"/>
            <p:cNvGrpSpPr/>
            <p:nvPr/>
          </p:nvGrpSpPr>
          <p:grpSpPr>
            <a:xfrm>
              <a:off x="10910796" y="4884640"/>
              <a:ext cx="537527" cy="290540"/>
              <a:chOff x="11202896" y="4997216"/>
              <a:chExt cx="537527" cy="290540"/>
            </a:xfrm>
          </p:grpSpPr>
          <p:sp>
            <p:nvSpPr>
              <p:cNvPr id="528" name="立方体 527"/>
              <p:cNvSpPr/>
              <p:nvPr/>
            </p:nvSpPr>
            <p:spPr>
              <a:xfrm>
                <a:off x="11202896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9" name="立方体 528"/>
              <p:cNvSpPr/>
              <p:nvPr/>
            </p:nvSpPr>
            <p:spPr>
              <a:xfrm>
                <a:off x="11407684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0" name="立方体 529"/>
              <p:cNvSpPr/>
              <p:nvPr/>
            </p:nvSpPr>
            <p:spPr>
              <a:xfrm>
                <a:off x="11612472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1" name="立方体 530"/>
              <p:cNvSpPr/>
              <p:nvPr/>
            </p:nvSpPr>
            <p:spPr>
              <a:xfrm>
                <a:off x="11202896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2" name="立方体 531"/>
              <p:cNvSpPr/>
              <p:nvPr/>
            </p:nvSpPr>
            <p:spPr>
              <a:xfrm>
                <a:off x="11407684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3" name="立方体 532"/>
              <p:cNvSpPr/>
              <p:nvPr/>
            </p:nvSpPr>
            <p:spPr>
              <a:xfrm>
                <a:off x="11612472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50" name="组合 549"/>
            <p:cNvGrpSpPr/>
            <p:nvPr/>
          </p:nvGrpSpPr>
          <p:grpSpPr>
            <a:xfrm>
              <a:off x="10252855" y="4884640"/>
              <a:ext cx="537527" cy="290540"/>
              <a:chOff x="11355296" y="5033522"/>
              <a:chExt cx="537527" cy="290540"/>
            </a:xfrm>
          </p:grpSpPr>
          <p:sp>
            <p:nvSpPr>
              <p:cNvPr id="544" name="立方体 543"/>
              <p:cNvSpPr/>
              <p:nvPr/>
            </p:nvSpPr>
            <p:spPr>
              <a:xfrm>
                <a:off x="11355296" y="503352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5" name="立方体 544"/>
              <p:cNvSpPr/>
              <p:nvPr/>
            </p:nvSpPr>
            <p:spPr>
              <a:xfrm>
                <a:off x="11560084" y="503352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6" name="立方体 545"/>
              <p:cNvSpPr/>
              <p:nvPr/>
            </p:nvSpPr>
            <p:spPr>
              <a:xfrm>
                <a:off x="11764872" y="5033522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7" name="立方体 546"/>
              <p:cNvSpPr/>
              <p:nvPr/>
            </p:nvSpPr>
            <p:spPr>
              <a:xfrm>
                <a:off x="11355296" y="51976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8" name="立方体 547"/>
              <p:cNvSpPr/>
              <p:nvPr/>
            </p:nvSpPr>
            <p:spPr>
              <a:xfrm>
                <a:off x="11560084" y="51976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9" name="立方体 548"/>
              <p:cNvSpPr/>
              <p:nvPr/>
            </p:nvSpPr>
            <p:spPr>
              <a:xfrm>
                <a:off x="11764872" y="5197647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F8F0DC"/>
              </a:solidFill>
              <a:ln w="9525">
                <a:solidFill>
                  <a:srgbClr val="E4DE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51" name="直接箭头连接符 550"/>
            <p:cNvCxnSpPr/>
            <p:nvPr/>
          </p:nvCxnSpPr>
          <p:spPr>
            <a:xfrm flipV="1">
              <a:off x="10511491" y="5223932"/>
              <a:ext cx="0" cy="2901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文本框 551"/>
            <p:cNvSpPr txBox="1"/>
            <p:nvPr/>
          </p:nvSpPr>
          <p:spPr>
            <a:xfrm>
              <a:off x="9487914" y="5312427"/>
              <a:ext cx="5996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9BBA8C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Query</a:t>
              </a:r>
              <a:endParaRPr lang="zh-CN" altLang="en-US" sz="1000" dirty="0">
                <a:solidFill>
                  <a:srgbClr val="9BBA8C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554" name="文本框 553"/>
            <p:cNvSpPr txBox="1"/>
            <p:nvPr/>
          </p:nvSpPr>
          <p:spPr>
            <a:xfrm>
              <a:off x="10454717" y="5345619"/>
              <a:ext cx="417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dirty="0">
                  <a:solidFill>
                    <a:srgbClr val="DCD43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Key</a:t>
              </a:r>
              <a:endParaRPr lang="zh-CN" altLang="en-US" sz="1000" dirty="0">
                <a:solidFill>
                  <a:srgbClr val="DCD430"/>
                </a:solidFill>
              </a:endParaRPr>
            </a:p>
          </p:txBody>
        </p:sp>
        <p:sp>
          <p:nvSpPr>
            <p:cNvPr id="556" name="文本框 555"/>
            <p:cNvSpPr txBox="1"/>
            <p:nvPr/>
          </p:nvSpPr>
          <p:spPr>
            <a:xfrm>
              <a:off x="11097565" y="5339800"/>
              <a:ext cx="53278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dirty="0">
                  <a:solidFill>
                    <a:srgbClr val="AE59D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Value</a:t>
              </a:r>
              <a:endParaRPr lang="zh-CN" altLang="en-US" sz="1000" dirty="0">
                <a:solidFill>
                  <a:srgbClr val="AE59DD"/>
                </a:solidFill>
              </a:endParaRPr>
            </a:p>
          </p:txBody>
        </p:sp>
        <p:grpSp>
          <p:nvGrpSpPr>
            <p:cNvPr id="557" name="组合 556"/>
            <p:cNvGrpSpPr/>
            <p:nvPr/>
          </p:nvGrpSpPr>
          <p:grpSpPr>
            <a:xfrm>
              <a:off x="9658075" y="4418045"/>
              <a:ext cx="1115354" cy="246221"/>
              <a:chOff x="6949893" y="4830087"/>
              <a:chExt cx="654419" cy="246221"/>
            </a:xfrm>
          </p:grpSpPr>
          <p:sp>
            <p:nvSpPr>
              <p:cNvPr id="558" name="矩形: 圆角 557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F6D6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59" name="文本框 558"/>
              <p:cNvSpPr txBox="1"/>
              <p:nvPr/>
            </p:nvSpPr>
            <p:spPr>
              <a:xfrm>
                <a:off x="7140478" y="4830087"/>
                <a:ext cx="34509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 err="1">
                    <a:solidFill>
                      <a:srgbClr val="FF6D6D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RoPE</a:t>
                </a:r>
                <a:endParaRPr lang="en-US" altLang="zh-CN" sz="1000" dirty="0">
                  <a:solidFill>
                    <a:srgbClr val="FF6D6D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60" name="直接箭头连接符 559"/>
            <p:cNvCxnSpPr/>
            <p:nvPr/>
          </p:nvCxnSpPr>
          <p:spPr>
            <a:xfrm flipV="1">
              <a:off x="9787591" y="4679441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0" name="组合 579"/>
            <p:cNvGrpSpPr/>
            <p:nvPr/>
          </p:nvGrpSpPr>
          <p:grpSpPr>
            <a:xfrm>
              <a:off x="9589545" y="3919988"/>
              <a:ext cx="537527" cy="290540"/>
              <a:chOff x="11229792" y="2988094"/>
              <a:chExt cx="537527" cy="290540"/>
            </a:xfrm>
          </p:grpSpPr>
          <p:sp>
            <p:nvSpPr>
              <p:cNvPr id="567" name="立方体 566"/>
              <p:cNvSpPr/>
              <p:nvPr/>
            </p:nvSpPr>
            <p:spPr>
              <a:xfrm>
                <a:off x="11229792" y="298809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8" name="立方体 567"/>
              <p:cNvSpPr/>
              <p:nvPr/>
            </p:nvSpPr>
            <p:spPr>
              <a:xfrm>
                <a:off x="11434580" y="298809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9" name="立方体 568"/>
              <p:cNvSpPr/>
              <p:nvPr/>
            </p:nvSpPr>
            <p:spPr>
              <a:xfrm>
                <a:off x="11639368" y="298809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0" name="立方体 569"/>
              <p:cNvSpPr/>
              <p:nvPr/>
            </p:nvSpPr>
            <p:spPr>
              <a:xfrm>
                <a:off x="11229792" y="31522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2" name="立方体 571"/>
              <p:cNvSpPr/>
              <p:nvPr/>
            </p:nvSpPr>
            <p:spPr>
              <a:xfrm>
                <a:off x="11434580" y="31522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3" name="立方体 572"/>
              <p:cNvSpPr/>
              <p:nvPr/>
            </p:nvSpPr>
            <p:spPr>
              <a:xfrm>
                <a:off x="11639368" y="315221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E9D7DD"/>
              </a:solidFill>
              <a:ln w="9525">
                <a:solidFill>
                  <a:srgbClr val="C87E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74" name="组合 573"/>
            <p:cNvGrpSpPr/>
            <p:nvPr/>
          </p:nvGrpSpPr>
          <p:grpSpPr>
            <a:xfrm>
              <a:off x="10915199" y="3924248"/>
              <a:ext cx="537527" cy="290540"/>
              <a:chOff x="11202896" y="4997216"/>
              <a:chExt cx="537527" cy="290540"/>
            </a:xfrm>
          </p:grpSpPr>
          <p:sp>
            <p:nvSpPr>
              <p:cNvPr id="86" name="立方体 85"/>
              <p:cNvSpPr/>
              <p:nvPr/>
            </p:nvSpPr>
            <p:spPr>
              <a:xfrm>
                <a:off x="11202896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立方体 86"/>
              <p:cNvSpPr/>
              <p:nvPr/>
            </p:nvSpPr>
            <p:spPr>
              <a:xfrm>
                <a:off x="11407684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立方体 93"/>
              <p:cNvSpPr/>
              <p:nvPr/>
            </p:nvSpPr>
            <p:spPr>
              <a:xfrm>
                <a:off x="11612472" y="4997216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立方体 94"/>
              <p:cNvSpPr/>
              <p:nvPr/>
            </p:nvSpPr>
            <p:spPr>
              <a:xfrm>
                <a:off x="11202896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立方体 95"/>
              <p:cNvSpPr/>
              <p:nvPr/>
            </p:nvSpPr>
            <p:spPr>
              <a:xfrm>
                <a:off x="11407684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立方体 96"/>
              <p:cNvSpPr/>
              <p:nvPr/>
            </p:nvSpPr>
            <p:spPr>
              <a:xfrm>
                <a:off x="11612472" y="5161341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5CFED"/>
              </a:solidFill>
              <a:ln w="9525">
                <a:solidFill>
                  <a:srgbClr val="AE59D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82" name="组合 581"/>
            <p:cNvGrpSpPr/>
            <p:nvPr/>
          </p:nvGrpSpPr>
          <p:grpSpPr>
            <a:xfrm>
              <a:off x="10265555" y="3919988"/>
              <a:ext cx="537527" cy="290540"/>
              <a:chOff x="11229792" y="3503724"/>
              <a:chExt cx="537527" cy="290540"/>
            </a:xfrm>
          </p:grpSpPr>
          <p:sp>
            <p:nvSpPr>
              <p:cNvPr id="117" name="立方体 116"/>
              <p:cNvSpPr/>
              <p:nvPr/>
            </p:nvSpPr>
            <p:spPr>
              <a:xfrm>
                <a:off x="11229792" y="350372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立方体 117"/>
              <p:cNvSpPr/>
              <p:nvPr/>
            </p:nvSpPr>
            <p:spPr>
              <a:xfrm>
                <a:off x="11434580" y="350372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立方体 121"/>
              <p:cNvSpPr/>
              <p:nvPr/>
            </p:nvSpPr>
            <p:spPr>
              <a:xfrm>
                <a:off x="11639368" y="3503724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立方体 122"/>
              <p:cNvSpPr/>
              <p:nvPr/>
            </p:nvSpPr>
            <p:spPr>
              <a:xfrm>
                <a:off x="11229792" y="366784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立方体 124"/>
              <p:cNvSpPr/>
              <p:nvPr/>
            </p:nvSpPr>
            <p:spPr>
              <a:xfrm>
                <a:off x="11434580" y="366784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6" name="立方体 575"/>
              <p:cNvSpPr/>
              <p:nvPr/>
            </p:nvSpPr>
            <p:spPr>
              <a:xfrm>
                <a:off x="11639368" y="3667849"/>
                <a:ext cx="127951" cy="126415"/>
              </a:xfrm>
              <a:prstGeom prst="cube">
                <a:avLst>
                  <a:gd name="adj" fmla="val 13750"/>
                </a:avLst>
              </a:prstGeom>
              <a:solidFill>
                <a:srgbClr val="D7FDE8"/>
              </a:solidFill>
              <a:ln w="9525">
                <a:solidFill>
                  <a:srgbClr val="64C8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77" name="直接箭头连接符 576"/>
            <p:cNvCxnSpPr/>
            <p:nvPr/>
          </p:nvCxnSpPr>
          <p:spPr>
            <a:xfrm flipV="1">
              <a:off x="11235391" y="4246577"/>
              <a:ext cx="0" cy="5754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直接箭头连接符 598"/>
            <p:cNvCxnSpPr/>
            <p:nvPr/>
          </p:nvCxnSpPr>
          <p:spPr>
            <a:xfrm flipV="1">
              <a:off x="10524191" y="4679441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接箭头连接符 599"/>
            <p:cNvCxnSpPr/>
            <p:nvPr/>
          </p:nvCxnSpPr>
          <p:spPr>
            <a:xfrm flipV="1">
              <a:off x="9787591" y="4240820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直接箭头连接符 600"/>
            <p:cNvCxnSpPr/>
            <p:nvPr/>
          </p:nvCxnSpPr>
          <p:spPr>
            <a:xfrm flipV="1">
              <a:off x="10524191" y="4240820"/>
              <a:ext cx="0" cy="157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2" name="组合 611"/>
            <p:cNvGrpSpPr/>
            <p:nvPr/>
          </p:nvGrpSpPr>
          <p:grpSpPr>
            <a:xfrm>
              <a:off x="9816794" y="3387933"/>
              <a:ext cx="1550890" cy="246951"/>
              <a:chOff x="9448494" y="3136539"/>
              <a:chExt cx="1550890" cy="246951"/>
            </a:xfrm>
          </p:grpSpPr>
          <p:sp>
            <p:nvSpPr>
              <p:cNvPr id="605" name="矩形: 圆角 604"/>
              <p:cNvSpPr/>
              <p:nvPr/>
            </p:nvSpPr>
            <p:spPr>
              <a:xfrm>
                <a:off x="9448494" y="3136539"/>
                <a:ext cx="1492555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F78E3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06" name="文本框 605"/>
              <p:cNvSpPr txBox="1"/>
              <p:nvPr/>
            </p:nvSpPr>
            <p:spPr>
              <a:xfrm>
                <a:off x="9466979" y="3137269"/>
                <a:ext cx="153240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F78E3F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Multi-Head Attention </a:t>
                </a:r>
                <a:endParaRPr lang="en-US" altLang="zh-CN" sz="1000" dirty="0">
                  <a:solidFill>
                    <a:srgbClr val="F78E3F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634" name="连接符: 肘形 633"/>
            <p:cNvCxnSpPr/>
            <p:nvPr/>
          </p:nvCxnSpPr>
          <p:spPr>
            <a:xfrm rot="16200000" flipH="1">
              <a:off x="10527502" y="3159156"/>
              <a:ext cx="12700" cy="1466850"/>
            </a:xfrm>
            <a:prstGeom prst="bentConnector3">
              <a:avLst>
                <a:gd name="adj1" fmla="val -85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/>
            <p:cNvCxnSpPr/>
            <p:nvPr/>
          </p:nvCxnSpPr>
          <p:spPr>
            <a:xfrm flipV="1">
              <a:off x="10526432" y="3658140"/>
              <a:ext cx="0" cy="2364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立方体 155"/>
            <p:cNvSpPr/>
            <p:nvPr/>
          </p:nvSpPr>
          <p:spPr>
            <a:xfrm>
              <a:off x="9836049" y="2972936"/>
              <a:ext cx="1465793" cy="115547"/>
            </a:xfrm>
            <a:prstGeom prst="cube">
              <a:avLst/>
            </a:prstGeom>
            <a:solidFill>
              <a:srgbClr val="F3FDFF"/>
            </a:solidFill>
            <a:ln>
              <a:solidFill>
                <a:srgbClr val="22A8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8" name="直接箭头连接符 167"/>
            <p:cNvCxnSpPr/>
            <p:nvPr/>
          </p:nvCxnSpPr>
          <p:spPr>
            <a:xfrm flipV="1">
              <a:off x="10533715" y="2726168"/>
              <a:ext cx="0" cy="2421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0" name="组合 639"/>
            <p:cNvGrpSpPr/>
            <p:nvPr/>
          </p:nvGrpSpPr>
          <p:grpSpPr>
            <a:xfrm>
              <a:off x="10631885" y="3120357"/>
              <a:ext cx="762000" cy="248751"/>
              <a:chOff x="11099800" y="2613334"/>
              <a:chExt cx="762000" cy="248751"/>
            </a:xfrm>
          </p:grpSpPr>
          <p:sp>
            <p:nvSpPr>
              <p:cNvPr id="171" name="矩形: 圆角 170"/>
              <p:cNvSpPr/>
              <p:nvPr/>
            </p:nvSpPr>
            <p:spPr>
              <a:xfrm>
                <a:off x="11118850" y="2613334"/>
                <a:ext cx="733876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22A8F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72" name="文本框 171"/>
              <p:cNvSpPr txBox="1"/>
              <p:nvPr/>
            </p:nvSpPr>
            <p:spPr>
              <a:xfrm>
                <a:off x="11099800" y="2615864"/>
                <a:ext cx="762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00B0F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Add &amp; LN</a:t>
                </a:r>
                <a:endPara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9" name="直接箭头连接符 178"/>
            <p:cNvCxnSpPr/>
            <p:nvPr/>
          </p:nvCxnSpPr>
          <p:spPr>
            <a:xfrm flipV="1">
              <a:off x="10532782" y="3106909"/>
              <a:ext cx="0" cy="2503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连接符: 肘形 687"/>
            <p:cNvCxnSpPr>
              <a:endCxn id="156" idx="5"/>
            </p:cNvCxnSpPr>
            <p:nvPr/>
          </p:nvCxnSpPr>
          <p:spPr>
            <a:xfrm rot="16200000" flipV="1">
              <a:off x="10494342" y="3823766"/>
              <a:ext cx="1806820" cy="191820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4" name="组合 693"/>
            <p:cNvGrpSpPr/>
            <p:nvPr/>
          </p:nvGrpSpPr>
          <p:grpSpPr>
            <a:xfrm>
              <a:off x="10215819" y="2509771"/>
              <a:ext cx="654419" cy="246221"/>
              <a:chOff x="11259547" y="1914372"/>
              <a:chExt cx="654419" cy="246221"/>
            </a:xfrm>
          </p:grpSpPr>
          <p:sp>
            <p:nvSpPr>
              <p:cNvPr id="692" name="矩形: 圆角 691"/>
              <p:cNvSpPr/>
              <p:nvPr/>
            </p:nvSpPr>
            <p:spPr>
              <a:xfrm>
                <a:off x="11259547" y="1935645"/>
                <a:ext cx="654419" cy="200828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693" name="文本框 692"/>
              <p:cNvSpPr txBox="1"/>
              <p:nvPr/>
            </p:nvSpPr>
            <p:spPr>
              <a:xfrm>
                <a:off x="11315513" y="1914372"/>
                <a:ext cx="594625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Router</a:t>
                </a:r>
                <a:endPara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03" name="组合 702"/>
            <p:cNvGrpSpPr/>
            <p:nvPr/>
          </p:nvGrpSpPr>
          <p:grpSpPr>
            <a:xfrm>
              <a:off x="9604631" y="1638428"/>
              <a:ext cx="699711" cy="246221"/>
              <a:chOff x="11210510" y="1890674"/>
              <a:chExt cx="699711" cy="246221"/>
            </a:xfrm>
          </p:grpSpPr>
          <p:sp>
            <p:nvSpPr>
              <p:cNvPr id="192" name="矩形: 圆角 191"/>
              <p:cNvSpPr/>
              <p:nvPr/>
            </p:nvSpPr>
            <p:spPr>
              <a:xfrm>
                <a:off x="11259548" y="1894072"/>
                <a:ext cx="547858" cy="242401"/>
              </a:xfrm>
              <a:prstGeom prst="roundRect">
                <a:avLst>
                  <a:gd name="adj" fmla="val 33358"/>
                </a:avLst>
              </a:prstGeom>
              <a:noFill/>
              <a:ln>
                <a:solidFill>
                  <a:srgbClr val="BCB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97" name="文本框 196"/>
              <p:cNvSpPr txBox="1"/>
              <p:nvPr/>
            </p:nvSpPr>
            <p:spPr>
              <a:xfrm>
                <a:off x="11210510" y="1890674"/>
                <a:ext cx="69971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BCB3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Expert1</a:t>
                </a:r>
                <a:endPara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3" name="组合 222"/>
            <p:cNvGrpSpPr/>
            <p:nvPr/>
          </p:nvGrpSpPr>
          <p:grpSpPr>
            <a:xfrm>
              <a:off x="10181352" y="1638428"/>
              <a:ext cx="680014" cy="246221"/>
              <a:chOff x="11210511" y="1890674"/>
              <a:chExt cx="680014" cy="246221"/>
            </a:xfrm>
          </p:grpSpPr>
          <p:sp>
            <p:nvSpPr>
              <p:cNvPr id="224" name="矩形: 圆角 223"/>
              <p:cNvSpPr/>
              <p:nvPr/>
            </p:nvSpPr>
            <p:spPr>
              <a:xfrm>
                <a:off x="11259548" y="1894072"/>
                <a:ext cx="547858" cy="242401"/>
              </a:xfrm>
              <a:prstGeom prst="roundRect">
                <a:avLst>
                  <a:gd name="adj" fmla="val 33358"/>
                </a:avLst>
              </a:prstGeom>
              <a:noFill/>
              <a:ln>
                <a:solidFill>
                  <a:srgbClr val="BCB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5" name="文本框 224"/>
              <p:cNvSpPr txBox="1"/>
              <p:nvPr/>
            </p:nvSpPr>
            <p:spPr>
              <a:xfrm>
                <a:off x="11210511" y="1890674"/>
                <a:ext cx="68001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BCB3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Expert2</a:t>
                </a:r>
                <a:endPara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26" name="组合 225"/>
            <p:cNvGrpSpPr/>
            <p:nvPr/>
          </p:nvGrpSpPr>
          <p:grpSpPr>
            <a:xfrm>
              <a:off x="10751136" y="1638428"/>
              <a:ext cx="684302" cy="246221"/>
              <a:chOff x="11210511" y="1890674"/>
              <a:chExt cx="684302" cy="246221"/>
            </a:xfrm>
          </p:grpSpPr>
          <p:sp>
            <p:nvSpPr>
              <p:cNvPr id="227" name="矩形: 圆角 226"/>
              <p:cNvSpPr/>
              <p:nvPr/>
            </p:nvSpPr>
            <p:spPr>
              <a:xfrm>
                <a:off x="11259548" y="1894072"/>
                <a:ext cx="547858" cy="242401"/>
              </a:xfrm>
              <a:prstGeom prst="roundRect">
                <a:avLst>
                  <a:gd name="adj" fmla="val 33358"/>
                </a:avLst>
              </a:prstGeom>
              <a:noFill/>
              <a:ln>
                <a:solidFill>
                  <a:srgbClr val="BCB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8" name="文本框 227"/>
              <p:cNvSpPr txBox="1"/>
              <p:nvPr/>
            </p:nvSpPr>
            <p:spPr>
              <a:xfrm>
                <a:off x="11210511" y="1890674"/>
                <a:ext cx="68430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BCB30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Expert3</a:t>
                </a:r>
                <a:endParaRPr lang="en-US" altLang="zh-CN" sz="1000" dirty="0">
                  <a:solidFill>
                    <a:srgbClr val="BCB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30" name="连接符: 肘形 229"/>
            <p:cNvCxnSpPr>
              <a:stCxn id="235" idx="0"/>
              <a:endCxn id="192" idx="2"/>
            </p:cNvCxnSpPr>
            <p:nvPr/>
          </p:nvCxnSpPr>
          <p:spPr>
            <a:xfrm rot="16200000" flipV="1">
              <a:off x="9886157" y="1925669"/>
              <a:ext cx="215283" cy="13239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3" name="组合 232"/>
            <p:cNvGrpSpPr/>
            <p:nvPr/>
          </p:nvGrpSpPr>
          <p:grpSpPr>
            <a:xfrm>
              <a:off x="9762780" y="2099510"/>
              <a:ext cx="1452282" cy="362412"/>
              <a:chOff x="8202053" y="3344819"/>
              <a:chExt cx="1452282" cy="362412"/>
            </a:xfrm>
          </p:grpSpPr>
          <p:cxnSp>
            <p:nvCxnSpPr>
              <p:cNvPr id="234" name="直接连接符 233"/>
              <p:cNvCxnSpPr/>
              <p:nvPr/>
            </p:nvCxnSpPr>
            <p:spPr>
              <a:xfrm>
                <a:off x="8202053" y="3707231"/>
                <a:ext cx="1452282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矩形 234"/>
              <p:cNvSpPr/>
              <p:nvPr/>
            </p:nvSpPr>
            <p:spPr>
              <a:xfrm>
                <a:off x="8410542" y="3344819"/>
                <a:ext cx="177456" cy="362412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8724307" y="3506400"/>
                <a:ext cx="177456" cy="20082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9036374" y="3646914"/>
                <a:ext cx="177456" cy="6030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9337717" y="3429000"/>
                <a:ext cx="177456" cy="27822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54" name="组合 253"/>
            <p:cNvGrpSpPr/>
            <p:nvPr/>
          </p:nvGrpSpPr>
          <p:grpSpPr>
            <a:xfrm rot="2669451">
              <a:off x="10390791" y="1247613"/>
              <a:ext cx="216000" cy="216000"/>
              <a:chOff x="6047417" y="5336099"/>
              <a:chExt cx="288000" cy="288000"/>
            </a:xfrm>
          </p:grpSpPr>
          <p:sp>
            <p:nvSpPr>
              <p:cNvPr id="255" name="椭圆 254"/>
              <p:cNvSpPr/>
              <p:nvPr/>
            </p:nvSpPr>
            <p:spPr>
              <a:xfrm>
                <a:off x="6047417" y="5336099"/>
                <a:ext cx="288000" cy="288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6" name="直接连接符 255"/>
              <p:cNvCxnSpPr>
                <a:stCxn id="255" idx="2"/>
                <a:endCxn id="255" idx="6"/>
              </p:cNvCxnSpPr>
              <p:nvPr/>
            </p:nvCxnSpPr>
            <p:spPr>
              <a:xfrm>
                <a:off x="6047417" y="5480099"/>
                <a:ext cx="2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/>
              <p:cNvCxnSpPr>
                <a:stCxn id="255" idx="0"/>
                <a:endCxn id="255" idx="4"/>
              </p:cNvCxnSpPr>
              <p:nvPr/>
            </p:nvCxnSpPr>
            <p:spPr>
              <a:xfrm>
                <a:off x="6191417" y="5336099"/>
                <a:ext cx="0" cy="28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8" name="连接符: 肘形 257"/>
            <p:cNvCxnSpPr>
              <a:stCxn id="197" idx="0"/>
              <a:endCxn id="255" idx="5"/>
            </p:cNvCxnSpPr>
            <p:nvPr/>
          </p:nvCxnSpPr>
          <p:spPr>
            <a:xfrm rot="5400000" flipH="1" flipV="1">
              <a:off x="10139710" y="1278387"/>
              <a:ext cx="174819" cy="545264"/>
            </a:xfrm>
            <a:prstGeom prst="bentConnector3">
              <a:avLst>
                <a:gd name="adj1" fmla="val 3077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连接符: 肘形 277"/>
            <p:cNvCxnSpPr>
              <a:stCxn id="235" idx="1"/>
            </p:cNvCxnSpPr>
            <p:nvPr/>
          </p:nvCxnSpPr>
          <p:spPr>
            <a:xfrm rot="10800000" flipH="1">
              <a:off x="9971269" y="1362644"/>
              <a:ext cx="407806" cy="918072"/>
            </a:xfrm>
            <a:prstGeom prst="bentConnector4">
              <a:avLst>
                <a:gd name="adj1" fmla="val -88618"/>
                <a:gd name="adj2" fmla="val 99813"/>
              </a:avLst>
            </a:prstGeom>
            <a:ln w="12700">
              <a:solidFill>
                <a:schemeClr val="bg1">
                  <a:lumMod val="65000"/>
                </a:schemeClr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/>
            <p:cNvCxnSpPr/>
            <p:nvPr/>
          </p:nvCxnSpPr>
          <p:spPr>
            <a:xfrm flipV="1">
              <a:off x="10504580" y="893904"/>
              <a:ext cx="0" cy="3308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0" name="立方体 349"/>
            <p:cNvSpPr/>
            <p:nvPr/>
          </p:nvSpPr>
          <p:spPr>
            <a:xfrm>
              <a:off x="9845744" y="758789"/>
              <a:ext cx="1465793" cy="115547"/>
            </a:xfrm>
            <a:prstGeom prst="cube">
              <a:avLst/>
            </a:prstGeom>
            <a:solidFill>
              <a:srgbClr val="F3FDFF"/>
            </a:solidFill>
            <a:ln>
              <a:solidFill>
                <a:srgbClr val="22A8FA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51" name="组合 350"/>
            <p:cNvGrpSpPr/>
            <p:nvPr/>
          </p:nvGrpSpPr>
          <p:grpSpPr>
            <a:xfrm>
              <a:off x="10648304" y="919658"/>
              <a:ext cx="762000" cy="248751"/>
              <a:chOff x="11099800" y="2613334"/>
              <a:chExt cx="762000" cy="248751"/>
            </a:xfrm>
          </p:grpSpPr>
          <p:sp>
            <p:nvSpPr>
              <p:cNvPr id="352" name="矩形: 圆角 351"/>
              <p:cNvSpPr/>
              <p:nvPr/>
            </p:nvSpPr>
            <p:spPr>
              <a:xfrm>
                <a:off x="11118850" y="2613334"/>
                <a:ext cx="733876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rgbClr val="22A8F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53" name="文本框 352"/>
              <p:cNvSpPr txBox="1"/>
              <p:nvPr/>
            </p:nvSpPr>
            <p:spPr>
              <a:xfrm>
                <a:off x="11099800" y="2615864"/>
                <a:ext cx="7620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rgbClr val="00B0F0"/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Add &amp; LN</a:t>
                </a:r>
                <a:endParaRPr lang="en-US" altLang="zh-CN" sz="1000" dirty="0">
                  <a:solidFill>
                    <a:srgbClr val="00B0F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58" name="连接符: 肘形 357"/>
            <p:cNvCxnSpPr>
              <a:endCxn id="350" idx="5"/>
            </p:cNvCxnSpPr>
            <p:nvPr/>
          </p:nvCxnSpPr>
          <p:spPr>
            <a:xfrm rot="5400000" flipH="1" flipV="1">
              <a:off x="9869934" y="1469824"/>
              <a:ext cx="2109308" cy="773898"/>
            </a:xfrm>
            <a:prstGeom prst="bentConnector4">
              <a:avLst>
                <a:gd name="adj1" fmla="val -163"/>
                <a:gd name="adj2" fmla="val 121720"/>
              </a:avLst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文本框 369"/>
            <p:cNvSpPr txBox="1"/>
            <p:nvPr/>
          </p:nvSpPr>
          <p:spPr>
            <a:xfrm>
              <a:off x="9558349" y="2648349"/>
              <a:ext cx="84133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latin typeface="Comic Sans MS" panose="030F0702030302020204" pitchFamily="66" charset="0"/>
                  <a:cs typeface="Times New Roman" panose="02020603050405020304" pitchFamily="18" charset="0"/>
                </a:rPr>
                <a:t>MoE</a:t>
              </a:r>
              <a:r>
                <a:rPr lang="en-US" altLang="zh-CN" sz="1000" dirty="0">
                  <a:latin typeface="Comic Sans MS" panose="030F0702030302020204" pitchFamily="66" charset="0"/>
                  <a:cs typeface="Times New Roman" panose="02020603050405020304" pitchFamily="18" charset="0"/>
                </a:rPr>
                <a:t> Block</a:t>
              </a:r>
              <a:endParaRPr lang="zh-CN" altLang="en-US" sz="1000" dirty="0"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71" name="直接箭头连接符 370"/>
            <p:cNvCxnSpPr/>
            <p:nvPr/>
          </p:nvCxnSpPr>
          <p:spPr>
            <a:xfrm flipV="1">
              <a:off x="10509061" y="556335"/>
              <a:ext cx="0" cy="1837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文本框 377"/>
            <p:cNvSpPr txBox="1"/>
            <p:nvPr/>
          </p:nvSpPr>
          <p:spPr>
            <a:xfrm>
              <a:off x="10451731" y="433224"/>
              <a:ext cx="116541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Different Tasks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27178" r="39745" b="40020"/>
            <a:stretch>
              <a:fillRect/>
            </a:stretch>
          </p:blipFill>
          <p:spPr>
            <a:xfrm>
              <a:off x="829236" y="3644934"/>
              <a:ext cx="965947" cy="5457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7" name="矩形: 圆角 16"/>
            <p:cNvSpPr/>
            <p:nvPr/>
          </p:nvSpPr>
          <p:spPr>
            <a:xfrm>
              <a:off x="899395" y="4427113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22520" y="4423293"/>
              <a:ext cx="6348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Conv1d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: 圆角 18"/>
            <p:cNvSpPr/>
            <p:nvPr/>
          </p:nvSpPr>
          <p:spPr>
            <a:xfrm>
              <a:off x="893045" y="4733820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30470" y="4730000"/>
              <a:ext cx="3998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BN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893045" y="5037872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066970" y="5034052"/>
              <a:ext cx="53323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ReLU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矩形: 圆角 22"/>
            <p:cNvSpPr/>
            <p:nvPr/>
          </p:nvSpPr>
          <p:spPr>
            <a:xfrm>
              <a:off x="793377" y="4370292"/>
              <a:ext cx="1035424" cy="954739"/>
            </a:xfrm>
            <a:prstGeom prst="roundRect">
              <a:avLst>
                <a:gd name="adj" fmla="val 12557"/>
              </a:avLst>
            </a:prstGeom>
            <a:noFill/>
            <a:ln>
              <a:solidFill>
                <a:schemeClr val="accent2">
                  <a:lumMod val="75000"/>
                </a:schemeClr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452349" y="5359399"/>
              <a:ext cx="654419" cy="246221"/>
              <a:chOff x="6949893" y="4830087"/>
              <a:chExt cx="654419" cy="246221"/>
            </a:xfrm>
          </p:grpSpPr>
          <p:sp>
            <p:nvSpPr>
              <p:cNvPr id="45" name="矩形: 圆角 44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7009518" y="4830087"/>
                <a:ext cx="58134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Linear</a:t>
                </a:r>
                <a:endPara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8" name="直接箭头连接符 57"/>
            <p:cNvCxnSpPr/>
            <p:nvPr/>
          </p:nvCxnSpPr>
          <p:spPr>
            <a:xfrm>
              <a:off x="1311920" y="5394574"/>
              <a:ext cx="0" cy="208434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立方体 447"/>
            <p:cNvSpPr/>
            <p:nvPr/>
          </p:nvSpPr>
          <p:spPr>
            <a:xfrm>
              <a:off x="573399" y="5649415"/>
              <a:ext cx="1465793" cy="115547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9" name="文本框 448"/>
            <p:cNvSpPr txBox="1"/>
            <p:nvPr/>
          </p:nvSpPr>
          <p:spPr>
            <a:xfrm>
              <a:off x="1789501" y="4727157"/>
              <a:ext cx="4051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×N</a:t>
              </a:r>
              <a:endPara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51" name="组合 450"/>
            <p:cNvGrpSpPr/>
            <p:nvPr/>
          </p:nvGrpSpPr>
          <p:grpSpPr>
            <a:xfrm>
              <a:off x="1450110" y="5800913"/>
              <a:ext cx="654419" cy="246221"/>
              <a:chOff x="6949893" y="4830087"/>
              <a:chExt cx="654419" cy="246221"/>
            </a:xfrm>
          </p:grpSpPr>
          <p:sp>
            <p:nvSpPr>
              <p:cNvPr id="454" name="矩形: 圆角 453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55" name="文本框 454"/>
              <p:cNvSpPr txBox="1"/>
              <p:nvPr/>
            </p:nvSpPr>
            <p:spPr>
              <a:xfrm>
                <a:off x="7096928" y="4830087"/>
                <a:ext cx="4131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LN</a:t>
                </a:r>
                <a:endParaRPr lang="en-US" altLang="zh-CN" sz="1000" dirty="0">
                  <a:solidFill>
                    <a:schemeClr val="accent2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56" name="直接箭头连接符 455"/>
            <p:cNvCxnSpPr/>
            <p:nvPr/>
          </p:nvCxnSpPr>
          <p:spPr>
            <a:xfrm>
              <a:off x="1309681" y="5822640"/>
              <a:ext cx="0" cy="208434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6" name="立方体 485"/>
            <p:cNvSpPr/>
            <p:nvPr/>
          </p:nvSpPr>
          <p:spPr>
            <a:xfrm>
              <a:off x="571160" y="6084205"/>
              <a:ext cx="1465793" cy="115547"/>
            </a:xfrm>
            <a:prstGeom prst="cub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87" name="直接箭头连接符 486"/>
            <p:cNvCxnSpPr/>
            <p:nvPr/>
          </p:nvCxnSpPr>
          <p:spPr>
            <a:xfrm>
              <a:off x="1309678" y="6239432"/>
              <a:ext cx="0" cy="158005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箭头连接符 488"/>
            <p:cNvCxnSpPr/>
            <p:nvPr/>
          </p:nvCxnSpPr>
          <p:spPr>
            <a:xfrm>
              <a:off x="1302956" y="4215410"/>
              <a:ext cx="0" cy="137834"/>
            </a:xfrm>
            <a:prstGeom prst="straightConnector1">
              <a:avLst/>
            </a:prstGeom>
            <a:ln w="127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3" name="图片 492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27178" r="39745" b="40020"/>
            <a:stretch>
              <a:fillRect/>
            </a:stretch>
          </p:blipFill>
          <p:spPr>
            <a:xfrm>
              <a:off x="2628137" y="3647278"/>
              <a:ext cx="965947" cy="5457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95" name="矩形: 圆角 494"/>
            <p:cNvSpPr/>
            <p:nvPr/>
          </p:nvSpPr>
          <p:spPr>
            <a:xfrm>
              <a:off x="2692168" y="4320235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97" name="文本框 496"/>
            <p:cNvSpPr txBox="1"/>
            <p:nvPr/>
          </p:nvSpPr>
          <p:spPr>
            <a:xfrm>
              <a:off x="2909421" y="4316415"/>
              <a:ext cx="425448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FFT</a:t>
              </a:r>
              <a:endPara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sp>
          <p:nvSpPr>
            <p:cNvPr id="498" name="矩形: 圆角 497"/>
            <p:cNvSpPr/>
            <p:nvPr/>
          </p:nvSpPr>
          <p:spPr>
            <a:xfrm>
              <a:off x="2692168" y="4692634"/>
              <a:ext cx="846855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499" name="文本框 498"/>
            <p:cNvSpPr txBox="1"/>
            <p:nvPr/>
          </p:nvSpPr>
          <p:spPr>
            <a:xfrm>
              <a:off x="2734610" y="4688814"/>
              <a:ext cx="81541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err="1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Rfft_freq</a:t>
              </a:r>
              <a:endPara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8" name="组合 597"/>
            <p:cNvGrpSpPr/>
            <p:nvPr/>
          </p:nvGrpSpPr>
          <p:grpSpPr>
            <a:xfrm>
              <a:off x="2535246" y="5056022"/>
              <a:ext cx="1200112" cy="925827"/>
              <a:chOff x="2535246" y="4898846"/>
              <a:chExt cx="1200112" cy="925827"/>
            </a:xfrm>
          </p:grpSpPr>
          <p:grpSp>
            <p:nvGrpSpPr>
              <p:cNvPr id="167" name="组合 166"/>
              <p:cNvGrpSpPr/>
              <p:nvPr/>
            </p:nvGrpSpPr>
            <p:grpSpPr>
              <a:xfrm>
                <a:off x="2535246" y="4898846"/>
                <a:ext cx="1200112" cy="925827"/>
                <a:chOff x="2582312" y="5006425"/>
                <a:chExt cx="1200112" cy="925827"/>
              </a:xfrm>
            </p:grpSpPr>
            <p:sp>
              <p:nvSpPr>
                <p:cNvPr id="500" name="椭圆 499"/>
                <p:cNvSpPr>
                  <a:spLocks noChangeAspect="1"/>
                </p:cNvSpPr>
                <p:nvPr/>
              </p:nvSpPr>
              <p:spPr>
                <a:xfrm>
                  <a:off x="3016670" y="5052994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2" name="椭圆 501"/>
                <p:cNvSpPr>
                  <a:spLocks noChangeAspect="1"/>
                </p:cNvSpPr>
                <p:nvPr/>
              </p:nvSpPr>
              <p:spPr>
                <a:xfrm>
                  <a:off x="3433732" y="5231850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3" name="椭圆 502"/>
                <p:cNvSpPr>
                  <a:spLocks noChangeAspect="1"/>
                </p:cNvSpPr>
                <p:nvPr/>
              </p:nvSpPr>
              <p:spPr>
                <a:xfrm>
                  <a:off x="2582312" y="5231850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5" name="椭圆 504"/>
                <p:cNvSpPr>
                  <a:spLocks noChangeAspect="1"/>
                </p:cNvSpPr>
                <p:nvPr/>
              </p:nvSpPr>
              <p:spPr>
                <a:xfrm>
                  <a:off x="3230700" y="5605998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7" name="椭圆 506"/>
                <p:cNvSpPr>
                  <a:spLocks noChangeAspect="1"/>
                </p:cNvSpPr>
                <p:nvPr/>
              </p:nvSpPr>
              <p:spPr>
                <a:xfrm>
                  <a:off x="2816638" y="5606558"/>
                  <a:ext cx="288000" cy="288000"/>
                </a:xfrm>
                <a:prstGeom prst="ellipse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8" name="文本框 507"/>
                <p:cNvSpPr txBox="1"/>
                <p:nvPr/>
              </p:nvSpPr>
              <p:spPr>
                <a:xfrm>
                  <a:off x="3007706" y="5006425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α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4" name="文本框 523"/>
                <p:cNvSpPr txBox="1"/>
                <p:nvPr/>
              </p:nvSpPr>
              <p:spPr>
                <a:xfrm>
                  <a:off x="2586193" y="5195545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β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5" name="文本框 524"/>
                <p:cNvSpPr txBox="1"/>
                <p:nvPr/>
              </p:nvSpPr>
              <p:spPr>
                <a:xfrm>
                  <a:off x="3442139" y="5175493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γ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6" name="文本框 525"/>
                <p:cNvSpPr txBox="1"/>
                <p:nvPr/>
              </p:nvSpPr>
              <p:spPr>
                <a:xfrm>
                  <a:off x="2806943" y="5593698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δ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7" name="文本框 526"/>
                <p:cNvSpPr txBox="1"/>
                <p:nvPr/>
              </p:nvSpPr>
              <p:spPr>
                <a:xfrm>
                  <a:off x="3223249" y="5585584"/>
                  <a:ext cx="3402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CN" sz="1600" dirty="0">
                      <a:solidFill>
                        <a:schemeClr val="accent6">
                          <a:lumMod val="75000"/>
                        </a:schemeClr>
                      </a:solidFill>
                      <a:latin typeface="Comic Sans MS" panose="030F0702030302020204" pitchFamily="66" charset="0"/>
                      <a:cs typeface="Times New Roman" panose="02020603050405020304" pitchFamily="18" charset="0"/>
                    </a:rPr>
                    <a:t>θ</a:t>
                  </a:r>
                  <a:endParaRPr lang="en-US" altLang="zh-CN" sz="16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37" name="直接连接符 536"/>
                <p:cNvCxnSpPr>
                  <a:stCxn id="500" idx="6"/>
                  <a:endCxn id="502" idx="1"/>
                </p:cNvCxnSpPr>
                <p:nvPr/>
              </p:nvCxnSpPr>
              <p:spPr>
                <a:xfrm>
                  <a:off x="3304670" y="5196994"/>
                  <a:ext cx="171239" cy="77033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直接连接符 552"/>
                <p:cNvCxnSpPr>
                  <a:stCxn id="503" idx="7"/>
                  <a:endCxn id="500" idx="2"/>
                </p:cNvCxnSpPr>
                <p:nvPr/>
              </p:nvCxnSpPr>
              <p:spPr>
                <a:xfrm flipV="1">
                  <a:off x="2828135" y="5196994"/>
                  <a:ext cx="188535" cy="77033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/>
                <p:cNvCxnSpPr>
                  <a:stCxn id="503" idx="4"/>
                  <a:endCxn id="507" idx="2"/>
                </p:cNvCxnSpPr>
                <p:nvPr/>
              </p:nvCxnSpPr>
              <p:spPr>
                <a:xfrm>
                  <a:off x="2726312" y="5519850"/>
                  <a:ext cx="90326" cy="230708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直接连接符 112"/>
                <p:cNvCxnSpPr>
                  <a:stCxn id="502" idx="4"/>
                  <a:endCxn id="505" idx="6"/>
                </p:cNvCxnSpPr>
                <p:nvPr/>
              </p:nvCxnSpPr>
              <p:spPr>
                <a:xfrm flipH="1">
                  <a:off x="3518700" y="5519850"/>
                  <a:ext cx="59032" cy="230148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>
                  <a:stCxn id="507" idx="6"/>
                  <a:endCxn id="505" idx="2"/>
                </p:cNvCxnSpPr>
                <p:nvPr/>
              </p:nvCxnSpPr>
              <p:spPr>
                <a:xfrm flipV="1">
                  <a:off x="3104638" y="5749998"/>
                  <a:ext cx="126062" cy="560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9" name="文本框 168"/>
              <p:cNvSpPr txBox="1"/>
              <p:nvPr/>
            </p:nvSpPr>
            <p:spPr>
              <a:xfrm>
                <a:off x="2797219" y="5240796"/>
                <a:ext cx="633879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i="1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Energy</a:t>
                </a:r>
                <a:endParaRPr lang="en-US" altLang="zh-CN" sz="1000" i="1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87" name="组合 186"/>
            <p:cNvGrpSpPr/>
            <p:nvPr/>
          </p:nvGrpSpPr>
          <p:grpSpPr>
            <a:xfrm>
              <a:off x="3227855" y="6161019"/>
              <a:ext cx="654419" cy="246221"/>
              <a:chOff x="6949893" y="4830087"/>
              <a:chExt cx="654419" cy="246221"/>
            </a:xfrm>
          </p:grpSpPr>
          <p:sp>
            <p:nvSpPr>
              <p:cNvPr id="579" name="矩形: 圆角 578"/>
              <p:cNvSpPr/>
              <p:nvPr/>
            </p:nvSpPr>
            <p:spPr>
              <a:xfrm>
                <a:off x="6949893" y="4833907"/>
                <a:ext cx="654419" cy="242401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589" name="文本框 588"/>
              <p:cNvSpPr txBox="1"/>
              <p:nvPr/>
            </p:nvSpPr>
            <p:spPr>
              <a:xfrm>
                <a:off x="7096928" y="4830087"/>
                <a:ext cx="413194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00" dirty="0">
                    <a:solidFill>
                      <a:schemeClr val="accent6">
                        <a:lumMod val="75000"/>
                      </a:schemeClr>
                    </a:solidFill>
                    <a:latin typeface="Comic Sans MS" panose="030F0702030302020204" pitchFamily="66" charset="0"/>
                    <a:cs typeface="Times New Roman" panose="02020603050405020304" pitchFamily="18" charset="0"/>
                  </a:rPr>
                  <a:t>LN</a:t>
                </a:r>
                <a:endParaRPr lang="en-US" altLang="zh-CN" sz="1000" dirty="0">
                  <a:solidFill>
                    <a:schemeClr val="accent6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1" name="立方体 590"/>
            <p:cNvSpPr/>
            <p:nvPr/>
          </p:nvSpPr>
          <p:spPr>
            <a:xfrm>
              <a:off x="2348905" y="6007720"/>
              <a:ext cx="1465793" cy="115547"/>
            </a:xfrm>
            <a:prstGeom prst="cub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92" name="直接箭头连接符 591"/>
            <p:cNvCxnSpPr/>
            <p:nvPr/>
          </p:nvCxnSpPr>
          <p:spPr>
            <a:xfrm>
              <a:off x="3114319" y="6205812"/>
              <a:ext cx="0" cy="158005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接箭头连接符 593"/>
            <p:cNvCxnSpPr/>
            <p:nvPr/>
          </p:nvCxnSpPr>
          <p:spPr>
            <a:xfrm>
              <a:off x="3115269" y="4195731"/>
              <a:ext cx="0" cy="12088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直接箭头连接符 601"/>
            <p:cNvCxnSpPr/>
            <p:nvPr/>
          </p:nvCxnSpPr>
          <p:spPr>
            <a:xfrm>
              <a:off x="3115269" y="4562437"/>
              <a:ext cx="0" cy="120882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直接箭头连接符 602"/>
            <p:cNvCxnSpPr/>
            <p:nvPr/>
          </p:nvCxnSpPr>
          <p:spPr>
            <a:xfrm>
              <a:off x="3114319" y="5834487"/>
              <a:ext cx="0" cy="158005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直接箭头连接符 622"/>
            <p:cNvCxnSpPr/>
            <p:nvPr/>
          </p:nvCxnSpPr>
          <p:spPr>
            <a:xfrm>
              <a:off x="3114319" y="4934780"/>
              <a:ext cx="0" cy="158005"/>
            </a:xfrm>
            <a:prstGeom prst="straightConnector1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矩形: 圆角 433"/>
          <p:cNvSpPr/>
          <p:nvPr/>
        </p:nvSpPr>
        <p:spPr>
          <a:xfrm>
            <a:off x="2213915" y="4500586"/>
            <a:ext cx="1521014" cy="795482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矩形 283"/>
          <p:cNvSpPr/>
          <p:nvPr/>
        </p:nvSpPr>
        <p:spPr>
          <a:xfrm>
            <a:off x="2002648" y="3293228"/>
            <a:ext cx="177456" cy="40533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5" name="矩形 284"/>
          <p:cNvSpPr/>
          <p:nvPr/>
        </p:nvSpPr>
        <p:spPr>
          <a:xfrm>
            <a:off x="3921375" y="3183001"/>
            <a:ext cx="177455" cy="6668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1932832" y="657350"/>
            <a:ext cx="1080034" cy="1096386"/>
            <a:chOff x="5765298" y="3550278"/>
            <a:chExt cx="1339878" cy="1363847"/>
          </a:xfrm>
        </p:grpSpPr>
        <p:sp>
          <p:nvSpPr>
            <p:cNvPr id="166" name="矩形 165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3" name="图片 2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图片 4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图片 5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图片 6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图片 7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图片 8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图片 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图片 10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图片 11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175" name="直接连接符 174"/>
          <p:cNvCxnSpPr/>
          <p:nvPr/>
        </p:nvCxnSpPr>
        <p:spPr>
          <a:xfrm>
            <a:off x="2681012" y="1397733"/>
            <a:ext cx="1049099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/>
          <p:cNvSpPr/>
          <p:nvPr/>
        </p:nvSpPr>
        <p:spPr>
          <a:xfrm>
            <a:off x="7413811" y="-107577"/>
            <a:ext cx="5257799" cy="1244669"/>
          </a:xfrm>
          <a:custGeom>
            <a:avLst/>
            <a:gdLst>
              <a:gd name="connsiteX0" fmla="*/ 0 w 5257799"/>
              <a:gd name="connsiteY0" fmla="*/ 151791 h 1465729"/>
              <a:gd name="connsiteX1" fmla="*/ 151791 w 5257799"/>
              <a:gd name="connsiteY1" fmla="*/ 0 h 1465729"/>
              <a:gd name="connsiteX2" fmla="*/ 5106008 w 5257799"/>
              <a:gd name="connsiteY2" fmla="*/ 0 h 1465729"/>
              <a:gd name="connsiteX3" fmla="*/ 5257799 w 5257799"/>
              <a:gd name="connsiteY3" fmla="*/ 151791 h 1465729"/>
              <a:gd name="connsiteX4" fmla="*/ 5257799 w 5257799"/>
              <a:gd name="connsiteY4" fmla="*/ 1313938 h 1465729"/>
              <a:gd name="connsiteX5" fmla="*/ 5106008 w 5257799"/>
              <a:gd name="connsiteY5" fmla="*/ 1465729 h 1465729"/>
              <a:gd name="connsiteX6" fmla="*/ 151791 w 5257799"/>
              <a:gd name="connsiteY6" fmla="*/ 1465729 h 1465729"/>
              <a:gd name="connsiteX7" fmla="*/ 0 w 5257799"/>
              <a:gd name="connsiteY7" fmla="*/ 1313938 h 1465729"/>
              <a:gd name="connsiteX8" fmla="*/ 0 w 5257799"/>
              <a:gd name="connsiteY8" fmla="*/ 151791 h 1465729"/>
              <a:gd name="connsiteX0-1" fmla="*/ 0 w 5257799"/>
              <a:gd name="connsiteY0-2" fmla="*/ 158515 h 1472453"/>
              <a:gd name="connsiteX1-3" fmla="*/ 151791 w 5257799"/>
              <a:gd name="connsiteY1-4" fmla="*/ 6724 h 1472453"/>
              <a:gd name="connsiteX2-5" fmla="*/ 1676400 w 5257799"/>
              <a:gd name="connsiteY2-6" fmla="*/ 0 h 1472453"/>
              <a:gd name="connsiteX3-7" fmla="*/ 5106008 w 5257799"/>
              <a:gd name="connsiteY3-8" fmla="*/ 6724 h 1472453"/>
              <a:gd name="connsiteX4-9" fmla="*/ 5257799 w 5257799"/>
              <a:gd name="connsiteY4-10" fmla="*/ 158515 h 1472453"/>
              <a:gd name="connsiteX5-11" fmla="*/ 5257799 w 5257799"/>
              <a:gd name="connsiteY5-12" fmla="*/ 1320662 h 1472453"/>
              <a:gd name="connsiteX6-13" fmla="*/ 5106008 w 5257799"/>
              <a:gd name="connsiteY6-14" fmla="*/ 1472453 h 1472453"/>
              <a:gd name="connsiteX7-15" fmla="*/ 151791 w 5257799"/>
              <a:gd name="connsiteY7-16" fmla="*/ 1472453 h 1472453"/>
              <a:gd name="connsiteX8-17" fmla="*/ 0 w 5257799"/>
              <a:gd name="connsiteY8-18" fmla="*/ 1320662 h 1472453"/>
              <a:gd name="connsiteX9" fmla="*/ 0 w 5257799"/>
              <a:gd name="connsiteY9" fmla="*/ 158515 h 1472453"/>
              <a:gd name="connsiteX0-19" fmla="*/ 0 w 5257799"/>
              <a:gd name="connsiteY0-20" fmla="*/ 158515 h 1472453"/>
              <a:gd name="connsiteX1-21" fmla="*/ 151791 w 5257799"/>
              <a:gd name="connsiteY1-22" fmla="*/ 6724 h 1472453"/>
              <a:gd name="connsiteX2-23" fmla="*/ 1676400 w 5257799"/>
              <a:gd name="connsiteY2-24" fmla="*/ 0 h 1472453"/>
              <a:gd name="connsiteX3-25" fmla="*/ 3639671 w 5257799"/>
              <a:gd name="connsiteY3-26" fmla="*/ 6724 h 1472453"/>
              <a:gd name="connsiteX4-27" fmla="*/ 5106008 w 5257799"/>
              <a:gd name="connsiteY4-28" fmla="*/ 6724 h 1472453"/>
              <a:gd name="connsiteX5-29" fmla="*/ 5257799 w 5257799"/>
              <a:gd name="connsiteY5-30" fmla="*/ 158515 h 1472453"/>
              <a:gd name="connsiteX6-31" fmla="*/ 5257799 w 5257799"/>
              <a:gd name="connsiteY6-32" fmla="*/ 1320662 h 1472453"/>
              <a:gd name="connsiteX7-33" fmla="*/ 5106008 w 5257799"/>
              <a:gd name="connsiteY7-34" fmla="*/ 1472453 h 1472453"/>
              <a:gd name="connsiteX8-35" fmla="*/ 151791 w 5257799"/>
              <a:gd name="connsiteY8-36" fmla="*/ 1472453 h 1472453"/>
              <a:gd name="connsiteX9-37" fmla="*/ 0 w 5257799"/>
              <a:gd name="connsiteY9-38" fmla="*/ 1320662 h 1472453"/>
              <a:gd name="connsiteX10" fmla="*/ 0 w 5257799"/>
              <a:gd name="connsiteY10" fmla="*/ 158515 h 1472453"/>
              <a:gd name="connsiteX0-39" fmla="*/ 3639671 w 5257799"/>
              <a:gd name="connsiteY0-40" fmla="*/ 6724 h 1472453"/>
              <a:gd name="connsiteX1-41" fmla="*/ 5106008 w 5257799"/>
              <a:gd name="connsiteY1-42" fmla="*/ 6724 h 1472453"/>
              <a:gd name="connsiteX2-43" fmla="*/ 5257799 w 5257799"/>
              <a:gd name="connsiteY2-44" fmla="*/ 158515 h 1472453"/>
              <a:gd name="connsiteX3-45" fmla="*/ 5257799 w 5257799"/>
              <a:gd name="connsiteY3-46" fmla="*/ 1320662 h 1472453"/>
              <a:gd name="connsiteX4-47" fmla="*/ 5106008 w 5257799"/>
              <a:gd name="connsiteY4-48" fmla="*/ 1472453 h 1472453"/>
              <a:gd name="connsiteX5-49" fmla="*/ 151791 w 5257799"/>
              <a:gd name="connsiteY5-50" fmla="*/ 1472453 h 1472453"/>
              <a:gd name="connsiteX6-51" fmla="*/ 0 w 5257799"/>
              <a:gd name="connsiteY6-52" fmla="*/ 1320662 h 1472453"/>
              <a:gd name="connsiteX7-53" fmla="*/ 0 w 5257799"/>
              <a:gd name="connsiteY7-54" fmla="*/ 158515 h 1472453"/>
              <a:gd name="connsiteX8-55" fmla="*/ 151791 w 5257799"/>
              <a:gd name="connsiteY8-56" fmla="*/ 6724 h 1472453"/>
              <a:gd name="connsiteX9-57" fmla="*/ 1676400 w 5257799"/>
              <a:gd name="connsiteY9-58" fmla="*/ 0 h 1472453"/>
              <a:gd name="connsiteX10-59" fmla="*/ 3731111 w 5257799"/>
              <a:gd name="connsiteY10-60" fmla="*/ 98164 h 1472453"/>
              <a:gd name="connsiteX0-61" fmla="*/ 3639671 w 5257799"/>
              <a:gd name="connsiteY0-62" fmla="*/ 6724 h 1472453"/>
              <a:gd name="connsiteX1-63" fmla="*/ 5106008 w 5257799"/>
              <a:gd name="connsiteY1-64" fmla="*/ 6724 h 1472453"/>
              <a:gd name="connsiteX2-65" fmla="*/ 5257799 w 5257799"/>
              <a:gd name="connsiteY2-66" fmla="*/ 158515 h 1472453"/>
              <a:gd name="connsiteX3-67" fmla="*/ 5257799 w 5257799"/>
              <a:gd name="connsiteY3-68" fmla="*/ 1320662 h 1472453"/>
              <a:gd name="connsiteX4-69" fmla="*/ 5106008 w 5257799"/>
              <a:gd name="connsiteY4-70" fmla="*/ 1472453 h 1472453"/>
              <a:gd name="connsiteX5-71" fmla="*/ 151791 w 5257799"/>
              <a:gd name="connsiteY5-72" fmla="*/ 1472453 h 1472453"/>
              <a:gd name="connsiteX6-73" fmla="*/ 0 w 5257799"/>
              <a:gd name="connsiteY6-74" fmla="*/ 1320662 h 1472453"/>
              <a:gd name="connsiteX7-75" fmla="*/ 0 w 5257799"/>
              <a:gd name="connsiteY7-76" fmla="*/ 158515 h 1472453"/>
              <a:gd name="connsiteX8-77" fmla="*/ 151791 w 5257799"/>
              <a:gd name="connsiteY8-78" fmla="*/ 6724 h 1472453"/>
              <a:gd name="connsiteX9-79" fmla="*/ 1676400 w 5257799"/>
              <a:gd name="connsiteY9-80" fmla="*/ 0 h 14724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1472453">
                <a:moveTo>
                  <a:pt x="3639671" y="6724"/>
                </a:moveTo>
                <a:lnTo>
                  <a:pt x="5106008" y="6724"/>
                </a:lnTo>
                <a:cubicBezTo>
                  <a:pt x="5189840" y="6724"/>
                  <a:pt x="5257799" y="74683"/>
                  <a:pt x="5257799" y="158515"/>
                </a:cubicBezTo>
                <a:lnTo>
                  <a:pt x="5257799" y="1320662"/>
                </a:lnTo>
                <a:cubicBezTo>
                  <a:pt x="5257799" y="1404494"/>
                  <a:pt x="5189840" y="1472453"/>
                  <a:pt x="5106008" y="1472453"/>
                </a:cubicBezTo>
                <a:lnTo>
                  <a:pt x="151791" y="1472453"/>
                </a:lnTo>
                <a:cubicBezTo>
                  <a:pt x="67959" y="1472453"/>
                  <a:pt x="0" y="1404494"/>
                  <a:pt x="0" y="1320662"/>
                </a:cubicBezTo>
                <a:lnTo>
                  <a:pt x="0" y="158515"/>
                </a:lnTo>
                <a:cubicBezTo>
                  <a:pt x="0" y="74683"/>
                  <a:pt x="67959" y="6724"/>
                  <a:pt x="151791" y="6724"/>
                </a:cubicBezTo>
                <a:lnTo>
                  <a:pt x="167640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5345" y="-26904"/>
            <a:ext cx="1728910" cy="1008531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8430" y="-26905"/>
            <a:ext cx="1728910" cy="1008531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501" y="-26903"/>
            <a:ext cx="1728910" cy="1008531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9313823" y="-283840"/>
            <a:ext cx="1539688" cy="348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EEG Data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809296" y="767264"/>
            <a:ext cx="5487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2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0202588" y="921153"/>
            <a:ext cx="16858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Contains 84 channels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7413811" y="1371589"/>
            <a:ext cx="5257799" cy="1241990"/>
          </a:xfrm>
          <a:custGeom>
            <a:avLst/>
            <a:gdLst>
              <a:gd name="connsiteX0" fmla="*/ 0 w 5257799"/>
              <a:gd name="connsiteY0" fmla="*/ 151791 h 1465729"/>
              <a:gd name="connsiteX1" fmla="*/ 151791 w 5257799"/>
              <a:gd name="connsiteY1" fmla="*/ 0 h 1465729"/>
              <a:gd name="connsiteX2" fmla="*/ 5106008 w 5257799"/>
              <a:gd name="connsiteY2" fmla="*/ 0 h 1465729"/>
              <a:gd name="connsiteX3" fmla="*/ 5257799 w 5257799"/>
              <a:gd name="connsiteY3" fmla="*/ 151791 h 1465729"/>
              <a:gd name="connsiteX4" fmla="*/ 5257799 w 5257799"/>
              <a:gd name="connsiteY4" fmla="*/ 1313938 h 1465729"/>
              <a:gd name="connsiteX5" fmla="*/ 5106008 w 5257799"/>
              <a:gd name="connsiteY5" fmla="*/ 1465729 h 1465729"/>
              <a:gd name="connsiteX6" fmla="*/ 151791 w 5257799"/>
              <a:gd name="connsiteY6" fmla="*/ 1465729 h 1465729"/>
              <a:gd name="connsiteX7" fmla="*/ 0 w 5257799"/>
              <a:gd name="connsiteY7" fmla="*/ 1313938 h 1465729"/>
              <a:gd name="connsiteX8" fmla="*/ 0 w 5257799"/>
              <a:gd name="connsiteY8" fmla="*/ 151791 h 1465729"/>
              <a:gd name="connsiteX0-1" fmla="*/ 0 w 5257799"/>
              <a:gd name="connsiteY0-2" fmla="*/ 151791 h 1465729"/>
              <a:gd name="connsiteX1-3" fmla="*/ 151791 w 5257799"/>
              <a:gd name="connsiteY1-4" fmla="*/ 0 h 1465729"/>
              <a:gd name="connsiteX2-5" fmla="*/ 1454524 w 5257799"/>
              <a:gd name="connsiteY2-6" fmla="*/ 7 h 1465729"/>
              <a:gd name="connsiteX3-7" fmla="*/ 5106008 w 5257799"/>
              <a:gd name="connsiteY3-8" fmla="*/ 0 h 1465729"/>
              <a:gd name="connsiteX4-9" fmla="*/ 5257799 w 5257799"/>
              <a:gd name="connsiteY4-10" fmla="*/ 151791 h 1465729"/>
              <a:gd name="connsiteX5-11" fmla="*/ 5257799 w 5257799"/>
              <a:gd name="connsiteY5-12" fmla="*/ 1313938 h 1465729"/>
              <a:gd name="connsiteX6-13" fmla="*/ 5106008 w 5257799"/>
              <a:gd name="connsiteY6-14" fmla="*/ 1465729 h 1465729"/>
              <a:gd name="connsiteX7-15" fmla="*/ 151791 w 5257799"/>
              <a:gd name="connsiteY7-16" fmla="*/ 1465729 h 1465729"/>
              <a:gd name="connsiteX8-17" fmla="*/ 0 w 5257799"/>
              <a:gd name="connsiteY8-18" fmla="*/ 1313938 h 1465729"/>
              <a:gd name="connsiteX9" fmla="*/ 0 w 5257799"/>
              <a:gd name="connsiteY9" fmla="*/ 151791 h 1465729"/>
              <a:gd name="connsiteX0-19" fmla="*/ 0 w 5257799"/>
              <a:gd name="connsiteY0-20" fmla="*/ 151791 h 1465729"/>
              <a:gd name="connsiteX1-21" fmla="*/ 151791 w 5257799"/>
              <a:gd name="connsiteY1-22" fmla="*/ 0 h 1465729"/>
              <a:gd name="connsiteX2-23" fmla="*/ 1454524 w 5257799"/>
              <a:gd name="connsiteY2-24" fmla="*/ 7 h 1465729"/>
              <a:gd name="connsiteX3-25" fmla="*/ 3760695 w 5257799"/>
              <a:gd name="connsiteY3-26" fmla="*/ 7 h 1465729"/>
              <a:gd name="connsiteX4-27" fmla="*/ 5106008 w 5257799"/>
              <a:gd name="connsiteY4-28" fmla="*/ 0 h 1465729"/>
              <a:gd name="connsiteX5-29" fmla="*/ 5257799 w 5257799"/>
              <a:gd name="connsiteY5-30" fmla="*/ 151791 h 1465729"/>
              <a:gd name="connsiteX6-31" fmla="*/ 5257799 w 5257799"/>
              <a:gd name="connsiteY6-32" fmla="*/ 1313938 h 1465729"/>
              <a:gd name="connsiteX7-33" fmla="*/ 5106008 w 5257799"/>
              <a:gd name="connsiteY7-34" fmla="*/ 1465729 h 1465729"/>
              <a:gd name="connsiteX8-35" fmla="*/ 151791 w 5257799"/>
              <a:gd name="connsiteY8-36" fmla="*/ 1465729 h 1465729"/>
              <a:gd name="connsiteX9-37" fmla="*/ 0 w 5257799"/>
              <a:gd name="connsiteY9-38" fmla="*/ 1313938 h 1465729"/>
              <a:gd name="connsiteX10" fmla="*/ 0 w 5257799"/>
              <a:gd name="connsiteY10" fmla="*/ 151791 h 1465729"/>
              <a:gd name="connsiteX0-39" fmla="*/ 3760695 w 5257799"/>
              <a:gd name="connsiteY0-40" fmla="*/ 7 h 1465729"/>
              <a:gd name="connsiteX1-41" fmla="*/ 5106008 w 5257799"/>
              <a:gd name="connsiteY1-42" fmla="*/ 0 h 1465729"/>
              <a:gd name="connsiteX2-43" fmla="*/ 5257799 w 5257799"/>
              <a:gd name="connsiteY2-44" fmla="*/ 151791 h 1465729"/>
              <a:gd name="connsiteX3-45" fmla="*/ 5257799 w 5257799"/>
              <a:gd name="connsiteY3-46" fmla="*/ 1313938 h 1465729"/>
              <a:gd name="connsiteX4-47" fmla="*/ 5106008 w 5257799"/>
              <a:gd name="connsiteY4-48" fmla="*/ 1465729 h 1465729"/>
              <a:gd name="connsiteX5-49" fmla="*/ 151791 w 5257799"/>
              <a:gd name="connsiteY5-50" fmla="*/ 1465729 h 1465729"/>
              <a:gd name="connsiteX6-51" fmla="*/ 0 w 5257799"/>
              <a:gd name="connsiteY6-52" fmla="*/ 1313938 h 1465729"/>
              <a:gd name="connsiteX7-53" fmla="*/ 0 w 5257799"/>
              <a:gd name="connsiteY7-54" fmla="*/ 151791 h 1465729"/>
              <a:gd name="connsiteX8-55" fmla="*/ 151791 w 5257799"/>
              <a:gd name="connsiteY8-56" fmla="*/ 0 h 1465729"/>
              <a:gd name="connsiteX9-57" fmla="*/ 1454524 w 5257799"/>
              <a:gd name="connsiteY9-58" fmla="*/ 7 h 1465729"/>
              <a:gd name="connsiteX10-59" fmla="*/ 3852135 w 5257799"/>
              <a:gd name="connsiteY10-60" fmla="*/ 91447 h 1465729"/>
              <a:gd name="connsiteX0-61" fmla="*/ 3760695 w 5257799"/>
              <a:gd name="connsiteY0-62" fmla="*/ 7 h 1465729"/>
              <a:gd name="connsiteX1-63" fmla="*/ 5106008 w 5257799"/>
              <a:gd name="connsiteY1-64" fmla="*/ 0 h 1465729"/>
              <a:gd name="connsiteX2-65" fmla="*/ 5257799 w 5257799"/>
              <a:gd name="connsiteY2-66" fmla="*/ 151791 h 1465729"/>
              <a:gd name="connsiteX3-67" fmla="*/ 5257799 w 5257799"/>
              <a:gd name="connsiteY3-68" fmla="*/ 1313938 h 1465729"/>
              <a:gd name="connsiteX4-69" fmla="*/ 5106008 w 5257799"/>
              <a:gd name="connsiteY4-70" fmla="*/ 1465729 h 1465729"/>
              <a:gd name="connsiteX5-71" fmla="*/ 151791 w 5257799"/>
              <a:gd name="connsiteY5-72" fmla="*/ 1465729 h 1465729"/>
              <a:gd name="connsiteX6-73" fmla="*/ 0 w 5257799"/>
              <a:gd name="connsiteY6-74" fmla="*/ 1313938 h 1465729"/>
              <a:gd name="connsiteX7-75" fmla="*/ 0 w 5257799"/>
              <a:gd name="connsiteY7-76" fmla="*/ 151791 h 1465729"/>
              <a:gd name="connsiteX8-77" fmla="*/ 151791 w 5257799"/>
              <a:gd name="connsiteY8-78" fmla="*/ 0 h 1465729"/>
              <a:gd name="connsiteX9-79" fmla="*/ 1454524 w 5257799"/>
              <a:gd name="connsiteY9-80" fmla="*/ 7 h 146572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1465729">
                <a:moveTo>
                  <a:pt x="3760695" y="7"/>
                </a:moveTo>
                <a:lnTo>
                  <a:pt x="5106008" y="0"/>
                </a:lnTo>
                <a:cubicBezTo>
                  <a:pt x="5189840" y="0"/>
                  <a:pt x="5257799" y="67959"/>
                  <a:pt x="5257799" y="151791"/>
                </a:cubicBezTo>
                <a:lnTo>
                  <a:pt x="5257799" y="1313938"/>
                </a:lnTo>
                <a:cubicBezTo>
                  <a:pt x="5257799" y="1397770"/>
                  <a:pt x="5189840" y="1465729"/>
                  <a:pt x="5106008" y="1465729"/>
                </a:cubicBezTo>
                <a:lnTo>
                  <a:pt x="151791" y="1465729"/>
                </a:lnTo>
                <a:cubicBezTo>
                  <a:pt x="67959" y="1465729"/>
                  <a:pt x="0" y="1397770"/>
                  <a:pt x="0" y="1313938"/>
                </a:cubicBezTo>
                <a:lnTo>
                  <a:pt x="0" y="151791"/>
                </a:lnTo>
                <a:cubicBezTo>
                  <a:pt x="0" y="67959"/>
                  <a:pt x="67959" y="0"/>
                  <a:pt x="151791" y="0"/>
                </a:cubicBezTo>
                <a:lnTo>
                  <a:pt x="1454524" y="7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058326" y="1181877"/>
            <a:ext cx="20511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Data augmentation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7695983" y="2394659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Add Gaussian Noise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11028466" y="1353654"/>
            <a:ext cx="152161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9537994" y="2394659"/>
            <a:ext cx="1209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Channel Dropout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160132" y="2394659"/>
            <a:ext cx="1429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Random Time Shift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316" y="1499383"/>
            <a:ext cx="1713093" cy="950856"/>
          </a:xfrm>
          <a:prstGeom prst="rect">
            <a:avLst/>
          </a:prstGeom>
        </p:spPr>
      </p:pic>
      <p:pic>
        <p:nvPicPr>
          <p:cNvPr id="72" name="图片 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270" y="1501211"/>
            <a:ext cx="1701998" cy="946037"/>
          </a:xfrm>
          <a:prstGeom prst="rect">
            <a:avLst/>
          </a:prstGeom>
        </p:spPr>
      </p:pic>
      <p:pic>
        <p:nvPicPr>
          <p:cNvPr id="74" name="图片 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767" y="1501838"/>
            <a:ext cx="1709417" cy="950160"/>
          </a:xfrm>
          <a:prstGeom prst="rect">
            <a:avLst/>
          </a:prstGeom>
        </p:spPr>
      </p:pic>
      <p:cxnSp>
        <p:nvCxnSpPr>
          <p:cNvPr id="76" name="直接连接符 75"/>
          <p:cNvCxnSpPr/>
          <p:nvPr/>
        </p:nvCxnSpPr>
        <p:spPr>
          <a:xfrm>
            <a:off x="1914780" y="496732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2306508" y="338357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Path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319312" y="-26905"/>
            <a:ext cx="4510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Heterogeneous Feature Projection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3335344" y="492246"/>
            <a:ext cx="446008" cy="224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: 圆角 88"/>
          <p:cNvSpPr/>
          <p:nvPr/>
        </p:nvSpPr>
        <p:spPr>
          <a:xfrm>
            <a:off x="3826703" y="325212"/>
            <a:ext cx="1958797" cy="2477283"/>
          </a:xfrm>
          <a:prstGeom prst="roundRect">
            <a:avLst>
              <a:gd name="adj" fmla="val 10356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: 圆角 89"/>
          <p:cNvSpPr/>
          <p:nvPr/>
        </p:nvSpPr>
        <p:spPr>
          <a:xfrm>
            <a:off x="5819386" y="325213"/>
            <a:ext cx="1269607" cy="2477282"/>
          </a:xfrm>
          <a:prstGeom prst="roundRect">
            <a:avLst>
              <a:gd name="adj" fmla="val 10356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: 圆角 90"/>
          <p:cNvSpPr/>
          <p:nvPr/>
        </p:nvSpPr>
        <p:spPr>
          <a:xfrm>
            <a:off x="1830099" y="325211"/>
            <a:ext cx="1958797" cy="2477284"/>
          </a:xfrm>
          <a:prstGeom prst="roundRect">
            <a:avLst>
              <a:gd name="adj" fmla="val 10356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直接连接符 91"/>
          <p:cNvCxnSpPr/>
          <p:nvPr/>
        </p:nvCxnSpPr>
        <p:spPr>
          <a:xfrm>
            <a:off x="3889858" y="496594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4084153" y="338356"/>
            <a:ext cx="164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Frequence Path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5471615" y="498975"/>
            <a:ext cx="27130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5955674" y="338356"/>
            <a:ext cx="1209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Raw Path</a:t>
            </a:r>
            <a:endParaRPr lang="zh-CN" altLang="en-US" sz="1400" dirty="0">
              <a:solidFill>
                <a:schemeClr val="accent5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5879395" y="498594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6819234" y="498594"/>
            <a:ext cx="12707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2" name="组合 211"/>
          <p:cNvGrpSpPr/>
          <p:nvPr/>
        </p:nvGrpSpPr>
        <p:grpSpPr>
          <a:xfrm>
            <a:off x="2152955" y="1846167"/>
            <a:ext cx="790462" cy="717196"/>
            <a:chOff x="745382" y="1937274"/>
            <a:chExt cx="790462" cy="717196"/>
          </a:xfrm>
        </p:grpSpPr>
        <p:sp>
          <p:nvSpPr>
            <p:cNvPr id="109" name="立方体 108"/>
            <p:cNvSpPr/>
            <p:nvPr/>
          </p:nvSpPr>
          <p:spPr>
            <a:xfrm>
              <a:off x="74807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立方体 125"/>
            <p:cNvSpPr/>
            <p:nvPr/>
          </p:nvSpPr>
          <p:spPr>
            <a:xfrm>
              <a:off x="908123" y="19372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立方体 126"/>
            <p:cNvSpPr/>
            <p:nvPr/>
          </p:nvSpPr>
          <p:spPr>
            <a:xfrm>
              <a:off x="1077983" y="19372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立方体 127"/>
            <p:cNvSpPr/>
            <p:nvPr/>
          </p:nvSpPr>
          <p:spPr>
            <a:xfrm>
              <a:off x="124784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立方体 128"/>
            <p:cNvSpPr/>
            <p:nvPr/>
          </p:nvSpPr>
          <p:spPr>
            <a:xfrm>
              <a:off x="1407893" y="19372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立方体 129"/>
            <p:cNvSpPr/>
            <p:nvPr/>
          </p:nvSpPr>
          <p:spPr>
            <a:xfrm>
              <a:off x="74807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立方体 130"/>
            <p:cNvSpPr/>
            <p:nvPr/>
          </p:nvSpPr>
          <p:spPr>
            <a:xfrm>
              <a:off x="908123" y="208738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立方体 131"/>
            <p:cNvSpPr/>
            <p:nvPr/>
          </p:nvSpPr>
          <p:spPr>
            <a:xfrm>
              <a:off x="1077983" y="208738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立方体 132"/>
            <p:cNvSpPr/>
            <p:nvPr/>
          </p:nvSpPr>
          <p:spPr>
            <a:xfrm>
              <a:off x="124784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立方体 133"/>
            <p:cNvSpPr/>
            <p:nvPr/>
          </p:nvSpPr>
          <p:spPr>
            <a:xfrm>
              <a:off x="1407893" y="20873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立方体 134"/>
            <p:cNvSpPr/>
            <p:nvPr/>
          </p:nvSpPr>
          <p:spPr>
            <a:xfrm>
              <a:off x="74807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立方体 135"/>
            <p:cNvSpPr/>
            <p:nvPr/>
          </p:nvSpPr>
          <p:spPr>
            <a:xfrm>
              <a:off x="908123" y="223147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立方体 136"/>
            <p:cNvSpPr/>
            <p:nvPr/>
          </p:nvSpPr>
          <p:spPr>
            <a:xfrm>
              <a:off x="1077983" y="223147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立方体 137"/>
            <p:cNvSpPr/>
            <p:nvPr/>
          </p:nvSpPr>
          <p:spPr>
            <a:xfrm>
              <a:off x="124784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立方体 138"/>
            <p:cNvSpPr/>
            <p:nvPr/>
          </p:nvSpPr>
          <p:spPr>
            <a:xfrm>
              <a:off x="1407893" y="223147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立方体 139"/>
            <p:cNvSpPr/>
            <p:nvPr/>
          </p:nvSpPr>
          <p:spPr>
            <a:xfrm>
              <a:off x="745382" y="238285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立方体 140"/>
            <p:cNvSpPr/>
            <p:nvPr/>
          </p:nvSpPr>
          <p:spPr>
            <a:xfrm>
              <a:off x="908123" y="238467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立方体 141"/>
            <p:cNvSpPr/>
            <p:nvPr/>
          </p:nvSpPr>
          <p:spPr>
            <a:xfrm>
              <a:off x="1077983" y="23846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立方体 142"/>
            <p:cNvSpPr/>
            <p:nvPr/>
          </p:nvSpPr>
          <p:spPr>
            <a:xfrm>
              <a:off x="124784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立方体 143"/>
            <p:cNvSpPr/>
            <p:nvPr/>
          </p:nvSpPr>
          <p:spPr>
            <a:xfrm>
              <a:off x="1407893" y="23846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立方体 144"/>
            <p:cNvSpPr/>
            <p:nvPr/>
          </p:nvSpPr>
          <p:spPr>
            <a:xfrm>
              <a:off x="74807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立方体 145"/>
            <p:cNvSpPr/>
            <p:nvPr/>
          </p:nvSpPr>
          <p:spPr>
            <a:xfrm>
              <a:off x="908123" y="252805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立方体 146"/>
            <p:cNvSpPr/>
            <p:nvPr/>
          </p:nvSpPr>
          <p:spPr>
            <a:xfrm>
              <a:off x="1077983" y="252805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立方体 147"/>
            <p:cNvSpPr/>
            <p:nvPr/>
          </p:nvSpPr>
          <p:spPr>
            <a:xfrm>
              <a:off x="124784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立方体 148"/>
            <p:cNvSpPr/>
            <p:nvPr/>
          </p:nvSpPr>
          <p:spPr>
            <a:xfrm>
              <a:off x="1407893" y="252805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1" name="文本框 150"/>
          <p:cNvSpPr txBox="1"/>
          <p:nvPr/>
        </p:nvSpPr>
        <p:spPr>
          <a:xfrm>
            <a:off x="2265606" y="2583785"/>
            <a:ext cx="9833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Time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65" name="立方体 164"/>
          <p:cNvSpPr/>
          <p:nvPr/>
        </p:nvSpPr>
        <p:spPr>
          <a:xfrm flipH="1">
            <a:off x="3115836" y="938578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7" name="直接连接符 176"/>
          <p:cNvCxnSpPr/>
          <p:nvPr/>
        </p:nvCxnSpPr>
        <p:spPr>
          <a:xfrm>
            <a:off x="2265606" y="1010230"/>
            <a:ext cx="968977" cy="14956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flipV="1">
            <a:off x="2681012" y="890180"/>
            <a:ext cx="1014876" cy="116582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文本框 183"/>
          <p:cNvSpPr txBox="1"/>
          <p:nvPr/>
        </p:nvSpPr>
        <p:spPr>
          <a:xfrm>
            <a:off x="3196128" y="1135375"/>
            <a:ext cx="650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 Encoder</a:t>
            </a:r>
            <a:endParaRPr lang="zh-CN" altLang="en-US" sz="800" b="1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85" name="箭头: 下 184"/>
          <p:cNvSpPr/>
          <p:nvPr/>
        </p:nvSpPr>
        <p:spPr>
          <a:xfrm>
            <a:off x="10508084" y="5419736"/>
            <a:ext cx="383417" cy="133350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0" name="直接连接符 169"/>
          <p:cNvCxnSpPr/>
          <p:nvPr/>
        </p:nvCxnSpPr>
        <p:spPr>
          <a:xfrm>
            <a:off x="2248869" y="1402589"/>
            <a:ext cx="983367" cy="242916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箭头: 右弧形 201"/>
          <p:cNvSpPr/>
          <p:nvPr/>
        </p:nvSpPr>
        <p:spPr>
          <a:xfrm rot="1856806">
            <a:off x="3235387" y="1656864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2911131" y="2333417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02" name="组合 101"/>
          <p:cNvGrpSpPr/>
          <p:nvPr/>
        </p:nvGrpSpPr>
        <p:grpSpPr>
          <a:xfrm>
            <a:off x="4114264" y="1848994"/>
            <a:ext cx="787771" cy="730644"/>
            <a:chOff x="2362609" y="5155034"/>
            <a:chExt cx="787771" cy="730644"/>
          </a:xfrm>
        </p:grpSpPr>
        <p:sp>
          <p:nvSpPr>
            <p:cNvPr id="24" name="立方体 23"/>
            <p:cNvSpPr/>
            <p:nvPr/>
          </p:nvSpPr>
          <p:spPr>
            <a:xfrm>
              <a:off x="236260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立方体 24"/>
            <p:cNvSpPr/>
            <p:nvPr/>
          </p:nvSpPr>
          <p:spPr>
            <a:xfrm>
              <a:off x="2522659" y="515503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立方体 25"/>
            <p:cNvSpPr/>
            <p:nvPr/>
          </p:nvSpPr>
          <p:spPr>
            <a:xfrm>
              <a:off x="2692519" y="515503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立方体 27"/>
            <p:cNvSpPr/>
            <p:nvPr/>
          </p:nvSpPr>
          <p:spPr>
            <a:xfrm>
              <a:off x="286237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立方体 29"/>
            <p:cNvSpPr/>
            <p:nvPr/>
          </p:nvSpPr>
          <p:spPr>
            <a:xfrm>
              <a:off x="3022429" y="51550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立方体 31"/>
            <p:cNvSpPr/>
            <p:nvPr/>
          </p:nvSpPr>
          <p:spPr>
            <a:xfrm>
              <a:off x="236260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立方体 35"/>
            <p:cNvSpPr/>
            <p:nvPr/>
          </p:nvSpPr>
          <p:spPr>
            <a:xfrm>
              <a:off x="2522659" y="531186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立方体 36"/>
            <p:cNvSpPr/>
            <p:nvPr/>
          </p:nvSpPr>
          <p:spPr>
            <a:xfrm>
              <a:off x="2692519" y="531186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立方体 37"/>
            <p:cNvSpPr/>
            <p:nvPr/>
          </p:nvSpPr>
          <p:spPr>
            <a:xfrm>
              <a:off x="286237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立方体 38"/>
            <p:cNvSpPr/>
            <p:nvPr/>
          </p:nvSpPr>
          <p:spPr>
            <a:xfrm>
              <a:off x="3022429" y="531186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立方体 41"/>
            <p:cNvSpPr/>
            <p:nvPr/>
          </p:nvSpPr>
          <p:spPr>
            <a:xfrm>
              <a:off x="236260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立方体 42"/>
            <p:cNvSpPr/>
            <p:nvPr/>
          </p:nvSpPr>
          <p:spPr>
            <a:xfrm>
              <a:off x="2522659" y="546268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立方体 43"/>
            <p:cNvSpPr/>
            <p:nvPr/>
          </p:nvSpPr>
          <p:spPr>
            <a:xfrm>
              <a:off x="2692519" y="546268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立方体 45"/>
            <p:cNvSpPr/>
            <p:nvPr/>
          </p:nvSpPr>
          <p:spPr>
            <a:xfrm>
              <a:off x="286237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/>
            <p:cNvSpPr/>
            <p:nvPr/>
          </p:nvSpPr>
          <p:spPr>
            <a:xfrm>
              <a:off x="3022429" y="546268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立方体 47"/>
            <p:cNvSpPr/>
            <p:nvPr/>
          </p:nvSpPr>
          <p:spPr>
            <a:xfrm>
              <a:off x="236260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立方体 49"/>
            <p:cNvSpPr/>
            <p:nvPr/>
          </p:nvSpPr>
          <p:spPr>
            <a:xfrm>
              <a:off x="2522659" y="561587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立方体 51"/>
            <p:cNvSpPr/>
            <p:nvPr/>
          </p:nvSpPr>
          <p:spPr>
            <a:xfrm>
              <a:off x="2692519" y="561587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立方体 53"/>
            <p:cNvSpPr/>
            <p:nvPr/>
          </p:nvSpPr>
          <p:spPr>
            <a:xfrm>
              <a:off x="286237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立方体 54"/>
            <p:cNvSpPr/>
            <p:nvPr/>
          </p:nvSpPr>
          <p:spPr>
            <a:xfrm>
              <a:off x="3022429" y="561587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立方体 55"/>
            <p:cNvSpPr/>
            <p:nvPr/>
          </p:nvSpPr>
          <p:spPr>
            <a:xfrm>
              <a:off x="236260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立方体 56"/>
            <p:cNvSpPr/>
            <p:nvPr/>
          </p:nvSpPr>
          <p:spPr>
            <a:xfrm>
              <a:off x="2522659" y="575926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立方体 60"/>
            <p:cNvSpPr/>
            <p:nvPr/>
          </p:nvSpPr>
          <p:spPr>
            <a:xfrm>
              <a:off x="2692519" y="575926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立方体 61"/>
            <p:cNvSpPr/>
            <p:nvPr/>
          </p:nvSpPr>
          <p:spPr>
            <a:xfrm>
              <a:off x="286237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立方体 62"/>
            <p:cNvSpPr/>
            <p:nvPr/>
          </p:nvSpPr>
          <p:spPr>
            <a:xfrm>
              <a:off x="3022429" y="575926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3936115" y="646133"/>
            <a:ext cx="1080034" cy="1096386"/>
            <a:chOff x="5765298" y="3550278"/>
            <a:chExt cx="1339878" cy="1363847"/>
          </a:xfrm>
        </p:grpSpPr>
        <p:sp>
          <p:nvSpPr>
            <p:cNvPr id="65" name="矩形 64"/>
            <p:cNvSpPr/>
            <p:nvPr/>
          </p:nvSpPr>
          <p:spPr>
            <a:xfrm>
              <a:off x="6162650" y="3985849"/>
              <a:ext cx="522593" cy="4885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66" name="图片 65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5765569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7" name="图片 66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5765298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9" name="图片 68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6250552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0" name="图片 69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98" t="28665" r="69741" b="38857"/>
            <a:stretch>
              <a:fillRect/>
            </a:stretch>
          </p:blipFill>
          <p:spPr>
            <a:xfrm>
              <a:off x="6736227" y="355027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1" name="图片 70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768" t="27403" r="4602" b="43730"/>
            <a:stretch>
              <a:fillRect/>
            </a:stretch>
          </p:blipFill>
          <p:spPr>
            <a:xfrm>
              <a:off x="6736227" y="404769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3" name="图片 72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6250552" y="405026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5" name="图片 74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00" t="61235" r="68243" b="9028"/>
            <a:stretch>
              <a:fillRect/>
            </a:stretch>
          </p:blipFill>
          <p:spPr>
            <a:xfrm>
              <a:off x="6251875" y="4554125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9" name="图片 78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194" t="59259" r="46871" b="13418"/>
            <a:stretch>
              <a:fillRect/>
            </a:stretch>
          </p:blipFill>
          <p:spPr>
            <a:xfrm>
              <a:off x="5765298" y="4550258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0" name="图片 79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03" t="62724" r="32301" b="8946"/>
            <a:stretch>
              <a:fillRect/>
            </a:stretch>
          </p:blipFill>
          <p:spPr>
            <a:xfrm>
              <a:off x="6745176" y="4545112"/>
              <a:ext cx="360000" cy="3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59" name="组合 158"/>
          <p:cNvGrpSpPr/>
          <p:nvPr/>
        </p:nvGrpSpPr>
        <p:grpSpPr>
          <a:xfrm>
            <a:off x="6228780" y="1387208"/>
            <a:ext cx="654419" cy="246221"/>
            <a:chOff x="6949893" y="4830087"/>
            <a:chExt cx="654419" cy="246221"/>
          </a:xfrm>
        </p:grpSpPr>
        <p:sp>
          <p:nvSpPr>
            <p:cNvPr id="81" name="矩形: 圆角 80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accent5">
                      <a:lumMod val="75000"/>
                    </a:schemeClr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5" name="直接箭头连接符 84"/>
          <p:cNvCxnSpPr/>
          <p:nvPr/>
        </p:nvCxnSpPr>
        <p:spPr>
          <a:xfrm>
            <a:off x="6057871" y="1413867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4674912" y="1391252"/>
            <a:ext cx="1049099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立方体 105"/>
          <p:cNvSpPr/>
          <p:nvPr/>
        </p:nvSpPr>
        <p:spPr>
          <a:xfrm flipH="1">
            <a:off x="5109736" y="932097"/>
            <a:ext cx="733781" cy="678292"/>
          </a:xfrm>
          <a:prstGeom prst="cube">
            <a:avLst>
              <a:gd name="adj" fmla="val 12145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8" name="直接连接符 107"/>
          <p:cNvCxnSpPr/>
          <p:nvPr/>
        </p:nvCxnSpPr>
        <p:spPr>
          <a:xfrm>
            <a:off x="4259506" y="1003749"/>
            <a:ext cx="968977" cy="14956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4674912" y="883699"/>
            <a:ext cx="1014876" cy="116582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4242769" y="1396108"/>
            <a:ext cx="983367" cy="242916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文本框 111"/>
          <p:cNvSpPr txBox="1"/>
          <p:nvPr/>
        </p:nvSpPr>
        <p:spPr>
          <a:xfrm>
            <a:off x="5165626" y="1119482"/>
            <a:ext cx="7034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 Encoder</a:t>
            </a:r>
            <a:endParaRPr lang="zh-CN" altLang="en-US" sz="800" b="1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4" name="箭头: 右弧形 113"/>
          <p:cNvSpPr/>
          <p:nvPr/>
        </p:nvSpPr>
        <p:spPr>
          <a:xfrm rot="1856806">
            <a:off x="5217771" y="1666643"/>
            <a:ext cx="379756" cy="845722"/>
          </a:xfrm>
          <a:prstGeom prst="curvedLeftArrow">
            <a:avLst>
              <a:gd name="adj1" fmla="val 25000"/>
              <a:gd name="adj2" fmla="val 58041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4893515" y="2343196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4193501" y="2589417"/>
            <a:ext cx="138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Frequence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62" name="组合 161"/>
          <p:cNvGrpSpPr/>
          <p:nvPr/>
        </p:nvGrpSpPr>
        <p:grpSpPr>
          <a:xfrm>
            <a:off x="6028041" y="591808"/>
            <a:ext cx="738728" cy="759181"/>
            <a:chOff x="4330178" y="3897848"/>
            <a:chExt cx="738728" cy="759181"/>
          </a:xfrm>
        </p:grpSpPr>
        <p:sp>
          <p:nvSpPr>
            <p:cNvPr id="154" name="矩形 153"/>
            <p:cNvSpPr/>
            <p:nvPr/>
          </p:nvSpPr>
          <p:spPr>
            <a:xfrm>
              <a:off x="4330178" y="3897848"/>
              <a:ext cx="738728" cy="75918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19" name="图片 118"/>
            <p:cNvPicPr/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602" t="28572" r="20146" b="42262"/>
            <a:stretch>
              <a:fillRect/>
            </a:stretch>
          </p:blipFill>
          <p:spPr>
            <a:xfrm>
              <a:off x="4384072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0" name="图片 119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487" t="28191" r="32239" b="45649"/>
            <a:stretch>
              <a:fillRect/>
            </a:stretch>
          </p:blipFill>
          <p:spPr>
            <a:xfrm>
              <a:off x="4383854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1" name="图片 120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63" t="29521" r="25459" b="40431"/>
            <a:stretch>
              <a:fillRect/>
            </a:stretch>
          </p:blipFill>
          <p:spPr>
            <a:xfrm>
              <a:off x="4721210" y="3957541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4" name="图片 123"/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239" t="29519" r="66370" b="41172"/>
            <a:stretch>
              <a:fillRect/>
            </a:stretch>
          </p:blipFill>
          <p:spPr>
            <a:xfrm>
              <a:off x="4721210" y="4305687"/>
              <a:ext cx="290185" cy="28940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57" name="立方体 156"/>
          <p:cNvSpPr/>
          <p:nvPr/>
        </p:nvSpPr>
        <p:spPr>
          <a:xfrm>
            <a:off x="5925141" y="1676328"/>
            <a:ext cx="1086364" cy="127747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箭头: 右弧形 159"/>
          <p:cNvSpPr/>
          <p:nvPr/>
        </p:nvSpPr>
        <p:spPr>
          <a:xfrm rot="21121899" flipH="1">
            <a:off x="5878805" y="1860702"/>
            <a:ext cx="193710" cy="504014"/>
          </a:xfrm>
          <a:prstGeom prst="curvedLeftArrow">
            <a:avLst>
              <a:gd name="adj1" fmla="val 25000"/>
              <a:gd name="adj2" fmla="val 97417"/>
              <a:gd name="adj3" fmla="val 54098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5969077" y="1826145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Tokenization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198" name="组合 197"/>
          <p:cNvGrpSpPr/>
          <p:nvPr/>
        </p:nvGrpSpPr>
        <p:grpSpPr>
          <a:xfrm>
            <a:off x="6184789" y="2059831"/>
            <a:ext cx="627721" cy="573811"/>
            <a:chOff x="7127350" y="4511418"/>
            <a:chExt cx="627721" cy="573811"/>
          </a:xfrm>
        </p:grpSpPr>
        <p:sp>
          <p:nvSpPr>
            <p:cNvPr id="173" name="立方体 172"/>
            <p:cNvSpPr/>
            <p:nvPr/>
          </p:nvSpPr>
          <p:spPr>
            <a:xfrm>
              <a:off x="712735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立方体 173"/>
            <p:cNvSpPr/>
            <p:nvPr/>
          </p:nvSpPr>
          <p:spPr>
            <a:xfrm>
              <a:off x="7287400" y="451142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立方体 175"/>
            <p:cNvSpPr/>
            <p:nvPr/>
          </p:nvSpPr>
          <p:spPr>
            <a:xfrm>
              <a:off x="7457260" y="451141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立方体 177"/>
            <p:cNvSpPr/>
            <p:nvPr/>
          </p:nvSpPr>
          <p:spPr>
            <a:xfrm>
              <a:off x="7627120" y="451141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立方体 179"/>
            <p:cNvSpPr/>
            <p:nvPr/>
          </p:nvSpPr>
          <p:spPr>
            <a:xfrm>
              <a:off x="712735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立方体 180"/>
            <p:cNvSpPr/>
            <p:nvPr/>
          </p:nvSpPr>
          <p:spPr>
            <a:xfrm>
              <a:off x="7287400" y="466223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立方体 182"/>
            <p:cNvSpPr/>
            <p:nvPr/>
          </p:nvSpPr>
          <p:spPr>
            <a:xfrm>
              <a:off x="7457260" y="466223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立方体 185"/>
            <p:cNvSpPr/>
            <p:nvPr/>
          </p:nvSpPr>
          <p:spPr>
            <a:xfrm>
              <a:off x="7627120" y="466223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立方体 187"/>
            <p:cNvSpPr/>
            <p:nvPr/>
          </p:nvSpPr>
          <p:spPr>
            <a:xfrm>
              <a:off x="712735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立方体 188"/>
            <p:cNvSpPr/>
            <p:nvPr/>
          </p:nvSpPr>
          <p:spPr>
            <a:xfrm>
              <a:off x="7287400" y="4815429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立方体 189"/>
            <p:cNvSpPr/>
            <p:nvPr/>
          </p:nvSpPr>
          <p:spPr>
            <a:xfrm>
              <a:off x="7457260" y="481542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立方体 190"/>
            <p:cNvSpPr/>
            <p:nvPr/>
          </p:nvSpPr>
          <p:spPr>
            <a:xfrm>
              <a:off x="7627120" y="481542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立方体 192"/>
            <p:cNvSpPr/>
            <p:nvPr/>
          </p:nvSpPr>
          <p:spPr>
            <a:xfrm>
              <a:off x="712735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立方体 193"/>
            <p:cNvSpPr/>
            <p:nvPr/>
          </p:nvSpPr>
          <p:spPr>
            <a:xfrm>
              <a:off x="7287400" y="495881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立方体 194"/>
            <p:cNvSpPr/>
            <p:nvPr/>
          </p:nvSpPr>
          <p:spPr>
            <a:xfrm>
              <a:off x="7457260" y="495881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立方体 195"/>
            <p:cNvSpPr/>
            <p:nvPr/>
          </p:nvSpPr>
          <p:spPr>
            <a:xfrm>
              <a:off x="7627120" y="495881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9" name="文本框 198"/>
          <p:cNvSpPr txBox="1"/>
          <p:nvPr/>
        </p:nvSpPr>
        <p:spPr>
          <a:xfrm>
            <a:off x="6030110" y="2589417"/>
            <a:ext cx="942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Raw Patches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0" name="矩形: 圆角 199"/>
          <p:cNvSpPr/>
          <p:nvPr/>
        </p:nvSpPr>
        <p:spPr>
          <a:xfrm>
            <a:off x="1776308" y="143131"/>
            <a:ext cx="5388612" cy="2732112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5257799" h="2906924">
                <a:moveTo>
                  <a:pt x="4870077" y="6723"/>
                </a:moveTo>
                <a:lnTo>
                  <a:pt x="5074208" y="7960"/>
                </a:lnTo>
                <a:cubicBezTo>
                  <a:pt x="5175603" y="7960"/>
                  <a:pt x="5257799" y="90156"/>
                  <a:pt x="5257799" y="191551"/>
                </a:cubicBezTo>
                <a:lnTo>
                  <a:pt x="5257799" y="2723333"/>
                </a:lnTo>
                <a:cubicBezTo>
                  <a:pt x="5257799" y="2824728"/>
                  <a:pt x="5175603" y="2906924"/>
                  <a:pt x="5074208" y="2906924"/>
                </a:cubicBezTo>
                <a:lnTo>
                  <a:pt x="183591" y="2906924"/>
                </a:lnTo>
                <a:cubicBezTo>
                  <a:pt x="82196" y="2906924"/>
                  <a:pt x="0" y="2824728"/>
                  <a:pt x="0" y="2723333"/>
                </a:cubicBezTo>
                <a:lnTo>
                  <a:pt x="0" y="191551"/>
                </a:lnTo>
                <a:cubicBezTo>
                  <a:pt x="0" y="90156"/>
                  <a:pt x="82196" y="7960"/>
                  <a:pt x="183591" y="7960"/>
                </a:cubicBezTo>
                <a:lnTo>
                  <a:pt x="39893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1" name="直接箭头连接符 200"/>
          <p:cNvCxnSpPr/>
          <p:nvPr/>
        </p:nvCxnSpPr>
        <p:spPr>
          <a:xfrm>
            <a:off x="2061855" y="2802495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/>
          <p:cNvCxnSpPr/>
          <p:nvPr/>
        </p:nvCxnSpPr>
        <p:spPr>
          <a:xfrm>
            <a:off x="3515754" y="2802495"/>
            <a:ext cx="0" cy="374033"/>
          </a:xfrm>
          <a:prstGeom prst="straightConnector1">
            <a:avLst/>
          </a:prstGeom>
          <a:ln w="22225">
            <a:solidFill>
              <a:schemeClr val="accent2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>
            <a:off x="4193501" y="2802495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/>
          <p:cNvCxnSpPr/>
          <p:nvPr/>
        </p:nvCxnSpPr>
        <p:spPr>
          <a:xfrm>
            <a:off x="5513433" y="2802495"/>
            <a:ext cx="0" cy="374033"/>
          </a:xfrm>
          <a:prstGeom prst="straightConnector1">
            <a:avLst/>
          </a:prstGeom>
          <a:ln w="22225"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文本框 207"/>
          <p:cNvSpPr txBox="1"/>
          <p:nvPr/>
        </p:nvSpPr>
        <p:spPr>
          <a:xfrm>
            <a:off x="1996968" y="2884649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4986339" y="2891380"/>
            <a:ext cx="7997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Query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4138914" y="2888387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2687580" y="2884648"/>
            <a:ext cx="902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Key &amp; Value</a:t>
            </a:r>
            <a:endParaRPr lang="zh-CN" altLang="en-US" sz="10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2033372" y="3363766"/>
            <a:ext cx="787771" cy="126417"/>
            <a:chOff x="368276" y="3330446"/>
            <a:chExt cx="787771" cy="126417"/>
          </a:xfrm>
        </p:grpSpPr>
        <p:sp>
          <p:nvSpPr>
            <p:cNvPr id="214" name="立方体 213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立方体 214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6" name="立方体 215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立方体 216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立方体 217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6" name="组合 265"/>
          <p:cNvGrpSpPr/>
          <p:nvPr/>
        </p:nvGrpSpPr>
        <p:grpSpPr>
          <a:xfrm>
            <a:off x="3952399" y="3222201"/>
            <a:ext cx="787771" cy="126417"/>
            <a:chOff x="2996246" y="3916743"/>
            <a:chExt cx="787771" cy="126417"/>
          </a:xfrm>
        </p:grpSpPr>
        <p:sp>
          <p:nvSpPr>
            <p:cNvPr id="241" name="立方体 240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立方体 241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立方体 242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立方体 243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立方体 244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7" name="组合 266"/>
          <p:cNvGrpSpPr/>
          <p:nvPr/>
        </p:nvGrpSpPr>
        <p:grpSpPr>
          <a:xfrm>
            <a:off x="3952399" y="3533686"/>
            <a:ext cx="787771" cy="126417"/>
            <a:chOff x="2996246" y="4147540"/>
            <a:chExt cx="787771" cy="126417"/>
          </a:xfrm>
        </p:grpSpPr>
        <p:sp>
          <p:nvSpPr>
            <p:cNvPr id="246" name="立方体 245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立方体 246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立方体 247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立方体 248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立方体 249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8" name="文本框 267"/>
          <p:cNvSpPr txBox="1"/>
          <p:nvPr/>
        </p:nvSpPr>
        <p:spPr>
          <a:xfrm>
            <a:off x="1938045" y="3477672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2587535" y="3477672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3856769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4531662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3856769" y="3646914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4531663" y="3665232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2231438" y="3377503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4135109" y="3228692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4131112" y="3559079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02" name="直接箭头连接符 301"/>
          <p:cNvCxnSpPr/>
          <p:nvPr/>
        </p:nvCxnSpPr>
        <p:spPr>
          <a:xfrm>
            <a:off x="2998354" y="3932366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组合 302"/>
          <p:cNvGrpSpPr/>
          <p:nvPr/>
        </p:nvGrpSpPr>
        <p:grpSpPr>
          <a:xfrm>
            <a:off x="2599706" y="4162972"/>
            <a:ext cx="787771" cy="126417"/>
            <a:chOff x="2996246" y="3916743"/>
            <a:chExt cx="787771" cy="126417"/>
          </a:xfrm>
        </p:grpSpPr>
        <p:sp>
          <p:nvSpPr>
            <p:cNvPr id="304" name="立方体 30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立方体 30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立方体 30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立方体 30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立方体 30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9" name="矩形 308"/>
          <p:cNvSpPr/>
          <p:nvPr/>
        </p:nvSpPr>
        <p:spPr>
          <a:xfrm>
            <a:off x="5478392" y="3307343"/>
            <a:ext cx="177456" cy="405337"/>
          </a:xfrm>
          <a:prstGeom prst="rect">
            <a:avLst/>
          </a:prstGeom>
          <a:solidFill>
            <a:srgbClr val="FCEBE0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10" name="组合 309"/>
          <p:cNvGrpSpPr/>
          <p:nvPr/>
        </p:nvGrpSpPr>
        <p:grpSpPr>
          <a:xfrm>
            <a:off x="4842356" y="3377881"/>
            <a:ext cx="787771" cy="126417"/>
            <a:chOff x="368276" y="3330446"/>
            <a:chExt cx="787771" cy="126417"/>
          </a:xfrm>
        </p:grpSpPr>
        <p:sp>
          <p:nvSpPr>
            <p:cNvPr id="311" name="立方体 310"/>
            <p:cNvSpPr/>
            <p:nvPr/>
          </p:nvSpPr>
          <p:spPr>
            <a:xfrm>
              <a:off x="36827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立方体 311"/>
            <p:cNvSpPr/>
            <p:nvPr/>
          </p:nvSpPr>
          <p:spPr>
            <a:xfrm>
              <a:off x="528326" y="3330448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3" name="立方体 312"/>
            <p:cNvSpPr/>
            <p:nvPr/>
          </p:nvSpPr>
          <p:spPr>
            <a:xfrm>
              <a:off x="698186" y="3330447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立方体 313"/>
            <p:cNvSpPr/>
            <p:nvPr/>
          </p:nvSpPr>
          <p:spPr>
            <a:xfrm>
              <a:off x="86804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立方体 314"/>
            <p:cNvSpPr/>
            <p:nvPr/>
          </p:nvSpPr>
          <p:spPr>
            <a:xfrm>
              <a:off x="1028096" y="3330446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E8F3E1"/>
            </a:solidFill>
            <a:ln w="952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6" name="文本框 315"/>
          <p:cNvSpPr txBox="1"/>
          <p:nvPr/>
        </p:nvSpPr>
        <p:spPr>
          <a:xfrm>
            <a:off x="4753379" y="3491787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Q1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5411418" y="3486740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Qn</a:t>
            </a:r>
            <a:endParaRPr lang="zh-CN" altLang="en-US" sz="8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5008136" y="3367358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20" name="矩形 319"/>
          <p:cNvSpPr/>
          <p:nvPr/>
        </p:nvSpPr>
        <p:spPr>
          <a:xfrm>
            <a:off x="3572668" y="3183001"/>
            <a:ext cx="177455" cy="666861"/>
          </a:xfrm>
          <a:prstGeom prst="rect">
            <a:avLst/>
          </a:prstGeom>
          <a:solidFill>
            <a:srgbClr val="E8F3E1"/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1" name="组合 320"/>
          <p:cNvGrpSpPr/>
          <p:nvPr/>
        </p:nvGrpSpPr>
        <p:grpSpPr>
          <a:xfrm>
            <a:off x="2941695" y="3222201"/>
            <a:ext cx="787771" cy="126417"/>
            <a:chOff x="2996246" y="3916743"/>
            <a:chExt cx="787771" cy="126417"/>
          </a:xfrm>
        </p:grpSpPr>
        <p:sp>
          <p:nvSpPr>
            <p:cNvPr id="322" name="立方体 32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立方体 32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立方体 32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立方体 32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立方体 32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7" name="组合 326"/>
          <p:cNvGrpSpPr/>
          <p:nvPr/>
        </p:nvGrpSpPr>
        <p:grpSpPr>
          <a:xfrm>
            <a:off x="2941695" y="3533686"/>
            <a:ext cx="787771" cy="126417"/>
            <a:chOff x="2996246" y="4147540"/>
            <a:chExt cx="787771" cy="126417"/>
          </a:xfrm>
        </p:grpSpPr>
        <p:sp>
          <p:nvSpPr>
            <p:cNvPr id="328" name="立方体 327"/>
            <p:cNvSpPr/>
            <p:nvPr/>
          </p:nvSpPr>
          <p:spPr>
            <a:xfrm>
              <a:off x="2996246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立方体 328"/>
            <p:cNvSpPr/>
            <p:nvPr/>
          </p:nvSpPr>
          <p:spPr>
            <a:xfrm>
              <a:off x="3163020" y="4147542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立方体 329"/>
            <p:cNvSpPr/>
            <p:nvPr/>
          </p:nvSpPr>
          <p:spPr>
            <a:xfrm>
              <a:off x="3326156" y="4147541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立方体 330"/>
            <p:cNvSpPr/>
            <p:nvPr/>
          </p:nvSpPr>
          <p:spPr>
            <a:xfrm>
              <a:off x="349601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立方体 331"/>
            <p:cNvSpPr/>
            <p:nvPr/>
          </p:nvSpPr>
          <p:spPr>
            <a:xfrm>
              <a:off x="3656066" y="4147540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CEBE0"/>
            </a:solidFill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3" name="文本框 332"/>
          <p:cNvSpPr txBox="1"/>
          <p:nvPr/>
        </p:nvSpPr>
        <p:spPr>
          <a:xfrm>
            <a:off x="2846065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3520958" y="3337026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Kn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2846065" y="3646914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V1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3522838" y="3640305"/>
            <a:ext cx="40328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Vn</a:t>
            </a:r>
            <a:endParaRPr lang="zh-CN" altLang="en-US" sz="8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3124405" y="3543020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3120408" y="3230472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accent2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2139903" y="3908971"/>
            <a:ext cx="8279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Time2Freq.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341" name="组合 340"/>
          <p:cNvGrpSpPr/>
          <p:nvPr/>
        </p:nvGrpSpPr>
        <p:grpSpPr>
          <a:xfrm>
            <a:off x="4362158" y="4149036"/>
            <a:ext cx="787771" cy="126417"/>
            <a:chOff x="2996246" y="3916743"/>
            <a:chExt cx="787771" cy="126417"/>
          </a:xfrm>
        </p:grpSpPr>
        <p:sp>
          <p:nvSpPr>
            <p:cNvPr id="342" name="立方体 341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3" name="立方体 342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立方体 343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立方体 344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立方体 345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47" name="文本框 346"/>
          <p:cNvSpPr txBox="1"/>
          <p:nvPr/>
        </p:nvSpPr>
        <p:spPr>
          <a:xfrm>
            <a:off x="4757220" y="3923066"/>
            <a:ext cx="89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Freq.2Time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348" name="连接符: 肘形 347"/>
          <p:cNvCxnSpPr>
            <a:stCxn id="320" idx="2"/>
            <a:endCxn id="309" idx="2"/>
          </p:cNvCxnSpPr>
          <p:nvPr/>
        </p:nvCxnSpPr>
        <p:spPr>
          <a:xfrm rot="5400000" flipH="1" flipV="1">
            <a:off x="4545667" y="2828409"/>
            <a:ext cx="137182" cy="1905724"/>
          </a:xfrm>
          <a:prstGeom prst="bentConnector3">
            <a:avLst>
              <a:gd name="adj1" fmla="val -79618"/>
            </a:avLst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连接符: 肘形 290"/>
          <p:cNvCxnSpPr>
            <a:stCxn id="284" idx="2"/>
            <a:endCxn id="285" idx="2"/>
          </p:cNvCxnSpPr>
          <p:nvPr/>
        </p:nvCxnSpPr>
        <p:spPr>
          <a:xfrm rot="16200000" flipH="1">
            <a:off x="2975091" y="2814849"/>
            <a:ext cx="151297" cy="1918727"/>
          </a:xfrm>
          <a:prstGeom prst="bentConnector3">
            <a:avLst>
              <a:gd name="adj1" fmla="val 150365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接箭头连接符 353"/>
          <p:cNvCxnSpPr/>
          <p:nvPr/>
        </p:nvCxnSpPr>
        <p:spPr>
          <a:xfrm>
            <a:off x="4752761" y="3963236"/>
            <a:ext cx="0" cy="16292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6" name="组合 435"/>
          <p:cNvGrpSpPr/>
          <p:nvPr/>
        </p:nvGrpSpPr>
        <p:grpSpPr>
          <a:xfrm>
            <a:off x="2336587" y="4575291"/>
            <a:ext cx="1324873" cy="588194"/>
            <a:chOff x="1537322" y="4909634"/>
            <a:chExt cx="1324873" cy="588194"/>
          </a:xfrm>
        </p:grpSpPr>
        <p:sp>
          <p:nvSpPr>
            <p:cNvPr id="357" name="椭圆 356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椭圆 364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椭圆 365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椭圆 366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椭圆 371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椭圆 372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椭圆 373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椭圆 374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6" name="直接箭头连接符 375"/>
            <p:cNvCxnSpPr>
              <a:stCxn id="357" idx="4"/>
              <a:endCxn id="372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直接箭头连接符 378"/>
            <p:cNvCxnSpPr>
              <a:stCxn id="357" idx="4"/>
              <a:endCxn id="373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接箭头连接符 381"/>
            <p:cNvCxnSpPr>
              <a:stCxn id="357" idx="4"/>
              <a:endCxn id="374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直接箭头连接符 385"/>
            <p:cNvCxnSpPr>
              <a:stCxn id="357" idx="4"/>
              <a:endCxn id="375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直接箭头连接符 388"/>
            <p:cNvCxnSpPr>
              <a:stCxn id="365" idx="4"/>
              <a:endCxn id="372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直接箭头连接符 391"/>
            <p:cNvCxnSpPr>
              <a:stCxn id="365" idx="4"/>
              <a:endCxn id="373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直接箭头连接符 394"/>
            <p:cNvCxnSpPr>
              <a:stCxn id="365" idx="4"/>
              <a:endCxn id="374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直接箭头连接符 397"/>
            <p:cNvCxnSpPr>
              <a:stCxn id="365" idx="4"/>
              <a:endCxn id="375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直接箭头连接符 408"/>
            <p:cNvCxnSpPr>
              <a:stCxn id="366" idx="4"/>
              <a:endCxn id="372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箭头连接符 411"/>
            <p:cNvCxnSpPr>
              <a:stCxn id="366" idx="4"/>
              <a:endCxn id="373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直接箭头连接符 414"/>
            <p:cNvCxnSpPr>
              <a:stCxn id="366" idx="4"/>
              <a:endCxn id="374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箭头连接符 417"/>
            <p:cNvCxnSpPr>
              <a:stCxn id="366" idx="4"/>
              <a:endCxn id="375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箭头连接符 420"/>
            <p:cNvCxnSpPr>
              <a:stCxn id="367" idx="4"/>
              <a:endCxn id="372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箭头连接符 423"/>
            <p:cNvCxnSpPr>
              <a:stCxn id="367" idx="4"/>
              <a:endCxn id="373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直接箭头连接符 426"/>
            <p:cNvCxnSpPr>
              <a:stCxn id="367" idx="4"/>
              <a:endCxn id="374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直接箭头连接符 429"/>
            <p:cNvCxnSpPr>
              <a:stCxn id="367" idx="4"/>
              <a:endCxn id="375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5" name="文本框 434"/>
          <p:cNvSpPr txBox="1"/>
          <p:nvPr/>
        </p:nvSpPr>
        <p:spPr>
          <a:xfrm>
            <a:off x="2784060" y="5098457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0" name="连接符: 肘形 449"/>
          <p:cNvCxnSpPr>
            <a:endCxn id="434" idx="1"/>
          </p:cNvCxnSpPr>
          <p:nvPr/>
        </p:nvCxnSpPr>
        <p:spPr>
          <a:xfrm rot="16200000" flipH="1">
            <a:off x="1016986" y="3701397"/>
            <a:ext cx="2111661" cy="282198"/>
          </a:xfrm>
          <a:prstGeom prst="bentConnector2">
            <a:avLst/>
          </a:prstGeom>
          <a:ln w="127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文本框 451"/>
          <p:cNvSpPr txBox="1"/>
          <p:nvPr/>
        </p:nvSpPr>
        <p:spPr>
          <a:xfrm>
            <a:off x="1848900" y="4656081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/>
          <p:cNvCxnSpPr/>
          <p:nvPr/>
        </p:nvCxnSpPr>
        <p:spPr>
          <a:xfrm>
            <a:off x="2998354" y="4323586"/>
            <a:ext cx="0" cy="180975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矩形: 圆角 456"/>
          <p:cNvSpPr/>
          <p:nvPr/>
        </p:nvSpPr>
        <p:spPr>
          <a:xfrm>
            <a:off x="3964639" y="4504561"/>
            <a:ext cx="1521014" cy="795482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8" name="组合 457"/>
          <p:cNvGrpSpPr/>
          <p:nvPr/>
        </p:nvGrpSpPr>
        <p:grpSpPr>
          <a:xfrm>
            <a:off x="4100036" y="4575291"/>
            <a:ext cx="1324873" cy="588194"/>
            <a:chOff x="1537322" y="4909634"/>
            <a:chExt cx="1324873" cy="588194"/>
          </a:xfrm>
        </p:grpSpPr>
        <p:sp>
          <p:nvSpPr>
            <p:cNvPr id="459" name="椭圆 458"/>
            <p:cNvSpPr/>
            <p:nvPr/>
          </p:nvSpPr>
          <p:spPr>
            <a:xfrm>
              <a:off x="1537322" y="4914354"/>
              <a:ext cx="144000" cy="144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0" name="椭圆 459"/>
            <p:cNvSpPr/>
            <p:nvPr/>
          </p:nvSpPr>
          <p:spPr>
            <a:xfrm>
              <a:off x="1929524" y="4911994"/>
              <a:ext cx="144000" cy="144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椭圆 460"/>
            <p:cNvSpPr/>
            <p:nvPr/>
          </p:nvSpPr>
          <p:spPr>
            <a:xfrm>
              <a:off x="2321726" y="4909634"/>
              <a:ext cx="144000" cy="144000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椭圆 461"/>
            <p:cNvSpPr/>
            <p:nvPr/>
          </p:nvSpPr>
          <p:spPr>
            <a:xfrm>
              <a:off x="2713928" y="4916713"/>
              <a:ext cx="144000" cy="14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3" name="椭圆 462"/>
            <p:cNvSpPr/>
            <p:nvPr/>
          </p:nvSpPr>
          <p:spPr>
            <a:xfrm>
              <a:off x="1541589" y="5351469"/>
              <a:ext cx="144000" cy="144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4" name="椭圆 463"/>
            <p:cNvSpPr/>
            <p:nvPr/>
          </p:nvSpPr>
          <p:spPr>
            <a:xfrm>
              <a:off x="1933791" y="5349109"/>
              <a:ext cx="144000" cy="144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5" name="椭圆 464"/>
            <p:cNvSpPr/>
            <p:nvPr/>
          </p:nvSpPr>
          <p:spPr>
            <a:xfrm>
              <a:off x="2325993" y="5346749"/>
              <a:ext cx="144000" cy="144000"/>
            </a:xfrm>
            <a:prstGeom prst="ellipse">
              <a:avLst/>
            </a:prstGeom>
            <a:solidFill>
              <a:srgbClr val="FEE2F5"/>
            </a:solidFill>
            <a:ln>
              <a:solidFill>
                <a:srgbClr val="F7B5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6" name="椭圆 465"/>
            <p:cNvSpPr/>
            <p:nvPr/>
          </p:nvSpPr>
          <p:spPr>
            <a:xfrm>
              <a:off x="2718195" y="5353828"/>
              <a:ext cx="144000" cy="144000"/>
            </a:xfrm>
            <a:prstGeom prst="ellipse">
              <a:avLst/>
            </a:prstGeom>
            <a:solidFill>
              <a:srgbClr val="DBD9F9"/>
            </a:solidFill>
            <a:ln>
              <a:solidFill>
                <a:srgbClr val="AE8AE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7" name="直接箭头连接符 466"/>
            <p:cNvCxnSpPr>
              <a:stCxn id="459" idx="4"/>
              <a:endCxn id="463" idx="0"/>
            </p:cNvCxnSpPr>
            <p:nvPr/>
          </p:nvCxnSpPr>
          <p:spPr>
            <a:xfrm>
              <a:off x="1609322" y="505835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直接箭头连接符 467"/>
            <p:cNvCxnSpPr>
              <a:stCxn id="459" idx="4"/>
              <a:endCxn id="464" idx="0"/>
            </p:cNvCxnSpPr>
            <p:nvPr/>
          </p:nvCxnSpPr>
          <p:spPr>
            <a:xfrm>
              <a:off x="1609322" y="505835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直接箭头连接符 468"/>
            <p:cNvCxnSpPr>
              <a:stCxn id="459" idx="4"/>
              <a:endCxn id="465" idx="0"/>
            </p:cNvCxnSpPr>
            <p:nvPr/>
          </p:nvCxnSpPr>
          <p:spPr>
            <a:xfrm>
              <a:off x="1609322" y="5058354"/>
              <a:ext cx="788671" cy="28839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直接箭头连接符 469"/>
            <p:cNvCxnSpPr>
              <a:stCxn id="459" idx="4"/>
              <a:endCxn id="466" idx="0"/>
            </p:cNvCxnSpPr>
            <p:nvPr/>
          </p:nvCxnSpPr>
          <p:spPr>
            <a:xfrm>
              <a:off x="1609322" y="5058354"/>
              <a:ext cx="1180873" cy="29547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直接箭头连接符 470"/>
            <p:cNvCxnSpPr>
              <a:stCxn id="460" idx="4"/>
              <a:endCxn id="463" idx="0"/>
            </p:cNvCxnSpPr>
            <p:nvPr/>
          </p:nvCxnSpPr>
          <p:spPr>
            <a:xfrm flipH="1">
              <a:off x="1613589" y="505599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直接箭头连接符 471"/>
            <p:cNvCxnSpPr>
              <a:stCxn id="460" idx="4"/>
              <a:endCxn id="464" idx="0"/>
            </p:cNvCxnSpPr>
            <p:nvPr/>
          </p:nvCxnSpPr>
          <p:spPr>
            <a:xfrm>
              <a:off x="2001524" y="505599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直接箭头连接符 472"/>
            <p:cNvCxnSpPr>
              <a:stCxn id="460" idx="4"/>
              <a:endCxn id="465" idx="0"/>
            </p:cNvCxnSpPr>
            <p:nvPr/>
          </p:nvCxnSpPr>
          <p:spPr>
            <a:xfrm>
              <a:off x="2001524" y="5055994"/>
              <a:ext cx="396469" cy="29075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箭头连接符 473"/>
            <p:cNvCxnSpPr>
              <a:stCxn id="460" idx="4"/>
              <a:endCxn id="466" idx="0"/>
            </p:cNvCxnSpPr>
            <p:nvPr/>
          </p:nvCxnSpPr>
          <p:spPr>
            <a:xfrm>
              <a:off x="2001524" y="5055994"/>
              <a:ext cx="788671" cy="29783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直接箭头连接符 474"/>
            <p:cNvCxnSpPr>
              <a:stCxn id="461" idx="4"/>
              <a:endCxn id="463" idx="0"/>
            </p:cNvCxnSpPr>
            <p:nvPr/>
          </p:nvCxnSpPr>
          <p:spPr>
            <a:xfrm flipH="1">
              <a:off x="1613589" y="5053634"/>
              <a:ext cx="780137" cy="29783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直接箭头连接符 475"/>
            <p:cNvCxnSpPr>
              <a:stCxn id="461" idx="4"/>
              <a:endCxn id="464" idx="0"/>
            </p:cNvCxnSpPr>
            <p:nvPr/>
          </p:nvCxnSpPr>
          <p:spPr>
            <a:xfrm flipH="1">
              <a:off x="2005791" y="5053634"/>
              <a:ext cx="387935" cy="29547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直接箭头连接符 476"/>
            <p:cNvCxnSpPr>
              <a:stCxn id="461" idx="4"/>
              <a:endCxn id="465" idx="0"/>
            </p:cNvCxnSpPr>
            <p:nvPr/>
          </p:nvCxnSpPr>
          <p:spPr>
            <a:xfrm>
              <a:off x="2393726" y="5053634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直接箭头连接符 477"/>
            <p:cNvCxnSpPr>
              <a:stCxn id="461" idx="4"/>
              <a:endCxn id="466" idx="0"/>
            </p:cNvCxnSpPr>
            <p:nvPr/>
          </p:nvCxnSpPr>
          <p:spPr>
            <a:xfrm>
              <a:off x="2393726" y="5053634"/>
              <a:ext cx="396469" cy="300194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直接箭头连接符 478"/>
            <p:cNvCxnSpPr>
              <a:stCxn id="462" idx="4"/>
              <a:endCxn id="463" idx="0"/>
            </p:cNvCxnSpPr>
            <p:nvPr/>
          </p:nvCxnSpPr>
          <p:spPr>
            <a:xfrm flipH="1">
              <a:off x="1613589" y="5060713"/>
              <a:ext cx="1172339" cy="29075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直接箭头连接符 479"/>
            <p:cNvCxnSpPr>
              <a:stCxn id="462" idx="4"/>
              <a:endCxn id="464" idx="0"/>
            </p:cNvCxnSpPr>
            <p:nvPr/>
          </p:nvCxnSpPr>
          <p:spPr>
            <a:xfrm flipH="1">
              <a:off x="2005791" y="5060713"/>
              <a:ext cx="780137" cy="28839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直接箭头连接符 480"/>
            <p:cNvCxnSpPr>
              <a:stCxn id="462" idx="4"/>
              <a:endCxn id="465" idx="0"/>
            </p:cNvCxnSpPr>
            <p:nvPr/>
          </p:nvCxnSpPr>
          <p:spPr>
            <a:xfrm flipH="1">
              <a:off x="2397993" y="5060713"/>
              <a:ext cx="387935" cy="286036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直接箭头连接符 481"/>
            <p:cNvCxnSpPr>
              <a:stCxn id="462" idx="4"/>
              <a:endCxn id="466" idx="0"/>
            </p:cNvCxnSpPr>
            <p:nvPr/>
          </p:nvCxnSpPr>
          <p:spPr>
            <a:xfrm>
              <a:off x="2785928" y="5060713"/>
              <a:ext cx="4267" cy="293115"/>
            </a:xfrm>
            <a:prstGeom prst="straightConnector1">
              <a:avLst/>
            </a:prstGeom>
            <a:ln w="9525">
              <a:solidFill>
                <a:schemeClr val="bg1">
                  <a:lumMod val="65000"/>
                </a:schemeClr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3" name="文本框 482"/>
          <p:cNvSpPr txBox="1"/>
          <p:nvPr/>
        </p:nvSpPr>
        <p:spPr>
          <a:xfrm>
            <a:off x="4547509" y="5104173"/>
            <a:ext cx="4752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FFN</a:t>
            </a:r>
            <a:endParaRPr lang="zh-CN" altLang="en-US" sz="1000" dirty="0">
              <a:solidFill>
                <a:schemeClr val="bg1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/>
          <p:cNvCxnSpPr/>
          <p:nvPr/>
        </p:nvCxnSpPr>
        <p:spPr>
          <a:xfrm>
            <a:off x="4754183" y="4323586"/>
            <a:ext cx="0" cy="180975"/>
          </a:xfrm>
          <a:prstGeom prst="straightConnector1">
            <a:avLst/>
          </a:prstGeom>
          <a:ln w="12700">
            <a:solidFill>
              <a:schemeClr val="bg1">
                <a:lumMod val="75000"/>
              </a:schemeClr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连接符: 肘形 484"/>
          <p:cNvCxnSpPr>
            <a:endCxn id="457" idx="3"/>
          </p:cNvCxnSpPr>
          <p:nvPr/>
        </p:nvCxnSpPr>
        <p:spPr>
          <a:xfrm rot="5400000">
            <a:off x="4549620" y="3709004"/>
            <a:ext cx="2129331" cy="257264"/>
          </a:xfrm>
          <a:prstGeom prst="bentConnector2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8" name="文本框 487"/>
          <p:cNvSpPr txBox="1"/>
          <p:nvPr/>
        </p:nvSpPr>
        <p:spPr>
          <a:xfrm>
            <a:off x="5410383" y="4656081"/>
            <a:ext cx="4576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Res</a:t>
            </a:r>
            <a:endParaRPr lang="zh-CN" altLang="en-US" sz="1000" dirty="0">
              <a:solidFill>
                <a:schemeClr val="accent6">
                  <a:lumMod val="7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04" name="组合 503"/>
          <p:cNvGrpSpPr/>
          <p:nvPr/>
        </p:nvGrpSpPr>
        <p:grpSpPr>
          <a:xfrm>
            <a:off x="3735629" y="5396411"/>
            <a:ext cx="216000" cy="216000"/>
            <a:chOff x="6047417" y="5336099"/>
            <a:chExt cx="288000" cy="288000"/>
          </a:xfrm>
        </p:grpSpPr>
        <p:sp>
          <p:nvSpPr>
            <p:cNvPr id="494" name="椭圆 493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6" name="直接连接符 495"/>
            <p:cNvCxnSpPr>
              <a:stCxn id="494" idx="2"/>
              <a:endCxn id="494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直接连接符 500"/>
            <p:cNvCxnSpPr>
              <a:stCxn id="494" idx="0"/>
              <a:endCxn id="494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6" name="连接符: 肘形 505"/>
          <p:cNvCxnSpPr>
            <a:stCxn id="434" idx="2"/>
            <a:endCxn id="494" idx="2"/>
          </p:cNvCxnSpPr>
          <p:nvPr/>
        </p:nvCxnSpPr>
        <p:spPr>
          <a:xfrm rot="16200000" flipH="1">
            <a:off x="3250854" y="5019635"/>
            <a:ext cx="208343" cy="761207"/>
          </a:xfrm>
          <a:prstGeom prst="bentConnector2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连接符: 肘形 509"/>
          <p:cNvCxnSpPr>
            <a:stCxn id="457" idx="2"/>
            <a:endCxn id="494" idx="6"/>
          </p:cNvCxnSpPr>
          <p:nvPr/>
        </p:nvCxnSpPr>
        <p:spPr>
          <a:xfrm rot="5400000">
            <a:off x="4236204" y="5015469"/>
            <a:ext cx="204368" cy="773517"/>
          </a:xfrm>
          <a:prstGeom prst="bentConnector2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5" name="组合 514"/>
          <p:cNvGrpSpPr/>
          <p:nvPr/>
        </p:nvGrpSpPr>
        <p:grpSpPr>
          <a:xfrm>
            <a:off x="3986125" y="5607846"/>
            <a:ext cx="654419" cy="246221"/>
            <a:chOff x="6949893" y="4830087"/>
            <a:chExt cx="654419" cy="246221"/>
          </a:xfrm>
        </p:grpSpPr>
        <p:sp>
          <p:nvSpPr>
            <p:cNvPr id="516" name="矩形: 圆角 515"/>
            <p:cNvSpPr/>
            <p:nvPr/>
          </p:nvSpPr>
          <p:spPr>
            <a:xfrm>
              <a:off x="6949893" y="4833907"/>
              <a:ext cx="654419" cy="242401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17" name="文本框 516"/>
            <p:cNvSpPr txBox="1"/>
            <p:nvPr/>
          </p:nvSpPr>
          <p:spPr>
            <a:xfrm>
              <a:off x="7009518" y="4830087"/>
              <a:ext cx="5813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rgbClr val="F97BF9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Linear</a:t>
              </a:r>
              <a:endParaRPr lang="en-US" altLang="zh-CN" sz="1000" dirty="0">
                <a:solidFill>
                  <a:srgbClr val="F97BF9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18" name="直接箭头连接符 517"/>
          <p:cNvCxnSpPr/>
          <p:nvPr/>
        </p:nvCxnSpPr>
        <p:spPr>
          <a:xfrm>
            <a:off x="3845696" y="5649745"/>
            <a:ext cx="0" cy="208434"/>
          </a:xfrm>
          <a:prstGeom prst="straightConnector1">
            <a:avLst/>
          </a:prstGeom>
          <a:ln w="12700">
            <a:solidFill>
              <a:srgbClr val="F97BF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立方体 518"/>
          <p:cNvSpPr/>
          <p:nvPr/>
        </p:nvSpPr>
        <p:spPr>
          <a:xfrm>
            <a:off x="3107175" y="5904586"/>
            <a:ext cx="1465793" cy="115547"/>
          </a:xfrm>
          <a:prstGeom prst="cube">
            <a:avLst/>
          </a:prstGeom>
          <a:solidFill>
            <a:srgbClr val="FEE2F5"/>
          </a:solidFill>
          <a:ln>
            <a:solidFill>
              <a:srgbClr val="F63CF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2" name="矩形: 圆角 199"/>
          <p:cNvSpPr/>
          <p:nvPr/>
        </p:nvSpPr>
        <p:spPr>
          <a:xfrm flipV="1">
            <a:off x="1776307" y="2908918"/>
            <a:ext cx="4009193" cy="3265654"/>
          </a:xfrm>
          <a:custGeom>
            <a:avLst/>
            <a:gdLst>
              <a:gd name="connsiteX0" fmla="*/ 0 w 5257799"/>
              <a:gd name="connsiteY0" fmla="*/ 183591 h 2898964"/>
              <a:gd name="connsiteX1" fmla="*/ 183591 w 5257799"/>
              <a:gd name="connsiteY1" fmla="*/ 0 h 2898964"/>
              <a:gd name="connsiteX2" fmla="*/ 5074208 w 5257799"/>
              <a:gd name="connsiteY2" fmla="*/ 0 h 2898964"/>
              <a:gd name="connsiteX3" fmla="*/ 5257799 w 5257799"/>
              <a:gd name="connsiteY3" fmla="*/ 183591 h 2898964"/>
              <a:gd name="connsiteX4" fmla="*/ 5257799 w 5257799"/>
              <a:gd name="connsiteY4" fmla="*/ 2715373 h 2898964"/>
              <a:gd name="connsiteX5" fmla="*/ 5074208 w 5257799"/>
              <a:gd name="connsiteY5" fmla="*/ 2898964 h 2898964"/>
              <a:gd name="connsiteX6" fmla="*/ 183591 w 5257799"/>
              <a:gd name="connsiteY6" fmla="*/ 2898964 h 2898964"/>
              <a:gd name="connsiteX7" fmla="*/ 0 w 5257799"/>
              <a:gd name="connsiteY7" fmla="*/ 2715373 h 2898964"/>
              <a:gd name="connsiteX8" fmla="*/ 0 w 5257799"/>
              <a:gd name="connsiteY8" fmla="*/ 183591 h 2898964"/>
              <a:gd name="connsiteX0-1" fmla="*/ 0 w 5257799"/>
              <a:gd name="connsiteY0-2" fmla="*/ 191551 h 2906924"/>
              <a:gd name="connsiteX1-3" fmla="*/ 183591 w 5257799"/>
              <a:gd name="connsiteY1-4" fmla="*/ 7960 h 2906924"/>
              <a:gd name="connsiteX2-5" fmla="*/ 398930 w 5257799"/>
              <a:gd name="connsiteY2-6" fmla="*/ 0 h 2906924"/>
              <a:gd name="connsiteX3-7" fmla="*/ 5074208 w 5257799"/>
              <a:gd name="connsiteY3-8" fmla="*/ 7960 h 2906924"/>
              <a:gd name="connsiteX4-9" fmla="*/ 5257799 w 5257799"/>
              <a:gd name="connsiteY4-10" fmla="*/ 191551 h 2906924"/>
              <a:gd name="connsiteX5-11" fmla="*/ 5257799 w 5257799"/>
              <a:gd name="connsiteY5-12" fmla="*/ 2723333 h 2906924"/>
              <a:gd name="connsiteX6-13" fmla="*/ 5074208 w 5257799"/>
              <a:gd name="connsiteY6-14" fmla="*/ 2906924 h 2906924"/>
              <a:gd name="connsiteX7-15" fmla="*/ 183591 w 5257799"/>
              <a:gd name="connsiteY7-16" fmla="*/ 2906924 h 2906924"/>
              <a:gd name="connsiteX8-17" fmla="*/ 0 w 5257799"/>
              <a:gd name="connsiteY8-18" fmla="*/ 2723333 h 2906924"/>
              <a:gd name="connsiteX9" fmla="*/ 0 w 5257799"/>
              <a:gd name="connsiteY9" fmla="*/ 191551 h 2906924"/>
              <a:gd name="connsiteX0-19" fmla="*/ 0 w 5257799"/>
              <a:gd name="connsiteY0-20" fmla="*/ 191551 h 2906924"/>
              <a:gd name="connsiteX1-21" fmla="*/ 183591 w 5257799"/>
              <a:gd name="connsiteY1-22" fmla="*/ 7960 h 2906924"/>
              <a:gd name="connsiteX2-23" fmla="*/ 398930 w 5257799"/>
              <a:gd name="connsiteY2-24" fmla="*/ 0 h 2906924"/>
              <a:gd name="connsiteX3-25" fmla="*/ 4870077 w 5257799"/>
              <a:gd name="connsiteY3-26" fmla="*/ 6723 h 2906924"/>
              <a:gd name="connsiteX4-27" fmla="*/ 5074208 w 5257799"/>
              <a:gd name="connsiteY4-28" fmla="*/ 7960 h 2906924"/>
              <a:gd name="connsiteX5-29" fmla="*/ 5257799 w 5257799"/>
              <a:gd name="connsiteY5-30" fmla="*/ 191551 h 2906924"/>
              <a:gd name="connsiteX6-31" fmla="*/ 5257799 w 5257799"/>
              <a:gd name="connsiteY6-32" fmla="*/ 2723333 h 2906924"/>
              <a:gd name="connsiteX7-33" fmla="*/ 5074208 w 5257799"/>
              <a:gd name="connsiteY7-34" fmla="*/ 2906924 h 2906924"/>
              <a:gd name="connsiteX8-35" fmla="*/ 183591 w 5257799"/>
              <a:gd name="connsiteY8-36" fmla="*/ 2906924 h 2906924"/>
              <a:gd name="connsiteX9-37" fmla="*/ 0 w 5257799"/>
              <a:gd name="connsiteY9-38" fmla="*/ 2723333 h 2906924"/>
              <a:gd name="connsiteX10" fmla="*/ 0 w 5257799"/>
              <a:gd name="connsiteY10" fmla="*/ 191551 h 2906924"/>
              <a:gd name="connsiteX0-39" fmla="*/ 4870077 w 5257799"/>
              <a:gd name="connsiteY0-40" fmla="*/ 6723 h 2906924"/>
              <a:gd name="connsiteX1-41" fmla="*/ 5074208 w 5257799"/>
              <a:gd name="connsiteY1-42" fmla="*/ 7960 h 2906924"/>
              <a:gd name="connsiteX2-43" fmla="*/ 5257799 w 5257799"/>
              <a:gd name="connsiteY2-44" fmla="*/ 191551 h 2906924"/>
              <a:gd name="connsiteX3-45" fmla="*/ 5257799 w 5257799"/>
              <a:gd name="connsiteY3-46" fmla="*/ 2723333 h 2906924"/>
              <a:gd name="connsiteX4-47" fmla="*/ 5074208 w 5257799"/>
              <a:gd name="connsiteY4-48" fmla="*/ 2906924 h 2906924"/>
              <a:gd name="connsiteX5-49" fmla="*/ 183591 w 5257799"/>
              <a:gd name="connsiteY5-50" fmla="*/ 2906924 h 2906924"/>
              <a:gd name="connsiteX6-51" fmla="*/ 0 w 5257799"/>
              <a:gd name="connsiteY6-52" fmla="*/ 2723333 h 2906924"/>
              <a:gd name="connsiteX7-53" fmla="*/ 0 w 5257799"/>
              <a:gd name="connsiteY7-54" fmla="*/ 191551 h 2906924"/>
              <a:gd name="connsiteX8-55" fmla="*/ 183591 w 5257799"/>
              <a:gd name="connsiteY8-56" fmla="*/ 7960 h 2906924"/>
              <a:gd name="connsiteX9-57" fmla="*/ 398930 w 5257799"/>
              <a:gd name="connsiteY9-58" fmla="*/ 0 h 2906924"/>
              <a:gd name="connsiteX10-59" fmla="*/ 4961517 w 5257799"/>
              <a:gd name="connsiteY10-60" fmla="*/ 98163 h 2906924"/>
              <a:gd name="connsiteX0-61" fmla="*/ 4870077 w 5257799"/>
              <a:gd name="connsiteY0-62" fmla="*/ 6723 h 2906924"/>
              <a:gd name="connsiteX1-63" fmla="*/ 5074208 w 5257799"/>
              <a:gd name="connsiteY1-64" fmla="*/ 7960 h 2906924"/>
              <a:gd name="connsiteX2-65" fmla="*/ 5257799 w 5257799"/>
              <a:gd name="connsiteY2-66" fmla="*/ 191551 h 2906924"/>
              <a:gd name="connsiteX3-67" fmla="*/ 5257799 w 5257799"/>
              <a:gd name="connsiteY3-68" fmla="*/ 2723333 h 2906924"/>
              <a:gd name="connsiteX4-69" fmla="*/ 5074208 w 5257799"/>
              <a:gd name="connsiteY4-70" fmla="*/ 2906924 h 2906924"/>
              <a:gd name="connsiteX5-71" fmla="*/ 183591 w 5257799"/>
              <a:gd name="connsiteY5-72" fmla="*/ 2906924 h 2906924"/>
              <a:gd name="connsiteX6-73" fmla="*/ 0 w 5257799"/>
              <a:gd name="connsiteY6-74" fmla="*/ 2723333 h 2906924"/>
              <a:gd name="connsiteX7-75" fmla="*/ 0 w 5257799"/>
              <a:gd name="connsiteY7-76" fmla="*/ 191551 h 2906924"/>
              <a:gd name="connsiteX8-77" fmla="*/ 183591 w 5257799"/>
              <a:gd name="connsiteY8-78" fmla="*/ 7960 h 2906924"/>
              <a:gd name="connsiteX9-79" fmla="*/ 398930 w 5257799"/>
              <a:gd name="connsiteY9-80" fmla="*/ 0 h 2906924"/>
              <a:gd name="connsiteX0-81" fmla="*/ 4870077 w 5257799"/>
              <a:gd name="connsiteY0-82" fmla="*/ 0 h 2900201"/>
              <a:gd name="connsiteX1-83" fmla="*/ 5074208 w 5257799"/>
              <a:gd name="connsiteY1-84" fmla="*/ 1237 h 2900201"/>
              <a:gd name="connsiteX2-85" fmla="*/ 5257799 w 5257799"/>
              <a:gd name="connsiteY2-86" fmla="*/ 184828 h 2900201"/>
              <a:gd name="connsiteX3-87" fmla="*/ 5257799 w 5257799"/>
              <a:gd name="connsiteY3-88" fmla="*/ 2716610 h 2900201"/>
              <a:gd name="connsiteX4-89" fmla="*/ 5074208 w 5257799"/>
              <a:gd name="connsiteY4-90" fmla="*/ 2900201 h 2900201"/>
              <a:gd name="connsiteX5-91" fmla="*/ 183591 w 5257799"/>
              <a:gd name="connsiteY5-92" fmla="*/ 2900201 h 2900201"/>
              <a:gd name="connsiteX6-93" fmla="*/ 0 w 5257799"/>
              <a:gd name="connsiteY6-94" fmla="*/ 2716610 h 2900201"/>
              <a:gd name="connsiteX7-95" fmla="*/ 0 w 5257799"/>
              <a:gd name="connsiteY7-96" fmla="*/ 184828 h 2900201"/>
              <a:gd name="connsiteX8-97" fmla="*/ 183591 w 5257799"/>
              <a:gd name="connsiteY8-98" fmla="*/ 1237 h 2900201"/>
              <a:gd name="connsiteX0-99" fmla="*/ 5074208 w 5257799"/>
              <a:gd name="connsiteY0-100" fmla="*/ 0 h 2898964"/>
              <a:gd name="connsiteX1-101" fmla="*/ 5257799 w 5257799"/>
              <a:gd name="connsiteY1-102" fmla="*/ 183591 h 2898964"/>
              <a:gd name="connsiteX2-103" fmla="*/ 5257799 w 5257799"/>
              <a:gd name="connsiteY2-104" fmla="*/ 2715373 h 2898964"/>
              <a:gd name="connsiteX3-105" fmla="*/ 5074208 w 5257799"/>
              <a:gd name="connsiteY3-106" fmla="*/ 2898964 h 2898964"/>
              <a:gd name="connsiteX4-107" fmla="*/ 183591 w 5257799"/>
              <a:gd name="connsiteY4-108" fmla="*/ 2898964 h 2898964"/>
              <a:gd name="connsiteX5-109" fmla="*/ 0 w 5257799"/>
              <a:gd name="connsiteY5-110" fmla="*/ 2715373 h 2898964"/>
              <a:gd name="connsiteX6-111" fmla="*/ 0 w 5257799"/>
              <a:gd name="connsiteY6-112" fmla="*/ 183591 h 2898964"/>
              <a:gd name="connsiteX7-113" fmla="*/ 183591 w 5257799"/>
              <a:gd name="connsiteY7-114" fmla="*/ 0 h 289896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5257799" h="2898964">
                <a:moveTo>
                  <a:pt x="5074208" y="0"/>
                </a:moveTo>
                <a:cubicBezTo>
                  <a:pt x="5175603" y="0"/>
                  <a:pt x="5257799" y="82196"/>
                  <a:pt x="5257799" y="183591"/>
                </a:cubicBezTo>
                <a:lnTo>
                  <a:pt x="5257799" y="2715373"/>
                </a:lnTo>
                <a:cubicBezTo>
                  <a:pt x="5257799" y="2816768"/>
                  <a:pt x="5175603" y="2898964"/>
                  <a:pt x="5074208" y="2898964"/>
                </a:cubicBezTo>
                <a:lnTo>
                  <a:pt x="183591" y="2898964"/>
                </a:lnTo>
                <a:cubicBezTo>
                  <a:pt x="82196" y="2898964"/>
                  <a:pt x="0" y="2816768"/>
                  <a:pt x="0" y="2715373"/>
                </a:cubicBezTo>
                <a:lnTo>
                  <a:pt x="0" y="183591"/>
                </a:lnTo>
                <a:cubicBezTo>
                  <a:pt x="0" y="82196"/>
                  <a:pt x="82196" y="0"/>
                  <a:pt x="183591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3" name="文本框 522"/>
          <p:cNvSpPr txBox="1"/>
          <p:nvPr/>
        </p:nvSpPr>
        <p:spPr>
          <a:xfrm>
            <a:off x="1976234" y="6007534"/>
            <a:ext cx="3688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Dual-domain Cross-attention Module</a:t>
            </a:r>
            <a:endParaRPr lang="zh-CN" altLang="en-US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5" name="文本框 534"/>
          <p:cNvSpPr txBox="1"/>
          <p:nvPr/>
        </p:nvSpPr>
        <p:spPr>
          <a:xfrm>
            <a:off x="6313221" y="3119491"/>
            <a:ext cx="920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Fused Features</a:t>
            </a:r>
            <a:endParaRPr lang="en-US" altLang="zh-CN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grpSp>
        <p:nvGrpSpPr>
          <p:cNvPr id="538" name="组合 537"/>
          <p:cNvGrpSpPr/>
          <p:nvPr/>
        </p:nvGrpSpPr>
        <p:grpSpPr>
          <a:xfrm>
            <a:off x="6304373" y="2998751"/>
            <a:ext cx="216000" cy="216000"/>
            <a:chOff x="6047417" y="5336099"/>
            <a:chExt cx="288000" cy="288000"/>
          </a:xfrm>
        </p:grpSpPr>
        <p:sp>
          <p:nvSpPr>
            <p:cNvPr id="539" name="椭圆 538"/>
            <p:cNvSpPr/>
            <p:nvPr/>
          </p:nvSpPr>
          <p:spPr>
            <a:xfrm>
              <a:off x="6047417" y="5336099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0" name="直接连接符 539"/>
            <p:cNvCxnSpPr>
              <a:stCxn id="539" idx="2"/>
              <a:endCxn id="539" idx="6"/>
            </p:cNvCxnSpPr>
            <p:nvPr/>
          </p:nvCxnSpPr>
          <p:spPr>
            <a:xfrm>
              <a:off x="6047417" y="5480099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直接连接符 540"/>
            <p:cNvCxnSpPr>
              <a:stCxn id="539" idx="0"/>
              <a:endCxn id="539" idx="4"/>
            </p:cNvCxnSpPr>
            <p:nvPr/>
          </p:nvCxnSpPr>
          <p:spPr>
            <a:xfrm>
              <a:off x="6191417" y="5336099"/>
              <a:ext cx="0" cy="28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1" name="直接箭头连接符 570"/>
          <p:cNvCxnSpPr/>
          <p:nvPr/>
        </p:nvCxnSpPr>
        <p:spPr>
          <a:xfrm>
            <a:off x="6412272" y="2806056"/>
            <a:ext cx="0" cy="208434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连接符: 肘形 577"/>
          <p:cNvCxnSpPr>
            <a:stCxn id="519" idx="5"/>
            <a:endCxn id="539" idx="2"/>
          </p:cNvCxnSpPr>
          <p:nvPr/>
        </p:nvCxnSpPr>
        <p:spPr>
          <a:xfrm flipV="1">
            <a:off x="4572968" y="3106751"/>
            <a:ext cx="1731405" cy="2841165"/>
          </a:xfrm>
          <a:prstGeom prst="bentConnector3">
            <a:avLst>
              <a:gd name="adj1" fmla="val 73839"/>
            </a:avLst>
          </a:prstGeom>
          <a:ln w="12700">
            <a:solidFill>
              <a:srgbClr val="F97BF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接箭头连接符 580"/>
          <p:cNvCxnSpPr/>
          <p:nvPr/>
        </p:nvCxnSpPr>
        <p:spPr>
          <a:xfrm>
            <a:off x="6412714" y="3249837"/>
            <a:ext cx="0" cy="227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3" name="组合 582"/>
          <p:cNvGrpSpPr/>
          <p:nvPr/>
        </p:nvGrpSpPr>
        <p:grpSpPr>
          <a:xfrm>
            <a:off x="6092284" y="3521939"/>
            <a:ext cx="787771" cy="126417"/>
            <a:chOff x="2996246" y="3916743"/>
            <a:chExt cx="787771" cy="126417"/>
          </a:xfrm>
        </p:grpSpPr>
        <p:sp>
          <p:nvSpPr>
            <p:cNvPr id="584" name="立方体 583"/>
            <p:cNvSpPr/>
            <p:nvPr/>
          </p:nvSpPr>
          <p:spPr>
            <a:xfrm>
              <a:off x="2996246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5" name="立方体 584"/>
            <p:cNvSpPr/>
            <p:nvPr/>
          </p:nvSpPr>
          <p:spPr>
            <a:xfrm>
              <a:off x="3163020" y="3916745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6" name="立方体 585"/>
            <p:cNvSpPr/>
            <p:nvPr/>
          </p:nvSpPr>
          <p:spPr>
            <a:xfrm>
              <a:off x="3326156" y="3916744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7" name="立方体 586"/>
            <p:cNvSpPr/>
            <p:nvPr/>
          </p:nvSpPr>
          <p:spPr>
            <a:xfrm>
              <a:off x="349601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rgbClr val="FEE2F5"/>
            </a:solidFill>
            <a:ln w="9525">
              <a:solidFill>
                <a:srgbClr val="F97B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8" name="立方体 587"/>
            <p:cNvSpPr/>
            <p:nvPr/>
          </p:nvSpPr>
          <p:spPr>
            <a:xfrm>
              <a:off x="3656066" y="3916743"/>
              <a:ext cx="127951" cy="126415"/>
            </a:xfrm>
            <a:prstGeom prst="cube">
              <a:avLst>
                <a:gd name="adj" fmla="val 13750"/>
              </a:avLst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93" name="文本框 592"/>
          <p:cNvSpPr txBox="1"/>
          <p:nvPr/>
        </p:nvSpPr>
        <p:spPr>
          <a:xfrm rot="5400000">
            <a:off x="5911522" y="4386835"/>
            <a:ext cx="2357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omic Sans MS" panose="030F0702030302020204" pitchFamily="66" charset="0"/>
                <a:cs typeface="Times New Roman" panose="02020603050405020304" pitchFamily="18" charset="0"/>
              </a:rPr>
              <a:t>Topological Embedding</a:t>
            </a:r>
            <a:endParaRPr lang="en-US" altLang="zh-CN" sz="16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96" name="矩形: 圆角 595"/>
          <p:cNvSpPr/>
          <p:nvPr/>
        </p:nvSpPr>
        <p:spPr>
          <a:xfrm rot="5400000">
            <a:off x="4858741" y="3960722"/>
            <a:ext cx="3285813" cy="1174681"/>
          </a:xfrm>
          <a:custGeom>
            <a:avLst/>
            <a:gdLst>
              <a:gd name="connsiteX0" fmla="*/ 0 w 3285813"/>
              <a:gd name="connsiteY0" fmla="*/ 186093 h 1116533"/>
              <a:gd name="connsiteX1" fmla="*/ 186093 w 3285813"/>
              <a:gd name="connsiteY1" fmla="*/ 0 h 1116533"/>
              <a:gd name="connsiteX2" fmla="*/ 3099720 w 3285813"/>
              <a:gd name="connsiteY2" fmla="*/ 0 h 1116533"/>
              <a:gd name="connsiteX3" fmla="*/ 3285813 w 3285813"/>
              <a:gd name="connsiteY3" fmla="*/ 186093 h 1116533"/>
              <a:gd name="connsiteX4" fmla="*/ 3285813 w 3285813"/>
              <a:gd name="connsiteY4" fmla="*/ 930440 h 1116533"/>
              <a:gd name="connsiteX5" fmla="*/ 3099720 w 3285813"/>
              <a:gd name="connsiteY5" fmla="*/ 1116533 h 1116533"/>
              <a:gd name="connsiteX6" fmla="*/ 186093 w 3285813"/>
              <a:gd name="connsiteY6" fmla="*/ 1116533 h 1116533"/>
              <a:gd name="connsiteX7" fmla="*/ 0 w 3285813"/>
              <a:gd name="connsiteY7" fmla="*/ 930440 h 1116533"/>
              <a:gd name="connsiteX8" fmla="*/ 0 w 3285813"/>
              <a:gd name="connsiteY8" fmla="*/ 186093 h 1116533"/>
              <a:gd name="connsiteX0-1" fmla="*/ 0 w 3285813"/>
              <a:gd name="connsiteY0-2" fmla="*/ 186093 h 1116533"/>
              <a:gd name="connsiteX1-3" fmla="*/ 186093 w 3285813"/>
              <a:gd name="connsiteY1-4" fmla="*/ 0 h 1116533"/>
              <a:gd name="connsiteX2-5" fmla="*/ 2840126 w 3285813"/>
              <a:gd name="connsiteY2-6" fmla="*/ 3084 h 1116533"/>
              <a:gd name="connsiteX3-7" fmla="*/ 3099720 w 3285813"/>
              <a:gd name="connsiteY3-8" fmla="*/ 0 h 1116533"/>
              <a:gd name="connsiteX4-9" fmla="*/ 3285813 w 3285813"/>
              <a:gd name="connsiteY4-10" fmla="*/ 186093 h 1116533"/>
              <a:gd name="connsiteX5-11" fmla="*/ 3285813 w 3285813"/>
              <a:gd name="connsiteY5-12" fmla="*/ 930440 h 1116533"/>
              <a:gd name="connsiteX6-13" fmla="*/ 3099720 w 3285813"/>
              <a:gd name="connsiteY6-14" fmla="*/ 1116533 h 1116533"/>
              <a:gd name="connsiteX7-15" fmla="*/ 186093 w 3285813"/>
              <a:gd name="connsiteY7-16" fmla="*/ 1116533 h 1116533"/>
              <a:gd name="connsiteX8-17" fmla="*/ 0 w 3285813"/>
              <a:gd name="connsiteY8-18" fmla="*/ 930440 h 1116533"/>
              <a:gd name="connsiteX9" fmla="*/ 0 w 3285813"/>
              <a:gd name="connsiteY9" fmla="*/ 186093 h 1116533"/>
              <a:gd name="connsiteX0-19" fmla="*/ 0 w 3285813"/>
              <a:gd name="connsiteY0-20" fmla="*/ 189359 h 1119799"/>
              <a:gd name="connsiteX1-21" fmla="*/ 186093 w 3285813"/>
              <a:gd name="connsiteY1-22" fmla="*/ 3266 h 1119799"/>
              <a:gd name="connsiteX2-23" fmla="*/ 503326 w 3285813"/>
              <a:gd name="connsiteY2-24" fmla="*/ 0 h 1119799"/>
              <a:gd name="connsiteX3-25" fmla="*/ 2840126 w 3285813"/>
              <a:gd name="connsiteY3-26" fmla="*/ 6350 h 1119799"/>
              <a:gd name="connsiteX4-27" fmla="*/ 3099720 w 3285813"/>
              <a:gd name="connsiteY4-28" fmla="*/ 3266 h 1119799"/>
              <a:gd name="connsiteX5-29" fmla="*/ 3285813 w 3285813"/>
              <a:gd name="connsiteY5-30" fmla="*/ 189359 h 1119799"/>
              <a:gd name="connsiteX6-31" fmla="*/ 3285813 w 3285813"/>
              <a:gd name="connsiteY6-32" fmla="*/ 933706 h 1119799"/>
              <a:gd name="connsiteX7-33" fmla="*/ 3099720 w 3285813"/>
              <a:gd name="connsiteY7-34" fmla="*/ 1119799 h 1119799"/>
              <a:gd name="connsiteX8-35" fmla="*/ 186093 w 3285813"/>
              <a:gd name="connsiteY8-36" fmla="*/ 1119799 h 1119799"/>
              <a:gd name="connsiteX9-37" fmla="*/ 0 w 3285813"/>
              <a:gd name="connsiteY9-38" fmla="*/ 933706 h 1119799"/>
              <a:gd name="connsiteX10" fmla="*/ 0 w 3285813"/>
              <a:gd name="connsiteY10" fmla="*/ 189359 h 1119799"/>
              <a:gd name="connsiteX0-39" fmla="*/ 2840126 w 3285813"/>
              <a:gd name="connsiteY0-40" fmla="*/ 6350 h 1119799"/>
              <a:gd name="connsiteX1-41" fmla="*/ 3099720 w 3285813"/>
              <a:gd name="connsiteY1-42" fmla="*/ 3266 h 1119799"/>
              <a:gd name="connsiteX2-43" fmla="*/ 3285813 w 3285813"/>
              <a:gd name="connsiteY2-44" fmla="*/ 189359 h 1119799"/>
              <a:gd name="connsiteX3-45" fmla="*/ 3285813 w 3285813"/>
              <a:gd name="connsiteY3-46" fmla="*/ 933706 h 1119799"/>
              <a:gd name="connsiteX4-47" fmla="*/ 3099720 w 3285813"/>
              <a:gd name="connsiteY4-48" fmla="*/ 1119799 h 1119799"/>
              <a:gd name="connsiteX5-49" fmla="*/ 186093 w 3285813"/>
              <a:gd name="connsiteY5-50" fmla="*/ 1119799 h 1119799"/>
              <a:gd name="connsiteX6-51" fmla="*/ 0 w 3285813"/>
              <a:gd name="connsiteY6-52" fmla="*/ 933706 h 1119799"/>
              <a:gd name="connsiteX7-53" fmla="*/ 0 w 3285813"/>
              <a:gd name="connsiteY7-54" fmla="*/ 189359 h 1119799"/>
              <a:gd name="connsiteX8-55" fmla="*/ 186093 w 3285813"/>
              <a:gd name="connsiteY8-56" fmla="*/ 3266 h 1119799"/>
              <a:gd name="connsiteX9-57" fmla="*/ 503326 w 3285813"/>
              <a:gd name="connsiteY9-58" fmla="*/ 0 h 1119799"/>
              <a:gd name="connsiteX10-59" fmla="*/ 2931566 w 3285813"/>
              <a:gd name="connsiteY10-60" fmla="*/ 97790 h 1119799"/>
              <a:gd name="connsiteX0-61" fmla="*/ 2840126 w 3285813"/>
              <a:gd name="connsiteY0-62" fmla="*/ 6350 h 1119799"/>
              <a:gd name="connsiteX1-63" fmla="*/ 3099720 w 3285813"/>
              <a:gd name="connsiteY1-64" fmla="*/ 3266 h 1119799"/>
              <a:gd name="connsiteX2-65" fmla="*/ 3285813 w 3285813"/>
              <a:gd name="connsiteY2-66" fmla="*/ 189359 h 1119799"/>
              <a:gd name="connsiteX3-67" fmla="*/ 3285813 w 3285813"/>
              <a:gd name="connsiteY3-68" fmla="*/ 933706 h 1119799"/>
              <a:gd name="connsiteX4-69" fmla="*/ 3099720 w 3285813"/>
              <a:gd name="connsiteY4-70" fmla="*/ 1119799 h 1119799"/>
              <a:gd name="connsiteX5-71" fmla="*/ 186093 w 3285813"/>
              <a:gd name="connsiteY5-72" fmla="*/ 1119799 h 1119799"/>
              <a:gd name="connsiteX6-73" fmla="*/ 0 w 3285813"/>
              <a:gd name="connsiteY6-74" fmla="*/ 933706 h 1119799"/>
              <a:gd name="connsiteX7-75" fmla="*/ 0 w 3285813"/>
              <a:gd name="connsiteY7-76" fmla="*/ 189359 h 1119799"/>
              <a:gd name="connsiteX8-77" fmla="*/ 186093 w 3285813"/>
              <a:gd name="connsiteY8-78" fmla="*/ 3266 h 1119799"/>
              <a:gd name="connsiteX9-79" fmla="*/ 503326 w 3285813"/>
              <a:gd name="connsiteY9-80" fmla="*/ 0 h 11197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37" y="connsiteY9-38"/>
              </a:cxn>
            </a:cxnLst>
            <a:rect l="l" t="t" r="r" b="b"/>
            <a:pathLst>
              <a:path w="3285813" h="1119799">
                <a:moveTo>
                  <a:pt x="2840126" y="6350"/>
                </a:moveTo>
                <a:lnTo>
                  <a:pt x="3099720" y="3266"/>
                </a:lnTo>
                <a:cubicBezTo>
                  <a:pt x="3202496" y="3266"/>
                  <a:pt x="3285813" y="86583"/>
                  <a:pt x="3285813" y="189359"/>
                </a:cubicBezTo>
                <a:lnTo>
                  <a:pt x="3285813" y="933706"/>
                </a:lnTo>
                <a:cubicBezTo>
                  <a:pt x="3285813" y="1036482"/>
                  <a:pt x="3202496" y="1119799"/>
                  <a:pt x="3099720" y="1119799"/>
                </a:cubicBezTo>
                <a:lnTo>
                  <a:pt x="186093" y="1119799"/>
                </a:lnTo>
                <a:cubicBezTo>
                  <a:pt x="83317" y="1119799"/>
                  <a:pt x="0" y="1036482"/>
                  <a:pt x="0" y="933706"/>
                </a:cubicBezTo>
                <a:lnTo>
                  <a:pt x="0" y="189359"/>
                </a:lnTo>
                <a:cubicBezTo>
                  <a:pt x="0" y="86583"/>
                  <a:pt x="83317" y="3266"/>
                  <a:pt x="186093" y="3266"/>
                </a:cubicBezTo>
                <a:lnTo>
                  <a:pt x="503326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04" name="图片 60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2775" y="3621475"/>
            <a:ext cx="346570" cy="346570"/>
          </a:xfrm>
          <a:prstGeom prst="rect">
            <a:avLst/>
          </a:prstGeom>
        </p:spPr>
      </p:pic>
      <p:sp>
        <p:nvSpPr>
          <p:cNvPr id="607" name="文本框 606"/>
          <p:cNvSpPr txBox="1"/>
          <p:nvPr/>
        </p:nvSpPr>
        <p:spPr>
          <a:xfrm>
            <a:off x="6076921" y="3685239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Embedding_1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08" name="图片 60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9125" y="4402525"/>
            <a:ext cx="346570" cy="346570"/>
          </a:xfrm>
          <a:prstGeom prst="rect">
            <a:avLst/>
          </a:prstGeom>
        </p:spPr>
      </p:pic>
      <p:sp>
        <p:nvSpPr>
          <p:cNvPr id="609" name="文本框 608"/>
          <p:cNvSpPr txBox="1"/>
          <p:nvPr/>
        </p:nvSpPr>
        <p:spPr>
          <a:xfrm>
            <a:off x="6083271" y="4466289"/>
            <a:ext cx="12640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Embedding_2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610" name="图片 60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9125" y="5241029"/>
            <a:ext cx="346570" cy="346570"/>
          </a:xfrm>
          <a:prstGeom prst="rect">
            <a:avLst/>
          </a:prstGeom>
        </p:spPr>
      </p:pic>
      <p:sp>
        <p:nvSpPr>
          <p:cNvPr id="611" name="文本框 610"/>
          <p:cNvSpPr txBox="1"/>
          <p:nvPr/>
        </p:nvSpPr>
        <p:spPr>
          <a:xfrm>
            <a:off x="6083271" y="5304793"/>
            <a:ext cx="10057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Embedding_3</a:t>
            </a:r>
            <a:endParaRPr lang="en-US" altLang="zh-CN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3" name="矩形 612"/>
          <p:cNvSpPr/>
          <p:nvPr/>
        </p:nvSpPr>
        <p:spPr>
          <a:xfrm>
            <a:off x="6111663" y="4047658"/>
            <a:ext cx="121017" cy="146293"/>
          </a:xfrm>
          <a:prstGeom prst="rect">
            <a:avLst/>
          </a:prstGeom>
          <a:solidFill>
            <a:srgbClr val="D5F1FF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4" name="矩形 613"/>
          <p:cNvSpPr/>
          <p:nvPr/>
        </p:nvSpPr>
        <p:spPr>
          <a:xfrm>
            <a:off x="6106522" y="4259976"/>
            <a:ext cx="121017" cy="146293"/>
          </a:xfrm>
          <a:prstGeom prst="rect">
            <a:avLst/>
          </a:prstGeom>
          <a:solidFill>
            <a:srgbClr val="FEDEEC"/>
          </a:solidFill>
          <a:ln>
            <a:solidFill>
              <a:srgbClr val="F7B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文本框 614"/>
          <p:cNvSpPr txBox="1"/>
          <p:nvPr/>
        </p:nvSpPr>
        <p:spPr>
          <a:xfrm>
            <a:off x="6273277" y="4013848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9DC3E6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Frontal</a:t>
            </a:r>
            <a:endParaRPr lang="zh-CN" altLang="en-US" sz="1000" dirty="0">
              <a:solidFill>
                <a:srgbClr val="9DC3E6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6" name="文本框 615"/>
          <p:cNvSpPr txBox="1"/>
          <p:nvPr/>
        </p:nvSpPr>
        <p:spPr>
          <a:xfrm>
            <a:off x="6259953" y="4211113"/>
            <a:ext cx="693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7B5F9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Parietal</a:t>
            </a:r>
            <a:endParaRPr lang="zh-CN" altLang="en-US" sz="1000" dirty="0">
              <a:solidFill>
                <a:srgbClr val="F7B5F9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7" name="文本框 616"/>
          <p:cNvSpPr txBox="1"/>
          <p:nvPr/>
        </p:nvSpPr>
        <p:spPr>
          <a:xfrm>
            <a:off x="6305078" y="4251167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18" name="矩形 617"/>
          <p:cNvSpPr/>
          <p:nvPr/>
        </p:nvSpPr>
        <p:spPr>
          <a:xfrm>
            <a:off x="5997744" y="4818620"/>
            <a:ext cx="121017" cy="1462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9" name="矩形 618"/>
          <p:cNvSpPr/>
          <p:nvPr/>
        </p:nvSpPr>
        <p:spPr>
          <a:xfrm>
            <a:off x="5992603" y="5030938"/>
            <a:ext cx="121017" cy="14629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0" name="文本框 619"/>
          <p:cNvSpPr txBox="1"/>
          <p:nvPr/>
        </p:nvSpPr>
        <p:spPr>
          <a:xfrm>
            <a:off x="6159358" y="4784810"/>
            <a:ext cx="897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(Frontal) Fz</a:t>
            </a:r>
            <a:endParaRPr lang="zh-CN" altLang="en-US" sz="1000" dirty="0">
              <a:solidFill>
                <a:schemeClr val="accent4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1" name="文本框 620"/>
          <p:cNvSpPr txBox="1"/>
          <p:nvPr/>
        </p:nvSpPr>
        <p:spPr>
          <a:xfrm>
            <a:off x="6146033" y="4982075"/>
            <a:ext cx="9429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(Parietal) </a:t>
            </a:r>
            <a:r>
              <a:rPr lang="en-US" altLang="zh-CN" sz="1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endParaRPr lang="zh-CN" altLang="en-US" sz="1000" dirty="0">
              <a:solidFill>
                <a:schemeClr val="accent6">
                  <a:lumMod val="60000"/>
                  <a:lumOff val="4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6318911" y="5062473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4" name="文本框 623"/>
          <p:cNvSpPr txBox="1"/>
          <p:nvPr/>
        </p:nvSpPr>
        <p:spPr>
          <a:xfrm>
            <a:off x="5989108" y="3839600"/>
            <a:ext cx="11177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region_embedding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5" name="文本框 624"/>
          <p:cNvSpPr txBox="1"/>
          <p:nvPr/>
        </p:nvSpPr>
        <p:spPr>
          <a:xfrm>
            <a:off x="5934423" y="4629091"/>
            <a:ext cx="11342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reg_pos_embedding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7" name="文本框 626"/>
          <p:cNvSpPr txBox="1"/>
          <p:nvPr/>
        </p:nvSpPr>
        <p:spPr>
          <a:xfrm>
            <a:off x="5910982" y="5476840"/>
            <a:ext cx="12539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>
                <a:solidFill>
                  <a:schemeClr val="bg1">
                    <a:lumMod val="50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positional_embedding</a:t>
            </a:r>
            <a:endParaRPr lang="zh-CN" altLang="en-US" sz="800" dirty="0">
              <a:solidFill>
                <a:schemeClr val="bg1">
                  <a:lumMod val="50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8" name="矩形 627"/>
          <p:cNvSpPr/>
          <p:nvPr/>
        </p:nvSpPr>
        <p:spPr>
          <a:xfrm>
            <a:off x="6220502" y="5676993"/>
            <a:ext cx="121017" cy="146293"/>
          </a:xfrm>
          <a:prstGeom prst="rect">
            <a:avLst/>
          </a:prstGeom>
          <a:solidFill>
            <a:srgbClr val="EAE9E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9" name="矩形 628"/>
          <p:cNvSpPr/>
          <p:nvPr/>
        </p:nvSpPr>
        <p:spPr>
          <a:xfrm>
            <a:off x="6222085" y="5889311"/>
            <a:ext cx="121017" cy="146293"/>
          </a:xfrm>
          <a:prstGeom prst="rect">
            <a:avLst/>
          </a:prstGeom>
          <a:solidFill>
            <a:srgbClr val="E1B4FA"/>
          </a:solidFill>
          <a:ln>
            <a:solidFill>
              <a:srgbClr val="B17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0" name="文本框 629"/>
          <p:cNvSpPr txBox="1"/>
          <p:nvPr/>
        </p:nvSpPr>
        <p:spPr>
          <a:xfrm>
            <a:off x="6382116" y="5643183"/>
            <a:ext cx="5271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Fz: 0</a:t>
            </a:r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6395687" y="5840448"/>
            <a:ext cx="4597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Pz</a:t>
            </a:r>
            <a:r>
              <a:rPr lang="en-US" altLang="zh-CN" sz="1000" dirty="0">
                <a:solidFill>
                  <a:srgbClr val="B174F4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: 1</a:t>
            </a:r>
            <a:endParaRPr lang="zh-CN" altLang="en-US" sz="1000" dirty="0">
              <a:solidFill>
                <a:srgbClr val="B174F4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32" name="文本框 631"/>
          <p:cNvSpPr txBox="1"/>
          <p:nvPr/>
        </p:nvSpPr>
        <p:spPr>
          <a:xfrm>
            <a:off x="6333236" y="5920846"/>
            <a:ext cx="51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……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623" name="矩形 622"/>
          <p:cNvSpPr/>
          <p:nvPr/>
        </p:nvSpPr>
        <p:spPr>
          <a:xfrm>
            <a:off x="9187652" y="5008356"/>
            <a:ext cx="400050" cy="279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6" name="矩形 625"/>
          <p:cNvSpPr/>
          <p:nvPr/>
        </p:nvSpPr>
        <p:spPr>
          <a:xfrm>
            <a:off x="10654502" y="5008356"/>
            <a:ext cx="400050" cy="279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8363381" y="1383431"/>
            <a:ext cx="1955617" cy="1458556"/>
          </a:xfrm>
          <a:prstGeom prst="roundRect">
            <a:avLst>
              <a:gd name="adj" fmla="val 10213"/>
            </a:avLst>
          </a:prstGeom>
          <a:solidFill>
            <a:srgbClr val="FFFBFF"/>
          </a:solidFill>
          <a:ln>
            <a:solidFill>
              <a:srgbClr val="FD6BEC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8202053" y="3344819"/>
            <a:ext cx="1452282" cy="362412"/>
            <a:chOff x="8202053" y="3344819"/>
            <a:chExt cx="1452282" cy="362412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202053" y="3707231"/>
              <a:ext cx="145228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8410542" y="3344819"/>
              <a:ext cx="177456" cy="362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8724307" y="3506400"/>
              <a:ext cx="177456" cy="2008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9036374" y="3646914"/>
              <a:ext cx="177456" cy="603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9337717" y="3429000"/>
              <a:ext cx="177456" cy="278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8354453" y="3497219"/>
            <a:ext cx="1452282" cy="362412"/>
            <a:chOff x="8202053" y="3344819"/>
            <a:chExt cx="1452282" cy="362412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8202053" y="3707231"/>
              <a:ext cx="1452282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8410542" y="3344819"/>
              <a:ext cx="177456" cy="36241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8724307" y="3506400"/>
              <a:ext cx="177456" cy="20082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9036374" y="3646914"/>
              <a:ext cx="177456" cy="603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8" name="矩形 447"/>
            <p:cNvSpPr/>
            <p:nvPr/>
          </p:nvSpPr>
          <p:spPr>
            <a:xfrm>
              <a:off x="9337717" y="3429000"/>
              <a:ext cx="177456" cy="278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>
            <a:spLocks noChangeAspect="1"/>
          </p:cNvSpPr>
          <p:nvPr/>
        </p:nvSpPr>
        <p:spPr>
          <a:xfrm>
            <a:off x="8105018" y="5481086"/>
            <a:ext cx="360000" cy="360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: 圆角 99"/>
          <p:cNvSpPr/>
          <p:nvPr/>
        </p:nvSpPr>
        <p:spPr>
          <a:xfrm>
            <a:off x="224470" y="571870"/>
            <a:ext cx="2948058" cy="4787900"/>
          </a:xfrm>
          <a:prstGeom prst="roundRect">
            <a:avLst>
              <a:gd name="adj" fmla="val 8733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: 圆角 488"/>
          <p:cNvSpPr/>
          <p:nvPr/>
        </p:nvSpPr>
        <p:spPr>
          <a:xfrm>
            <a:off x="3292566" y="571870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文本框 497"/>
          <p:cNvSpPr txBox="1"/>
          <p:nvPr/>
        </p:nvSpPr>
        <p:spPr>
          <a:xfrm>
            <a:off x="3595232" y="611101"/>
            <a:ext cx="384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pretrained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图形 1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474" b="7834"/>
          <a:stretch>
            <a:fillRect/>
          </a:stretch>
        </p:blipFill>
        <p:spPr>
          <a:xfrm>
            <a:off x="3478311" y="918878"/>
            <a:ext cx="3819098" cy="3511603"/>
          </a:xfrm>
          <a:prstGeom prst="rect">
            <a:avLst/>
          </a:prstGeom>
        </p:spPr>
      </p:pic>
      <p:sp>
        <p:nvSpPr>
          <p:cNvPr id="511" name="矩形: 圆角 510"/>
          <p:cNvSpPr/>
          <p:nvPr/>
        </p:nvSpPr>
        <p:spPr>
          <a:xfrm>
            <a:off x="7590906" y="584113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7" name="文本框 506"/>
          <p:cNvSpPr txBox="1"/>
          <p:nvPr/>
        </p:nvSpPr>
        <p:spPr>
          <a:xfrm>
            <a:off x="8106907" y="611101"/>
            <a:ext cx="32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图形 1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3051"/>
          <a:stretch>
            <a:fillRect/>
          </a:stretch>
        </p:blipFill>
        <p:spPr>
          <a:xfrm>
            <a:off x="7798932" y="862121"/>
            <a:ext cx="3775622" cy="3509924"/>
          </a:xfrm>
          <a:prstGeom prst="rect">
            <a:avLst/>
          </a:prstGeom>
        </p:spPr>
      </p:pic>
      <p:pic>
        <p:nvPicPr>
          <p:cNvPr id="512" name="图形 511" descr="大脑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1840" y="260"/>
            <a:ext cx="588150" cy="588150"/>
          </a:xfrm>
          <a:prstGeom prst="rect">
            <a:avLst/>
          </a:prstGeom>
        </p:spPr>
      </p:pic>
      <p:pic>
        <p:nvPicPr>
          <p:cNvPr id="514" name="图形 513" descr="聊天 纯色填充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1557" y="528338"/>
            <a:ext cx="528361" cy="528361"/>
          </a:xfrm>
          <a:prstGeom prst="rect">
            <a:avLst/>
          </a:prstGeom>
        </p:spPr>
      </p:pic>
      <p:pic>
        <p:nvPicPr>
          <p:cNvPr id="521" name="图形 520" descr="清单 纯色填充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4915" y="2195272"/>
            <a:ext cx="469089" cy="469089"/>
          </a:xfrm>
          <a:prstGeom prst="rect">
            <a:avLst/>
          </a:prstGeom>
        </p:spPr>
      </p:pic>
      <p:sp>
        <p:nvSpPr>
          <p:cNvPr id="524" name="矩形: 圆角 523"/>
          <p:cNvSpPr/>
          <p:nvPr/>
        </p:nvSpPr>
        <p:spPr>
          <a:xfrm>
            <a:off x="306359" y="816255"/>
            <a:ext cx="2794120" cy="1368515"/>
          </a:xfrm>
          <a:custGeom>
            <a:avLst/>
            <a:gdLst>
              <a:gd name="connsiteX0" fmla="*/ 0 w 2485453"/>
              <a:gd name="connsiteY0" fmla="*/ 80312 h 786367"/>
              <a:gd name="connsiteX1" fmla="*/ 80312 w 2485453"/>
              <a:gd name="connsiteY1" fmla="*/ 0 h 786367"/>
              <a:gd name="connsiteX2" fmla="*/ 2405141 w 2485453"/>
              <a:gd name="connsiteY2" fmla="*/ 0 h 786367"/>
              <a:gd name="connsiteX3" fmla="*/ 2485453 w 2485453"/>
              <a:gd name="connsiteY3" fmla="*/ 80312 h 786367"/>
              <a:gd name="connsiteX4" fmla="*/ 2485453 w 2485453"/>
              <a:gd name="connsiteY4" fmla="*/ 706055 h 786367"/>
              <a:gd name="connsiteX5" fmla="*/ 2405141 w 2485453"/>
              <a:gd name="connsiteY5" fmla="*/ 786367 h 786367"/>
              <a:gd name="connsiteX6" fmla="*/ 80312 w 2485453"/>
              <a:gd name="connsiteY6" fmla="*/ 786367 h 786367"/>
              <a:gd name="connsiteX7" fmla="*/ 0 w 2485453"/>
              <a:gd name="connsiteY7" fmla="*/ 706055 h 786367"/>
              <a:gd name="connsiteX8" fmla="*/ 0 w 2485453"/>
              <a:gd name="connsiteY8" fmla="*/ 80312 h 786367"/>
              <a:gd name="connsiteX0-1" fmla="*/ 0 w 2485453"/>
              <a:gd name="connsiteY0-2" fmla="*/ 80908 h 786963"/>
              <a:gd name="connsiteX1-3" fmla="*/ 80312 w 2485453"/>
              <a:gd name="connsiteY1-4" fmla="*/ 596 h 786963"/>
              <a:gd name="connsiteX2-5" fmla="*/ 601512 w 2485453"/>
              <a:gd name="connsiteY2-6" fmla="*/ 0 h 786963"/>
              <a:gd name="connsiteX3-7" fmla="*/ 2405141 w 2485453"/>
              <a:gd name="connsiteY3-8" fmla="*/ 596 h 786963"/>
              <a:gd name="connsiteX4-9" fmla="*/ 2485453 w 2485453"/>
              <a:gd name="connsiteY4-10" fmla="*/ 80908 h 786963"/>
              <a:gd name="connsiteX5-11" fmla="*/ 2485453 w 2485453"/>
              <a:gd name="connsiteY5-12" fmla="*/ 706651 h 786963"/>
              <a:gd name="connsiteX6-13" fmla="*/ 2405141 w 2485453"/>
              <a:gd name="connsiteY6-14" fmla="*/ 786963 h 786963"/>
              <a:gd name="connsiteX7-15" fmla="*/ 80312 w 2485453"/>
              <a:gd name="connsiteY7-16" fmla="*/ 786963 h 786963"/>
              <a:gd name="connsiteX8-17" fmla="*/ 0 w 2485453"/>
              <a:gd name="connsiteY8-18" fmla="*/ 706651 h 786963"/>
              <a:gd name="connsiteX9" fmla="*/ 0 w 2485453"/>
              <a:gd name="connsiteY9" fmla="*/ 80908 h 786963"/>
              <a:gd name="connsiteX0-19" fmla="*/ 601512 w 2485453"/>
              <a:gd name="connsiteY0-20" fmla="*/ 0 h 786963"/>
              <a:gd name="connsiteX1-21" fmla="*/ 2405141 w 2485453"/>
              <a:gd name="connsiteY1-22" fmla="*/ 596 h 786963"/>
              <a:gd name="connsiteX2-23" fmla="*/ 2485453 w 2485453"/>
              <a:gd name="connsiteY2-24" fmla="*/ 80908 h 786963"/>
              <a:gd name="connsiteX3-25" fmla="*/ 2485453 w 2485453"/>
              <a:gd name="connsiteY3-26" fmla="*/ 706651 h 786963"/>
              <a:gd name="connsiteX4-27" fmla="*/ 2405141 w 2485453"/>
              <a:gd name="connsiteY4-28" fmla="*/ 786963 h 786963"/>
              <a:gd name="connsiteX5-29" fmla="*/ 80312 w 2485453"/>
              <a:gd name="connsiteY5-30" fmla="*/ 786963 h 786963"/>
              <a:gd name="connsiteX6-31" fmla="*/ 0 w 2485453"/>
              <a:gd name="connsiteY6-32" fmla="*/ 706651 h 786963"/>
              <a:gd name="connsiteX7-33" fmla="*/ 0 w 2485453"/>
              <a:gd name="connsiteY7-34" fmla="*/ 80908 h 786963"/>
              <a:gd name="connsiteX8-35" fmla="*/ 80312 w 2485453"/>
              <a:gd name="connsiteY8-36" fmla="*/ 596 h 786963"/>
              <a:gd name="connsiteX9-37" fmla="*/ 692952 w 2485453"/>
              <a:gd name="connsiteY9-38" fmla="*/ 91440 h 786963"/>
              <a:gd name="connsiteX0-39" fmla="*/ 601512 w 2485453"/>
              <a:gd name="connsiteY0-40" fmla="*/ 0 h 786963"/>
              <a:gd name="connsiteX1-41" fmla="*/ 2405141 w 2485453"/>
              <a:gd name="connsiteY1-42" fmla="*/ 596 h 786963"/>
              <a:gd name="connsiteX2-43" fmla="*/ 2485453 w 2485453"/>
              <a:gd name="connsiteY2-44" fmla="*/ 80908 h 786963"/>
              <a:gd name="connsiteX3-45" fmla="*/ 2485453 w 2485453"/>
              <a:gd name="connsiteY3-46" fmla="*/ 706651 h 786963"/>
              <a:gd name="connsiteX4-47" fmla="*/ 2405141 w 2485453"/>
              <a:gd name="connsiteY4-48" fmla="*/ 786963 h 786963"/>
              <a:gd name="connsiteX5-49" fmla="*/ 80312 w 2485453"/>
              <a:gd name="connsiteY5-50" fmla="*/ 786963 h 786963"/>
              <a:gd name="connsiteX6-51" fmla="*/ 0 w 2485453"/>
              <a:gd name="connsiteY6-52" fmla="*/ 706651 h 786963"/>
              <a:gd name="connsiteX7-53" fmla="*/ 0 w 2485453"/>
              <a:gd name="connsiteY7-54" fmla="*/ 80908 h 786963"/>
              <a:gd name="connsiteX8-55" fmla="*/ 80312 w 2485453"/>
              <a:gd name="connsiteY8-56" fmla="*/ 596 h 786963"/>
              <a:gd name="connsiteX0-57" fmla="*/ 601512 w 2485453"/>
              <a:gd name="connsiteY0-58" fmla="*/ 0 h 786963"/>
              <a:gd name="connsiteX1-59" fmla="*/ 2405141 w 2485453"/>
              <a:gd name="connsiteY1-60" fmla="*/ 596 h 786963"/>
              <a:gd name="connsiteX2-61" fmla="*/ 2485453 w 2485453"/>
              <a:gd name="connsiteY2-62" fmla="*/ 80908 h 786963"/>
              <a:gd name="connsiteX3-63" fmla="*/ 2485453 w 2485453"/>
              <a:gd name="connsiteY3-64" fmla="*/ 706651 h 786963"/>
              <a:gd name="connsiteX4-65" fmla="*/ 2405141 w 2485453"/>
              <a:gd name="connsiteY4-66" fmla="*/ 786963 h 786963"/>
              <a:gd name="connsiteX5-67" fmla="*/ 80312 w 2485453"/>
              <a:gd name="connsiteY5-68" fmla="*/ 786963 h 786963"/>
              <a:gd name="connsiteX6-69" fmla="*/ 0 w 2485453"/>
              <a:gd name="connsiteY6-70" fmla="*/ 706651 h 786963"/>
              <a:gd name="connsiteX7-71" fmla="*/ 0 w 2485453"/>
              <a:gd name="connsiteY7-72" fmla="*/ 80908 h 7869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85453" h="786963">
                <a:moveTo>
                  <a:pt x="601512" y="0"/>
                </a:moveTo>
                <a:lnTo>
                  <a:pt x="2405141" y="596"/>
                </a:lnTo>
                <a:cubicBezTo>
                  <a:pt x="2449496" y="596"/>
                  <a:pt x="2485453" y="36553"/>
                  <a:pt x="2485453" y="80908"/>
                </a:cubicBezTo>
                <a:lnTo>
                  <a:pt x="2485453" y="706651"/>
                </a:lnTo>
                <a:cubicBezTo>
                  <a:pt x="2485453" y="751006"/>
                  <a:pt x="2449496" y="786963"/>
                  <a:pt x="2405141" y="786963"/>
                </a:cubicBezTo>
                <a:lnTo>
                  <a:pt x="80312" y="786963"/>
                </a:lnTo>
                <a:cubicBezTo>
                  <a:pt x="35957" y="786963"/>
                  <a:pt x="0" y="751006"/>
                  <a:pt x="0" y="706651"/>
                </a:cubicBezTo>
                <a:lnTo>
                  <a:pt x="0" y="80908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5" name="文本框 524"/>
          <p:cNvSpPr txBox="1"/>
          <p:nvPr/>
        </p:nvSpPr>
        <p:spPr>
          <a:xfrm>
            <a:off x="303540" y="914853"/>
            <a:ext cx="26485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Q1: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What does the title </a:t>
            </a:r>
            <a:r>
              <a:rPr lang="en-US" altLang="zh-CN" sz="1000" dirty="0">
                <a:solidFill>
                  <a:srgbClr val="EE101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‘Unified’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mean?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26" name="文本框 525"/>
          <p:cNvSpPr txBox="1"/>
          <p:nvPr/>
        </p:nvSpPr>
        <p:spPr>
          <a:xfrm>
            <a:off x="297189" y="1189620"/>
            <a:ext cx="28335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Q2: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How to generate </a:t>
            </a:r>
            <a:r>
              <a:rPr lang="en-US" altLang="zh-CN" sz="1000" dirty="0">
                <a:solidFill>
                  <a:srgbClr val="EE101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spatial topology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for different brain regions and different electrodes?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27" name="文本框 526"/>
          <p:cNvSpPr txBox="1"/>
          <p:nvPr/>
        </p:nvSpPr>
        <p:spPr>
          <a:xfrm>
            <a:off x="303845" y="1738578"/>
            <a:ext cx="2924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Q3: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How to prove the superior performance of the Uni-NTFM?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28" name="矩形: 圆角 523"/>
          <p:cNvSpPr/>
          <p:nvPr/>
        </p:nvSpPr>
        <p:spPr>
          <a:xfrm>
            <a:off x="305079" y="2480387"/>
            <a:ext cx="2794120" cy="2796834"/>
          </a:xfrm>
          <a:custGeom>
            <a:avLst/>
            <a:gdLst>
              <a:gd name="connsiteX0" fmla="*/ 0 w 2485453"/>
              <a:gd name="connsiteY0" fmla="*/ 80312 h 786367"/>
              <a:gd name="connsiteX1" fmla="*/ 80312 w 2485453"/>
              <a:gd name="connsiteY1" fmla="*/ 0 h 786367"/>
              <a:gd name="connsiteX2" fmla="*/ 2405141 w 2485453"/>
              <a:gd name="connsiteY2" fmla="*/ 0 h 786367"/>
              <a:gd name="connsiteX3" fmla="*/ 2485453 w 2485453"/>
              <a:gd name="connsiteY3" fmla="*/ 80312 h 786367"/>
              <a:gd name="connsiteX4" fmla="*/ 2485453 w 2485453"/>
              <a:gd name="connsiteY4" fmla="*/ 706055 h 786367"/>
              <a:gd name="connsiteX5" fmla="*/ 2405141 w 2485453"/>
              <a:gd name="connsiteY5" fmla="*/ 786367 h 786367"/>
              <a:gd name="connsiteX6" fmla="*/ 80312 w 2485453"/>
              <a:gd name="connsiteY6" fmla="*/ 786367 h 786367"/>
              <a:gd name="connsiteX7" fmla="*/ 0 w 2485453"/>
              <a:gd name="connsiteY7" fmla="*/ 706055 h 786367"/>
              <a:gd name="connsiteX8" fmla="*/ 0 w 2485453"/>
              <a:gd name="connsiteY8" fmla="*/ 80312 h 786367"/>
              <a:gd name="connsiteX0-1" fmla="*/ 0 w 2485453"/>
              <a:gd name="connsiteY0-2" fmla="*/ 80908 h 786963"/>
              <a:gd name="connsiteX1-3" fmla="*/ 80312 w 2485453"/>
              <a:gd name="connsiteY1-4" fmla="*/ 596 h 786963"/>
              <a:gd name="connsiteX2-5" fmla="*/ 601512 w 2485453"/>
              <a:gd name="connsiteY2-6" fmla="*/ 0 h 786963"/>
              <a:gd name="connsiteX3-7" fmla="*/ 2405141 w 2485453"/>
              <a:gd name="connsiteY3-8" fmla="*/ 596 h 786963"/>
              <a:gd name="connsiteX4-9" fmla="*/ 2485453 w 2485453"/>
              <a:gd name="connsiteY4-10" fmla="*/ 80908 h 786963"/>
              <a:gd name="connsiteX5-11" fmla="*/ 2485453 w 2485453"/>
              <a:gd name="connsiteY5-12" fmla="*/ 706651 h 786963"/>
              <a:gd name="connsiteX6-13" fmla="*/ 2405141 w 2485453"/>
              <a:gd name="connsiteY6-14" fmla="*/ 786963 h 786963"/>
              <a:gd name="connsiteX7-15" fmla="*/ 80312 w 2485453"/>
              <a:gd name="connsiteY7-16" fmla="*/ 786963 h 786963"/>
              <a:gd name="connsiteX8-17" fmla="*/ 0 w 2485453"/>
              <a:gd name="connsiteY8-18" fmla="*/ 706651 h 786963"/>
              <a:gd name="connsiteX9" fmla="*/ 0 w 2485453"/>
              <a:gd name="connsiteY9" fmla="*/ 80908 h 786963"/>
              <a:gd name="connsiteX0-19" fmla="*/ 601512 w 2485453"/>
              <a:gd name="connsiteY0-20" fmla="*/ 0 h 786963"/>
              <a:gd name="connsiteX1-21" fmla="*/ 2405141 w 2485453"/>
              <a:gd name="connsiteY1-22" fmla="*/ 596 h 786963"/>
              <a:gd name="connsiteX2-23" fmla="*/ 2485453 w 2485453"/>
              <a:gd name="connsiteY2-24" fmla="*/ 80908 h 786963"/>
              <a:gd name="connsiteX3-25" fmla="*/ 2485453 w 2485453"/>
              <a:gd name="connsiteY3-26" fmla="*/ 706651 h 786963"/>
              <a:gd name="connsiteX4-27" fmla="*/ 2405141 w 2485453"/>
              <a:gd name="connsiteY4-28" fmla="*/ 786963 h 786963"/>
              <a:gd name="connsiteX5-29" fmla="*/ 80312 w 2485453"/>
              <a:gd name="connsiteY5-30" fmla="*/ 786963 h 786963"/>
              <a:gd name="connsiteX6-31" fmla="*/ 0 w 2485453"/>
              <a:gd name="connsiteY6-32" fmla="*/ 706651 h 786963"/>
              <a:gd name="connsiteX7-33" fmla="*/ 0 w 2485453"/>
              <a:gd name="connsiteY7-34" fmla="*/ 80908 h 786963"/>
              <a:gd name="connsiteX8-35" fmla="*/ 80312 w 2485453"/>
              <a:gd name="connsiteY8-36" fmla="*/ 596 h 786963"/>
              <a:gd name="connsiteX9-37" fmla="*/ 692952 w 2485453"/>
              <a:gd name="connsiteY9-38" fmla="*/ 91440 h 786963"/>
              <a:gd name="connsiteX0-39" fmla="*/ 601512 w 2485453"/>
              <a:gd name="connsiteY0-40" fmla="*/ 0 h 786963"/>
              <a:gd name="connsiteX1-41" fmla="*/ 2405141 w 2485453"/>
              <a:gd name="connsiteY1-42" fmla="*/ 596 h 786963"/>
              <a:gd name="connsiteX2-43" fmla="*/ 2485453 w 2485453"/>
              <a:gd name="connsiteY2-44" fmla="*/ 80908 h 786963"/>
              <a:gd name="connsiteX3-45" fmla="*/ 2485453 w 2485453"/>
              <a:gd name="connsiteY3-46" fmla="*/ 706651 h 786963"/>
              <a:gd name="connsiteX4-47" fmla="*/ 2405141 w 2485453"/>
              <a:gd name="connsiteY4-48" fmla="*/ 786963 h 786963"/>
              <a:gd name="connsiteX5-49" fmla="*/ 80312 w 2485453"/>
              <a:gd name="connsiteY5-50" fmla="*/ 786963 h 786963"/>
              <a:gd name="connsiteX6-51" fmla="*/ 0 w 2485453"/>
              <a:gd name="connsiteY6-52" fmla="*/ 706651 h 786963"/>
              <a:gd name="connsiteX7-53" fmla="*/ 0 w 2485453"/>
              <a:gd name="connsiteY7-54" fmla="*/ 80908 h 786963"/>
              <a:gd name="connsiteX8-55" fmla="*/ 80312 w 2485453"/>
              <a:gd name="connsiteY8-56" fmla="*/ 596 h 786963"/>
              <a:gd name="connsiteX0-57" fmla="*/ 601512 w 2485453"/>
              <a:gd name="connsiteY0-58" fmla="*/ 0 h 786963"/>
              <a:gd name="connsiteX1-59" fmla="*/ 2405141 w 2485453"/>
              <a:gd name="connsiteY1-60" fmla="*/ 596 h 786963"/>
              <a:gd name="connsiteX2-61" fmla="*/ 2485453 w 2485453"/>
              <a:gd name="connsiteY2-62" fmla="*/ 80908 h 786963"/>
              <a:gd name="connsiteX3-63" fmla="*/ 2485453 w 2485453"/>
              <a:gd name="connsiteY3-64" fmla="*/ 706651 h 786963"/>
              <a:gd name="connsiteX4-65" fmla="*/ 2405141 w 2485453"/>
              <a:gd name="connsiteY4-66" fmla="*/ 786963 h 786963"/>
              <a:gd name="connsiteX5-67" fmla="*/ 80312 w 2485453"/>
              <a:gd name="connsiteY5-68" fmla="*/ 786963 h 786963"/>
              <a:gd name="connsiteX6-69" fmla="*/ 0 w 2485453"/>
              <a:gd name="connsiteY6-70" fmla="*/ 706651 h 786963"/>
              <a:gd name="connsiteX7-71" fmla="*/ 0 w 2485453"/>
              <a:gd name="connsiteY7-72" fmla="*/ 80908 h 78696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2485453" h="786963">
                <a:moveTo>
                  <a:pt x="601512" y="0"/>
                </a:moveTo>
                <a:lnTo>
                  <a:pt x="2405141" y="596"/>
                </a:lnTo>
                <a:cubicBezTo>
                  <a:pt x="2449496" y="596"/>
                  <a:pt x="2485453" y="36553"/>
                  <a:pt x="2485453" y="80908"/>
                </a:cubicBezTo>
                <a:lnTo>
                  <a:pt x="2485453" y="706651"/>
                </a:lnTo>
                <a:cubicBezTo>
                  <a:pt x="2485453" y="751006"/>
                  <a:pt x="2449496" y="786963"/>
                  <a:pt x="2405141" y="786963"/>
                </a:cubicBezTo>
                <a:lnTo>
                  <a:pt x="80312" y="786963"/>
                </a:lnTo>
                <a:cubicBezTo>
                  <a:pt x="35957" y="786963"/>
                  <a:pt x="0" y="751006"/>
                  <a:pt x="0" y="706651"/>
                </a:cubicBezTo>
                <a:lnTo>
                  <a:pt x="0" y="80908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9" name="文本框 528"/>
          <p:cNvSpPr txBox="1"/>
          <p:nvPr/>
        </p:nvSpPr>
        <p:spPr>
          <a:xfrm>
            <a:off x="284796" y="2615065"/>
            <a:ext cx="25549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A1: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The term "Unified" refers to the unification of different international electrode standards and task paradigms. 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/>
          <p:cNvSpPr txBox="1"/>
          <p:nvPr/>
        </p:nvSpPr>
        <p:spPr>
          <a:xfrm>
            <a:off x="273989" y="3233799"/>
            <a:ext cx="28335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A2: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We implement spatial topology modeling via a structured prior injection strategy, encoding each electrode signal with three types of embedding, which enables the model establish dynamic, global functional interaction across all electrodes.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1" name="文本框 530"/>
          <p:cNvSpPr txBox="1"/>
          <p:nvPr/>
        </p:nvSpPr>
        <p:spPr>
          <a:xfrm>
            <a:off x="270159" y="4328203"/>
            <a:ext cx="28859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A3:</a:t>
            </a:r>
            <a:r>
              <a:rPr lang="en-US" altLang="zh-CN" sz="1000" dirty="0">
                <a:latin typeface="Comic Sans MS" panose="030F0702030302020204" pitchFamily="66" charset="0"/>
                <a:cs typeface="Times New Roman" panose="02020603050405020304" pitchFamily="18" charset="0"/>
              </a:rPr>
              <a:t> We evaluated Uni-NTFM by conducting linear probing and fine-tuning on datasets covering nine different tasks. The radar chart on the right qualitatively demonstrates the model's superior performance.</a:t>
            </a:r>
            <a:endParaRPr lang="zh-CN" altLang="en-US" sz="1000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33" name="文本框 532"/>
          <p:cNvSpPr txBox="1"/>
          <p:nvPr/>
        </p:nvSpPr>
        <p:spPr>
          <a:xfrm>
            <a:off x="2952043" y="116083"/>
            <a:ext cx="6220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mic Sans MS" panose="030F0702030302020204" pitchFamily="66" charset="0"/>
                <a:cs typeface="Times New Roman" panose="02020603050405020304" pitchFamily="18" charset="0"/>
              </a:rPr>
              <a:t>Uni-NTFM</a:t>
            </a:r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: Unified Neural Topological Foundation Model</a:t>
            </a:r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588508" y="4341678"/>
            <a:ext cx="3637722" cy="1080000"/>
          </a:xfrm>
          <a:prstGeom prst="rect">
            <a:avLst/>
          </a:prstGeom>
        </p:spPr>
      </p:pic>
      <p:sp>
        <p:nvSpPr>
          <p:cNvPr id="94" name="矩形: 圆角 93"/>
          <p:cNvSpPr/>
          <p:nvPr/>
        </p:nvSpPr>
        <p:spPr>
          <a:xfrm>
            <a:off x="5281704" y="4869699"/>
            <a:ext cx="1908522" cy="407522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6680903" y="4602843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Multi-tasks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94562" y="4298737"/>
            <a:ext cx="3637722" cy="1080000"/>
          </a:xfrm>
          <a:prstGeom prst="rect">
            <a:avLst/>
          </a:prstGeom>
        </p:spPr>
      </p:pic>
      <p:sp>
        <p:nvSpPr>
          <p:cNvPr id="95" name="矩形: 圆角 94"/>
          <p:cNvSpPr/>
          <p:nvPr/>
        </p:nvSpPr>
        <p:spPr>
          <a:xfrm>
            <a:off x="9570784" y="4648568"/>
            <a:ext cx="1908522" cy="641353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10895105" y="4373710"/>
            <a:ext cx="88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Single-task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矩形: 圆角 488"/>
          <p:cNvSpPr/>
          <p:nvPr/>
        </p:nvSpPr>
        <p:spPr>
          <a:xfrm>
            <a:off x="1425666" y="571870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8" name="文本框 497"/>
          <p:cNvSpPr txBox="1"/>
          <p:nvPr/>
        </p:nvSpPr>
        <p:spPr>
          <a:xfrm>
            <a:off x="1728332" y="611101"/>
            <a:ext cx="38454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pretrained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3" name="图形 11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474" b="7834"/>
          <a:stretch>
            <a:fillRect/>
          </a:stretch>
        </p:blipFill>
        <p:spPr>
          <a:xfrm>
            <a:off x="1611411" y="918878"/>
            <a:ext cx="3819098" cy="3511603"/>
          </a:xfrm>
          <a:prstGeom prst="rect">
            <a:avLst/>
          </a:prstGeom>
        </p:spPr>
      </p:pic>
      <p:sp>
        <p:nvSpPr>
          <p:cNvPr id="511" name="矩形: 圆角 510"/>
          <p:cNvSpPr/>
          <p:nvPr/>
        </p:nvSpPr>
        <p:spPr>
          <a:xfrm>
            <a:off x="5724006" y="584113"/>
            <a:ext cx="4184650" cy="4787900"/>
          </a:xfrm>
          <a:prstGeom prst="roundRect">
            <a:avLst>
              <a:gd name="adj" fmla="val 12329"/>
            </a:avLst>
          </a:prstGeom>
          <a:solidFill>
            <a:srgbClr val="F9F9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7" name="文本框 506"/>
          <p:cNvSpPr txBox="1"/>
          <p:nvPr/>
        </p:nvSpPr>
        <p:spPr>
          <a:xfrm>
            <a:off x="6240007" y="611101"/>
            <a:ext cx="3275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Fine-tuned performance across 9 tasks.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" name="图形 12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3051"/>
          <a:stretch>
            <a:fillRect/>
          </a:stretch>
        </p:blipFill>
        <p:spPr>
          <a:xfrm>
            <a:off x="5932032" y="862121"/>
            <a:ext cx="3775622" cy="3509924"/>
          </a:xfrm>
          <a:prstGeom prst="rect">
            <a:avLst/>
          </a:prstGeom>
        </p:spPr>
      </p:pic>
      <p:pic>
        <p:nvPicPr>
          <p:cNvPr id="512" name="图形 511" descr="大脑 纯色填充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31840" y="260"/>
            <a:ext cx="588150" cy="588150"/>
          </a:xfrm>
          <a:prstGeom prst="rect">
            <a:avLst/>
          </a:prstGeom>
        </p:spPr>
      </p:pic>
      <p:sp>
        <p:nvSpPr>
          <p:cNvPr id="533" name="文本框 532"/>
          <p:cNvSpPr txBox="1"/>
          <p:nvPr/>
        </p:nvSpPr>
        <p:spPr>
          <a:xfrm>
            <a:off x="2952043" y="116083"/>
            <a:ext cx="6220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Comic Sans MS" panose="030F0702030302020204" pitchFamily="66" charset="0"/>
                <a:cs typeface="Times New Roman" panose="02020603050405020304" pitchFamily="18" charset="0"/>
              </a:rPr>
              <a:t>Uni-NTFM</a:t>
            </a:r>
            <a:r>
              <a:rPr lang="en-US" altLang="zh-CN" dirty="0">
                <a:latin typeface="Comic Sans MS" panose="030F0702030302020204" pitchFamily="66" charset="0"/>
                <a:cs typeface="Times New Roman" panose="02020603050405020304" pitchFamily="18" charset="0"/>
              </a:rPr>
              <a:t>: Unified Neural Topological Foundation Model</a:t>
            </a:r>
            <a:endParaRPr lang="zh-CN" altLang="en-US" dirty="0"/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21608" y="4341678"/>
            <a:ext cx="3637722" cy="1080000"/>
          </a:xfrm>
          <a:prstGeom prst="rect">
            <a:avLst/>
          </a:prstGeom>
        </p:spPr>
      </p:pic>
      <p:sp>
        <p:nvSpPr>
          <p:cNvPr id="94" name="矩形: 圆角 93"/>
          <p:cNvSpPr/>
          <p:nvPr/>
        </p:nvSpPr>
        <p:spPr>
          <a:xfrm>
            <a:off x="3414804" y="4869699"/>
            <a:ext cx="1908522" cy="407522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7" name="文本框 86"/>
          <p:cNvSpPr txBox="1"/>
          <p:nvPr/>
        </p:nvSpPr>
        <p:spPr>
          <a:xfrm>
            <a:off x="4814003" y="4602843"/>
            <a:ext cx="9569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Multi-tasks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pic>
        <p:nvPicPr>
          <p:cNvPr id="18" name="图形 17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27662" y="4298737"/>
            <a:ext cx="3637722" cy="1080000"/>
          </a:xfrm>
          <a:prstGeom prst="rect">
            <a:avLst/>
          </a:prstGeom>
        </p:spPr>
      </p:pic>
      <p:sp>
        <p:nvSpPr>
          <p:cNvPr id="95" name="矩形: 圆角 94"/>
          <p:cNvSpPr/>
          <p:nvPr/>
        </p:nvSpPr>
        <p:spPr>
          <a:xfrm>
            <a:off x="7703884" y="4648568"/>
            <a:ext cx="1908522" cy="641353"/>
          </a:xfrm>
          <a:prstGeom prst="roundRect">
            <a:avLst>
              <a:gd name="adj" fmla="val 10213"/>
            </a:avLst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/>
          <p:cNvSpPr txBox="1"/>
          <p:nvPr/>
        </p:nvSpPr>
        <p:spPr>
          <a:xfrm>
            <a:off x="9028205" y="4373710"/>
            <a:ext cx="8804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Single-task</a:t>
            </a:r>
            <a:endParaRPr lang="zh-CN" altLang="en-US" sz="1000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矩形 644"/>
          <p:cNvSpPr/>
          <p:nvPr/>
        </p:nvSpPr>
        <p:spPr>
          <a:xfrm>
            <a:off x="5810696" y="1947424"/>
            <a:ext cx="3713435" cy="2584709"/>
          </a:xfrm>
          <a:prstGeom prst="rect">
            <a:avLst/>
          </a:prstGeom>
          <a:solidFill>
            <a:srgbClr val="E8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4" name="矩形 643"/>
          <p:cNvSpPr/>
          <p:nvPr/>
        </p:nvSpPr>
        <p:spPr>
          <a:xfrm>
            <a:off x="1880546" y="2739525"/>
            <a:ext cx="3713435" cy="983084"/>
          </a:xfrm>
          <a:prstGeom prst="rect">
            <a:avLst/>
          </a:prstGeom>
          <a:solidFill>
            <a:srgbClr val="E8E8E8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021034" y="1244423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EEG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信号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7066" y="3068689"/>
            <a:ext cx="1061574" cy="526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时域动态波形编码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2019485" y="1776832"/>
            <a:ext cx="342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）数据增强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随机时间漂移</a:t>
            </a:r>
            <a:r>
              <a:rPr lang="en-US" altLang="zh-CN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电极信号丢失</a:t>
            </a:r>
            <a:r>
              <a:rPr lang="en-US" altLang="zh-CN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1200" b="1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环境噪声干扰</a:t>
            </a:r>
            <a:endParaRPr lang="zh-CN" altLang="en-US" sz="1200" b="1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19485" y="2495954"/>
            <a:ext cx="3420000" cy="360000"/>
          </a:xfrm>
          <a:prstGeom prst="rect">
            <a:avLst/>
          </a:prstGeom>
          <a:solidFill>
            <a:srgbClr val="FDFD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）异构特征投射模块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213062" y="3072433"/>
            <a:ext cx="1040147" cy="526163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频域稳态节律编码</a:t>
            </a:r>
            <a:endParaRPr lang="zh-CN" altLang="en-US" sz="1600" dirty="0"/>
          </a:p>
        </p:txBody>
      </p:sp>
      <p:sp>
        <p:nvSpPr>
          <p:cNvPr id="12" name="矩形 11"/>
          <p:cNvSpPr/>
          <p:nvPr/>
        </p:nvSpPr>
        <p:spPr>
          <a:xfrm>
            <a:off x="4280571" y="3072432"/>
            <a:ext cx="1040148" cy="526164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标准无损参考编码</a:t>
            </a:r>
            <a:endParaRPr lang="zh-CN" altLang="en-US" sz="1600" dirty="0"/>
          </a:p>
        </p:txBody>
      </p:sp>
      <p:sp>
        <p:nvSpPr>
          <p:cNvPr id="15" name="矩形 14"/>
          <p:cNvSpPr/>
          <p:nvPr/>
        </p:nvSpPr>
        <p:spPr>
          <a:xfrm>
            <a:off x="2026209" y="3895006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）双域交叉注意力模块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026209" y="4420673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）拓扑嵌入模块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957414" y="4420673"/>
            <a:ext cx="3420000" cy="360000"/>
          </a:xfrm>
          <a:prstGeom prst="rect">
            <a:avLst/>
          </a:prstGeom>
          <a:solidFill>
            <a:srgbClr val="FDFD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）专家混合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Transformer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网络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1" name="矩形 620"/>
          <p:cNvSpPr/>
          <p:nvPr/>
        </p:nvSpPr>
        <p:spPr>
          <a:xfrm>
            <a:off x="6071723" y="3360185"/>
            <a:ext cx="981268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2" name="矩形 621"/>
          <p:cNvSpPr/>
          <p:nvPr/>
        </p:nvSpPr>
        <p:spPr>
          <a:xfrm>
            <a:off x="7140862" y="3360185"/>
            <a:ext cx="981268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键</a:t>
            </a:r>
            <a:endParaRPr lang="en-US" altLang="zh-CN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3" name="矩形 622"/>
          <p:cNvSpPr/>
          <p:nvPr/>
        </p:nvSpPr>
        <p:spPr>
          <a:xfrm>
            <a:off x="8210006" y="3360185"/>
            <a:ext cx="981268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Value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5" name="矩形 624"/>
          <p:cNvSpPr/>
          <p:nvPr/>
        </p:nvSpPr>
        <p:spPr>
          <a:xfrm>
            <a:off x="6186022" y="2156443"/>
            <a:ext cx="1431745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专家混合网络（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MoE1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6" name="矩形 625"/>
          <p:cNvSpPr/>
          <p:nvPr/>
        </p:nvSpPr>
        <p:spPr>
          <a:xfrm>
            <a:off x="7652912" y="2156443"/>
            <a:ext cx="1431745" cy="540000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专家混合网络（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MoE2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628" name="文本框 627"/>
          <p:cNvSpPr txBox="1"/>
          <p:nvPr/>
        </p:nvSpPr>
        <p:spPr>
          <a:xfrm>
            <a:off x="9025668" y="2219953"/>
            <a:ext cx="509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endParaRPr lang="zh-CN" altLang="en-US" dirty="0"/>
          </a:p>
        </p:txBody>
      </p:sp>
      <p:cxnSp>
        <p:nvCxnSpPr>
          <p:cNvPr id="630" name="直接箭头连接符 629"/>
          <p:cNvCxnSpPr>
            <a:stCxn id="2" idx="2"/>
            <a:endCxn id="9" idx="0"/>
          </p:cNvCxnSpPr>
          <p:nvPr/>
        </p:nvCxnSpPr>
        <p:spPr>
          <a:xfrm flipH="1">
            <a:off x="3729485" y="1604423"/>
            <a:ext cx="1549" cy="1724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直接箭头连接符 630"/>
          <p:cNvCxnSpPr>
            <a:stCxn id="9" idx="2"/>
            <a:endCxn id="10" idx="0"/>
          </p:cNvCxnSpPr>
          <p:nvPr/>
        </p:nvCxnSpPr>
        <p:spPr>
          <a:xfrm>
            <a:off x="3729485" y="2316832"/>
            <a:ext cx="0" cy="1791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4" name="直接箭头连接符 633"/>
          <p:cNvCxnSpPr>
            <a:stCxn id="10" idx="2"/>
            <a:endCxn id="11" idx="0"/>
          </p:cNvCxnSpPr>
          <p:nvPr/>
        </p:nvCxnSpPr>
        <p:spPr>
          <a:xfrm>
            <a:off x="3729485" y="2855954"/>
            <a:ext cx="3651" cy="2164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7" name="直接箭头连接符 636"/>
          <p:cNvCxnSpPr>
            <a:stCxn id="644" idx="2"/>
            <a:endCxn id="15" idx="0"/>
          </p:cNvCxnSpPr>
          <p:nvPr/>
        </p:nvCxnSpPr>
        <p:spPr>
          <a:xfrm flipH="1">
            <a:off x="3736209" y="3722609"/>
            <a:ext cx="1055" cy="1723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0" name="直接箭头连接符 639"/>
          <p:cNvCxnSpPr>
            <a:stCxn id="15" idx="2"/>
            <a:endCxn id="20" idx="0"/>
          </p:cNvCxnSpPr>
          <p:nvPr/>
        </p:nvCxnSpPr>
        <p:spPr>
          <a:xfrm>
            <a:off x="3736209" y="4255006"/>
            <a:ext cx="0" cy="165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" name="直接箭头连接符 645"/>
          <p:cNvCxnSpPr>
            <a:stCxn id="20" idx="3"/>
            <a:endCxn id="23" idx="1"/>
          </p:cNvCxnSpPr>
          <p:nvPr/>
        </p:nvCxnSpPr>
        <p:spPr>
          <a:xfrm>
            <a:off x="5446209" y="4600673"/>
            <a:ext cx="5112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直接箭头连接符 650"/>
          <p:cNvCxnSpPr>
            <a:stCxn id="23" idx="0"/>
          </p:cNvCxnSpPr>
          <p:nvPr/>
        </p:nvCxnSpPr>
        <p:spPr>
          <a:xfrm flipH="1" flipV="1">
            <a:off x="7667413" y="3900185"/>
            <a:ext cx="1" cy="5204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连接符: 肘形 654"/>
          <p:cNvCxnSpPr>
            <a:stCxn id="5" idx="0"/>
            <a:endCxn id="12" idx="0"/>
          </p:cNvCxnSpPr>
          <p:nvPr/>
        </p:nvCxnSpPr>
        <p:spPr>
          <a:xfrm rot="16200000" flipH="1">
            <a:off x="3727377" y="1999164"/>
            <a:ext cx="3743" cy="2142792"/>
          </a:xfrm>
          <a:prstGeom prst="bentConnector3">
            <a:avLst>
              <a:gd name="adj1" fmla="val -2874005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连接符: 肘形 658"/>
          <p:cNvCxnSpPr>
            <a:stCxn id="621" idx="2"/>
            <a:endCxn id="623" idx="2"/>
          </p:cNvCxnSpPr>
          <p:nvPr/>
        </p:nvCxnSpPr>
        <p:spPr>
          <a:xfrm rot="16200000" flipH="1">
            <a:off x="7631498" y="2831043"/>
            <a:ext cx="12700" cy="2138283"/>
          </a:xfrm>
          <a:prstGeom prst="bentConnector3">
            <a:avLst>
              <a:gd name="adj1" fmla="val 2117654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连接符: 肘形 663"/>
          <p:cNvCxnSpPr>
            <a:stCxn id="621" idx="0"/>
            <a:endCxn id="623" idx="0"/>
          </p:cNvCxnSpPr>
          <p:nvPr/>
        </p:nvCxnSpPr>
        <p:spPr>
          <a:xfrm rot="5400000" flipH="1" flipV="1">
            <a:off x="7631498" y="2291044"/>
            <a:ext cx="12700" cy="2138283"/>
          </a:xfrm>
          <a:prstGeom prst="bentConnector3">
            <a:avLst>
              <a:gd name="adj1" fmla="val 1747047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连接符: 肘形 665"/>
          <p:cNvCxnSpPr>
            <a:stCxn id="625" idx="2"/>
            <a:endCxn id="626" idx="2"/>
          </p:cNvCxnSpPr>
          <p:nvPr/>
        </p:nvCxnSpPr>
        <p:spPr>
          <a:xfrm rot="16200000" flipH="1">
            <a:off x="7635340" y="1962998"/>
            <a:ext cx="12700" cy="1466890"/>
          </a:xfrm>
          <a:prstGeom prst="bentConnector3">
            <a:avLst>
              <a:gd name="adj1" fmla="val 1641181"/>
            </a:avLst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直接连接符 673"/>
          <p:cNvCxnSpPr>
            <a:stCxn id="622" idx="0"/>
          </p:cNvCxnSpPr>
          <p:nvPr/>
        </p:nvCxnSpPr>
        <p:spPr>
          <a:xfrm flipV="1">
            <a:off x="7631496" y="2895600"/>
            <a:ext cx="0" cy="4645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直接箭头连接符 674"/>
          <p:cNvCxnSpPr>
            <a:stCxn id="645" idx="0"/>
            <a:endCxn id="678" idx="2"/>
          </p:cNvCxnSpPr>
          <p:nvPr/>
        </p:nvCxnSpPr>
        <p:spPr>
          <a:xfrm flipV="1">
            <a:off x="7667414" y="1601757"/>
            <a:ext cx="0" cy="3456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8" name="矩形 677"/>
          <p:cNvSpPr/>
          <p:nvPr/>
        </p:nvSpPr>
        <p:spPr>
          <a:xfrm>
            <a:off x="5957414" y="1241757"/>
            <a:ext cx="342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睡眠分期任务</a:t>
            </a:r>
            <a:endParaRPr lang="zh-CN" altLang="en-US" sz="16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箭头: V 形 4"/>
          <p:cNvSpPr/>
          <p:nvPr/>
        </p:nvSpPr>
        <p:spPr>
          <a:xfrm>
            <a:off x="467271" y="822158"/>
            <a:ext cx="3765755" cy="501445"/>
          </a:xfrm>
          <a:prstGeom prst="chevron">
            <a:avLst/>
          </a:prstGeom>
          <a:solidFill>
            <a:srgbClr val="0F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数据获取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6" name="箭头: V 形 5"/>
          <p:cNvSpPr/>
          <p:nvPr/>
        </p:nvSpPr>
        <p:spPr>
          <a:xfrm>
            <a:off x="4144535" y="822158"/>
            <a:ext cx="3765755" cy="501445"/>
          </a:xfrm>
          <a:prstGeom prst="chevron">
            <a:avLst/>
          </a:prstGeom>
          <a:solidFill>
            <a:srgbClr val="0F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变化检测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7" name="箭头: V 形 6"/>
          <p:cNvSpPr/>
          <p:nvPr/>
        </p:nvSpPr>
        <p:spPr>
          <a:xfrm>
            <a:off x="7797332" y="822158"/>
            <a:ext cx="3765755" cy="501445"/>
          </a:xfrm>
          <a:prstGeom prst="chevron">
            <a:avLst/>
          </a:prstGeom>
          <a:solidFill>
            <a:srgbClr val="0F63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charset="-122"/>
              </a:rPr>
              <a:t>结果分析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4096</Words>
  <Application>WPS 演示</Application>
  <PresentationFormat>宽屏</PresentationFormat>
  <Paragraphs>665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Comic Sans MS</vt:lpstr>
      <vt:lpstr>Times New Roman</vt:lpstr>
      <vt:lpstr>等线</vt:lpstr>
      <vt:lpstr>微软雅黑</vt:lpstr>
      <vt:lpstr>Arial Unicode MS</vt:lpstr>
      <vt:lpstr>等线 Light</vt:lpstr>
      <vt:lpstr>Calibri</vt:lpstr>
      <vt:lpstr>Arial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c</dc:creator>
  <cp:lastModifiedBy>朽</cp:lastModifiedBy>
  <cp:revision>22</cp:revision>
  <dcterms:created xsi:type="dcterms:W3CDTF">2025-08-24T15:01:00Z</dcterms:created>
  <dcterms:modified xsi:type="dcterms:W3CDTF">2026-07-27T21:38:10Z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AB33B2B5E8C441EF869C4F4402A25BA1_13</vt:lpwstr>
  </property>
</Properties>
</file>